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omments/modernComment_101_7788D4F4.xml" ContentType="application/vnd.ms-powerpoint.comments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257" r:id="rId2"/>
  </p:sldIdLst>
  <p:sldSz cx="34747200" cy="35386963"/>
  <p:notesSz cx="6858000" cy="9144000"/>
  <p:defaultTextStyle>
    <a:defPPr>
      <a:defRPr lang="en-US"/>
    </a:defPPr>
    <a:lvl1pPr marL="0" algn="l" defTabSz="2003654" rtl="0" eaLnBrk="1" latinLnBrk="0" hangingPunct="1">
      <a:defRPr sz="3963" kern="1200">
        <a:solidFill>
          <a:schemeClr val="tx1"/>
        </a:solidFill>
        <a:latin typeface="+mn-lt"/>
        <a:ea typeface="+mn-ea"/>
        <a:cs typeface="+mn-cs"/>
      </a:defRPr>
    </a:lvl1pPr>
    <a:lvl2pPr marL="1001827" algn="l" defTabSz="2003654" rtl="0" eaLnBrk="1" latinLnBrk="0" hangingPunct="1">
      <a:defRPr sz="3963" kern="1200">
        <a:solidFill>
          <a:schemeClr val="tx1"/>
        </a:solidFill>
        <a:latin typeface="+mn-lt"/>
        <a:ea typeface="+mn-ea"/>
        <a:cs typeface="+mn-cs"/>
      </a:defRPr>
    </a:lvl2pPr>
    <a:lvl3pPr marL="2003654" algn="l" defTabSz="2003654" rtl="0" eaLnBrk="1" latinLnBrk="0" hangingPunct="1">
      <a:defRPr sz="3963" kern="1200">
        <a:solidFill>
          <a:schemeClr val="tx1"/>
        </a:solidFill>
        <a:latin typeface="+mn-lt"/>
        <a:ea typeface="+mn-ea"/>
        <a:cs typeface="+mn-cs"/>
      </a:defRPr>
    </a:lvl3pPr>
    <a:lvl4pPr marL="3005483" algn="l" defTabSz="2003654" rtl="0" eaLnBrk="1" latinLnBrk="0" hangingPunct="1">
      <a:defRPr sz="3963" kern="1200">
        <a:solidFill>
          <a:schemeClr val="tx1"/>
        </a:solidFill>
        <a:latin typeface="+mn-lt"/>
        <a:ea typeface="+mn-ea"/>
        <a:cs typeface="+mn-cs"/>
      </a:defRPr>
    </a:lvl4pPr>
    <a:lvl5pPr marL="4007310" algn="l" defTabSz="2003654" rtl="0" eaLnBrk="1" latinLnBrk="0" hangingPunct="1">
      <a:defRPr sz="3963" kern="1200">
        <a:solidFill>
          <a:schemeClr val="tx1"/>
        </a:solidFill>
        <a:latin typeface="+mn-lt"/>
        <a:ea typeface="+mn-ea"/>
        <a:cs typeface="+mn-cs"/>
      </a:defRPr>
    </a:lvl5pPr>
    <a:lvl6pPr marL="5009137" algn="l" defTabSz="2003654" rtl="0" eaLnBrk="1" latinLnBrk="0" hangingPunct="1">
      <a:defRPr sz="3963" kern="1200">
        <a:solidFill>
          <a:schemeClr val="tx1"/>
        </a:solidFill>
        <a:latin typeface="+mn-lt"/>
        <a:ea typeface="+mn-ea"/>
        <a:cs typeface="+mn-cs"/>
      </a:defRPr>
    </a:lvl6pPr>
    <a:lvl7pPr marL="6010964" algn="l" defTabSz="2003654" rtl="0" eaLnBrk="1" latinLnBrk="0" hangingPunct="1">
      <a:defRPr sz="3963" kern="1200">
        <a:solidFill>
          <a:schemeClr val="tx1"/>
        </a:solidFill>
        <a:latin typeface="+mn-lt"/>
        <a:ea typeface="+mn-ea"/>
        <a:cs typeface="+mn-cs"/>
      </a:defRPr>
    </a:lvl7pPr>
    <a:lvl8pPr marL="7012791" algn="l" defTabSz="2003654" rtl="0" eaLnBrk="1" latinLnBrk="0" hangingPunct="1">
      <a:defRPr sz="3963" kern="1200">
        <a:solidFill>
          <a:schemeClr val="tx1"/>
        </a:solidFill>
        <a:latin typeface="+mn-lt"/>
        <a:ea typeface="+mn-ea"/>
        <a:cs typeface="+mn-cs"/>
      </a:defRPr>
    </a:lvl8pPr>
    <a:lvl9pPr marL="8014618" algn="l" defTabSz="2003654" rtl="0" eaLnBrk="1" latinLnBrk="0" hangingPunct="1">
      <a:defRPr sz="3963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1146" userDrawn="1">
          <p15:clr>
            <a:srgbClr val="A4A3A4"/>
          </p15:clr>
        </p15:guide>
        <p15:guide id="2" pos="10944" userDrawn="1">
          <p15:clr>
            <a:srgbClr val="A4A3A4"/>
          </p15:clr>
        </p15:guide>
      </p15:sldGuideLst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50137B73-C207-1407-898B-797CE70D2312}" name="Read, Zoe" initials="ZR" userId="S::ReadZ@SI.EDU::b08cd0fd-26d2-470b-8ec0-c6e6cb2a79bd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75BFE2"/>
    <a:srgbClr val="41975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82716F6-75B8-4E39-A6D4-7E66C823071B}" v="25" dt="2026-03-12T20:26:21.07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479" autoAdjust="0"/>
    <p:restoredTop sz="84140" autoAdjust="0"/>
  </p:normalViewPr>
  <p:slideViewPr>
    <p:cSldViewPr>
      <p:cViewPr>
        <p:scale>
          <a:sx n="19" d="100"/>
          <a:sy n="19" d="100"/>
        </p:scale>
        <p:origin x="3186" y="12"/>
      </p:cViewPr>
      <p:guideLst>
        <p:guide orient="horz" pos="11146"/>
        <p:guide pos="10944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6/11/relationships/changesInfo" Target="changesInfos/changesInfo1.xml"/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10" Type="http://schemas.microsoft.com/office/2018/10/relationships/authors" Target="authors.xml"/><Relationship Id="rId4" Type="http://schemas.openxmlformats.org/officeDocument/2006/relationships/presProps" Target="presProps.xml"/><Relationship Id="rId9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Read, Zoe" userId="b08cd0fd-26d2-470b-8ec0-c6e6cb2a79bd" providerId="ADAL" clId="{5AEB2719-95A5-4ED2-9E0E-ED462BB10526}"/>
    <pc:docChg chg="undo custSel addSld delSld modSld">
      <pc:chgData name="Read, Zoe" userId="b08cd0fd-26d2-470b-8ec0-c6e6cb2a79bd" providerId="ADAL" clId="{5AEB2719-95A5-4ED2-9E0E-ED462BB10526}" dt="2026-03-12T20:26:39.354" v="3596" actId="1076"/>
      <pc:docMkLst>
        <pc:docMk/>
      </pc:docMkLst>
      <pc:sldChg chg="addSp delSp modSp mod modNotesTx">
        <pc:chgData name="Read, Zoe" userId="b08cd0fd-26d2-470b-8ec0-c6e6cb2a79bd" providerId="ADAL" clId="{5AEB2719-95A5-4ED2-9E0E-ED462BB10526}" dt="2026-03-12T20:26:39.354" v="3596" actId="1076"/>
        <pc:sldMkLst>
          <pc:docMk/>
          <pc:sldMk cId="2005456116" sldId="257"/>
        </pc:sldMkLst>
        <pc:spChg chg="mod">
          <ac:chgData name="Read, Zoe" userId="b08cd0fd-26d2-470b-8ec0-c6e6cb2a79bd" providerId="ADAL" clId="{5AEB2719-95A5-4ED2-9E0E-ED462BB10526}" dt="2026-03-12T20:26:36.594" v="3595" actId="1076"/>
          <ac:spMkLst>
            <pc:docMk/>
            <pc:sldMk cId="2005456116" sldId="257"/>
            <ac:spMk id="2" creationId="{B60AF3C6-E87C-784C-EFEA-27D2ADCE070F}"/>
          </ac:spMkLst>
        </pc:spChg>
        <pc:spChg chg="mod">
          <ac:chgData name="Read, Zoe" userId="b08cd0fd-26d2-470b-8ec0-c6e6cb2a79bd" providerId="ADAL" clId="{5AEB2719-95A5-4ED2-9E0E-ED462BB10526}" dt="2026-03-12T20:26:39.354" v="3596" actId="1076"/>
          <ac:spMkLst>
            <pc:docMk/>
            <pc:sldMk cId="2005456116" sldId="257"/>
            <ac:spMk id="3" creationId="{69275BAE-6112-7B97-7490-496A68DBDB86}"/>
          </ac:spMkLst>
        </pc:spChg>
        <pc:spChg chg="add mod">
          <ac:chgData name="Read, Zoe" userId="b08cd0fd-26d2-470b-8ec0-c6e6cb2a79bd" providerId="ADAL" clId="{5AEB2719-95A5-4ED2-9E0E-ED462BB10526}" dt="2026-03-12T20:26:21.074" v="3593" actId="1035"/>
          <ac:spMkLst>
            <pc:docMk/>
            <pc:sldMk cId="2005456116" sldId="257"/>
            <ac:spMk id="5" creationId="{611D73CC-38EE-87A4-659B-7AFB71426A3B}"/>
          </ac:spMkLst>
        </pc:spChg>
        <pc:spChg chg="add mod">
          <ac:chgData name="Read, Zoe" userId="b08cd0fd-26d2-470b-8ec0-c6e6cb2a79bd" providerId="ADAL" clId="{5AEB2719-95A5-4ED2-9E0E-ED462BB10526}" dt="2026-03-12T20:26:21.074" v="3593" actId="1035"/>
          <ac:spMkLst>
            <pc:docMk/>
            <pc:sldMk cId="2005456116" sldId="257"/>
            <ac:spMk id="7" creationId="{B580F8D7-E067-282C-0BEF-1FA899DCFD3B}"/>
          </ac:spMkLst>
        </pc:spChg>
        <pc:spChg chg="del mod">
          <ac:chgData name="Read, Zoe" userId="b08cd0fd-26d2-470b-8ec0-c6e6cb2a79bd" providerId="ADAL" clId="{5AEB2719-95A5-4ED2-9E0E-ED462BB10526}" dt="2026-03-12T20:26:30.998" v="3594" actId="478"/>
          <ac:spMkLst>
            <pc:docMk/>
            <pc:sldMk cId="2005456116" sldId="257"/>
            <ac:spMk id="8" creationId="{C27ACF02-AE38-EED1-52AD-AE57386B0269}"/>
          </ac:spMkLst>
        </pc:spChg>
        <pc:spChg chg="mod">
          <ac:chgData name="Read, Zoe" userId="b08cd0fd-26d2-470b-8ec0-c6e6cb2a79bd" providerId="ADAL" clId="{5AEB2719-95A5-4ED2-9E0E-ED462BB10526}" dt="2026-03-12T20:26:21.074" v="3593" actId="1035"/>
          <ac:spMkLst>
            <pc:docMk/>
            <pc:sldMk cId="2005456116" sldId="257"/>
            <ac:spMk id="12" creationId="{0C87B8A1-9733-67EB-E4E3-F2570D73F838}"/>
          </ac:spMkLst>
        </pc:spChg>
        <pc:spChg chg="mod">
          <ac:chgData name="Read, Zoe" userId="b08cd0fd-26d2-470b-8ec0-c6e6cb2a79bd" providerId="ADAL" clId="{5AEB2719-95A5-4ED2-9E0E-ED462BB10526}" dt="2026-03-12T20:16:02.170" v="3521" actId="1076"/>
          <ac:spMkLst>
            <pc:docMk/>
            <pc:sldMk cId="2005456116" sldId="257"/>
            <ac:spMk id="17" creationId="{2BD42464-D16B-3701-0C0F-271BDE66BAA5}"/>
          </ac:spMkLst>
        </pc:spChg>
        <pc:spChg chg="mod">
          <ac:chgData name="Read, Zoe" userId="b08cd0fd-26d2-470b-8ec0-c6e6cb2a79bd" providerId="ADAL" clId="{5AEB2719-95A5-4ED2-9E0E-ED462BB10526}" dt="2026-03-12T20:16:02.170" v="3521" actId="1076"/>
          <ac:spMkLst>
            <pc:docMk/>
            <pc:sldMk cId="2005456116" sldId="257"/>
            <ac:spMk id="25" creationId="{A8454ACA-A266-32A3-C891-C89EAA9E01CB}"/>
          </ac:spMkLst>
        </pc:spChg>
        <pc:spChg chg="mod">
          <ac:chgData name="Read, Zoe" userId="b08cd0fd-26d2-470b-8ec0-c6e6cb2a79bd" providerId="ADAL" clId="{5AEB2719-95A5-4ED2-9E0E-ED462BB10526}" dt="2026-03-12T20:16:02.170" v="3521" actId="1076"/>
          <ac:spMkLst>
            <pc:docMk/>
            <pc:sldMk cId="2005456116" sldId="257"/>
            <ac:spMk id="26" creationId="{484190F2-EFC3-A118-D2D7-FB24CCBD39B4}"/>
          </ac:spMkLst>
        </pc:spChg>
        <pc:spChg chg="mod">
          <ac:chgData name="Read, Zoe" userId="b08cd0fd-26d2-470b-8ec0-c6e6cb2a79bd" providerId="ADAL" clId="{5AEB2719-95A5-4ED2-9E0E-ED462BB10526}" dt="2026-03-12T20:16:02.170" v="3521" actId="1076"/>
          <ac:spMkLst>
            <pc:docMk/>
            <pc:sldMk cId="2005456116" sldId="257"/>
            <ac:spMk id="27" creationId="{E3FB73FF-BFA6-26DB-AA0A-F51D66FFA661}"/>
          </ac:spMkLst>
        </pc:spChg>
        <pc:spChg chg="mod">
          <ac:chgData name="Read, Zoe" userId="b08cd0fd-26d2-470b-8ec0-c6e6cb2a79bd" providerId="ADAL" clId="{5AEB2719-95A5-4ED2-9E0E-ED462BB10526}" dt="2026-03-12T20:26:21.074" v="3593" actId="1035"/>
          <ac:spMkLst>
            <pc:docMk/>
            <pc:sldMk cId="2005456116" sldId="257"/>
            <ac:spMk id="31" creationId="{9187A6BA-BC5B-ADEA-5C80-21A90D319C6D}"/>
          </ac:spMkLst>
        </pc:spChg>
        <pc:spChg chg="mod">
          <ac:chgData name="Read, Zoe" userId="b08cd0fd-26d2-470b-8ec0-c6e6cb2a79bd" providerId="ADAL" clId="{5AEB2719-95A5-4ED2-9E0E-ED462BB10526}" dt="2026-03-12T20:26:21.074" v="3593" actId="1035"/>
          <ac:spMkLst>
            <pc:docMk/>
            <pc:sldMk cId="2005456116" sldId="257"/>
            <ac:spMk id="1024" creationId="{534B1453-A12C-51C2-7D42-7A9A13707632}"/>
          </ac:spMkLst>
        </pc:spChg>
        <pc:spChg chg="mod">
          <ac:chgData name="Read, Zoe" userId="b08cd0fd-26d2-470b-8ec0-c6e6cb2a79bd" providerId="ADAL" clId="{5AEB2719-95A5-4ED2-9E0E-ED462BB10526}" dt="2026-03-12T20:16:02.170" v="3521" actId="1076"/>
          <ac:spMkLst>
            <pc:docMk/>
            <pc:sldMk cId="2005456116" sldId="257"/>
            <ac:spMk id="1025" creationId="{9F20B42B-9512-BB49-4F59-11A4D0326422}"/>
          </ac:spMkLst>
        </pc:spChg>
        <pc:spChg chg="mod">
          <ac:chgData name="Read, Zoe" userId="b08cd0fd-26d2-470b-8ec0-c6e6cb2a79bd" providerId="ADAL" clId="{5AEB2719-95A5-4ED2-9E0E-ED462BB10526}" dt="2026-03-12T20:26:21.074" v="3593" actId="1035"/>
          <ac:spMkLst>
            <pc:docMk/>
            <pc:sldMk cId="2005456116" sldId="257"/>
            <ac:spMk id="1026" creationId="{DE5C81FB-2A8D-A005-8B1C-169458704852}"/>
          </ac:spMkLst>
        </pc:spChg>
        <pc:spChg chg="mod">
          <ac:chgData name="Read, Zoe" userId="b08cd0fd-26d2-470b-8ec0-c6e6cb2a79bd" providerId="ADAL" clId="{5AEB2719-95A5-4ED2-9E0E-ED462BB10526}" dt="2026-03-10T20:22:48.981" v="1855" actId="1076"/>
          <ac:spMkLst>
            <pc:docMk/>
            <pc:sldMk cId="2005456116" sldId="257"/>
            <ac:spMk id="1027" creationId="{09B9D4B3-825A-6240-B76A-180647AC14FF}"/>
          </ac:spMkLst>
        </pc:spChg>
        <pc:spChg chg="mod">
          <ac:chgData name="Read, Zoe" userId="b08cd0fd-26d2-470b-8ec0-c6e6cb2a79bd" providerId="ADAL" clId="{5AEB2719-95A5-4ED2-9E0E-ED462BB10526}" dt="2026-03-12T20:26:21.074" v="3593" actId="1035"/>
          <ac:spMkLst>
            <pc:docMk/>
            <pc:sldMk cId="2005456116" sldId="257"/>
            <ac:spMk id="1028" creationId="{21EEE5BE-6B05-FC7D-1F1A-67A39BAA5CDA}"/>
          </ac:spMkLst>
        </pc:spChg>
        <pc:spChg chg="mod">
          <ac:chgData name="Read, Zoe" userId="b08cd0fd-26d2-470b-8ec0-c6e6cb2a79bd" providerId="ADAL" clId="{5AEB2719-95A5-4ED2-9E0E-ED462BB10526}" dt="2026-03-12T20:26:21.074" v="3593" actId="1035"/>
          <ac:spMkLst>
            <pc:docMk/>
            <pc:sldMk cId="2005456116" sldId="257"/>
            <ac:spMk id="1029" creationId="{C7415B56-3138-683E-A33F-94BF1FC8C347}"/>
          </ac:spMkLst>
        </pc:spChg>
        <pc:spChg chg="mod">
          <ac:chgData name="Read, Zoe" userId="b08cd0fd-26d2-470b-8ec0-c6e6cb2a79bd" providerId="ADAL" clId="{5AEB2719-95A5-4ED2-9E0E-ED462BB10526}" dt="2026-03-12T20:16:02.170" v="3521" actId="1076"/>
          <ac:spMkLst>
            <pc:docMk/>
            <pc:sldMk cId="2005456116" sldId="257"/>
            <ac:spMk id="1030" creationId="{65E00C91-BBF6-45C7-C690-D1D7A6D871AE}"/>
          </ac:spMkLst>
        </pc:spChg>
        <pc:spChg chg="add mod">
          <ac:chgData name="Read, Zoe" userId="b08cd0fd-26d2-470b-8ec0-c6e6cb2a79bd" providerId="ADAL" clId="{5AEB2719-95A5-4ED2-9E0E-ED462BB10526}" dt="2026-03-12T20:15:08.333" v="3512" actId="20577"/>
          <ac:spMkLst>
            <pc:docMk/>
            <pc:sldMk cId="2005456116" sldId="257"/>
            <ac:spMk id="1033" creationId="{32C2827D-C730-B34A-4122-5BD22CBCDCCA}"/>
          </ac:spMkLst>
        </pc:spChg>
        <pc:spChg chg="add mod">
          <ac:chgData name="Read, Zoe" userId="b08cd0fd-26d2-470b-8ec0-c6e6cb2a79bd" providerId="ADAL" clId="{5AEB2719-95A5-4ED2-9E0E-ED462BB10526}" dt="2026-03-12T20:16:16.234" v="3524" actId="1076"/>
          <ac:spMkLst>
            <pc:docMk/>
            <pc:sldMk cId="2005456116" sldId="257"/>
            <ac:spMk id="1034" creationId="{3B019716-EAFE-3F05-01D8-F3689D302ED2}"/>
          </ac:spMkLst>
        </pc:spChg>
        <pc:spChg chg="add mod">
          <ac:chgData name="Read, Zoe" userId="b08cd0fd-26d2-470b-8ec0-c6e6cb2a79bd" providerId="ADAL" clId="{5AEB2719-95A5-4ED2-9E0E-ED462BB10526}" dt="2026-03-12T20:16:28.154" v="3529" actId="1076"/>
          <ac:spMkLst>
            <pc:docMk/>
            <pc:sldMk cId="2005456116" sldId="257"/>
            <ac:spMk id="1035" creationId="{8DA61A9E-9FD6-923F-C6C1-69FD27ACDB80}"/>
          </ac:spMkLst>
        </pc:spChg>
        <pc:spChg chg="mod">
          <ac:chgData name="Read, Zoe" userId="b08cd0fd-26d2-470b-8ec0-c6e6cb2a79bd" providerId="ADAL" clId="{5AEB2719-95A5-4ED2-9E0E-ED462BB10526}" dt="2026-03-12T20:26:21.074" v="3593" actId="1035"/>
          <ac:spMkLst>
            <pc:docMk/>
            <pc:sldMk cId="2005456116" sldId="257"/>
            <ac:spMk id="1046" creationId="{3D22E29A-542C-2707-EE87-D32E923FD26A}"/>
          </ac:spMkLst>
        </pc:spChg>
        <pc:grpChg chg="del">
          <ac:chgData name="Read, Zoe" userId="b08cd0fd-26d2-470b-8ec0-c6e6cb2a79bd" providerId="ADAL" clId="{5AEB2719-95A5-4ED2-9E0E-ED462BB10526}" dt="2026-03-12T20:13:15.849" v="3367" actId="478"/>
          <ac:grpSpMkLst>
            <pc:docMk/>
            <pc:sldMk cId="2005456116" sldId="257"/>
            <ac:grpSpMk id="22" creationId="{2BFE48BE-D2C5-8243-5332-F748C7FB4EAC}"/>
          </ac:grpSpMkLst>
        </pc:grpChg>
        <pc:graphicFrameChg chg="mod modGraphic">
          <ac:chgData name="Read, Zoe" userId="b08cd0fd-26d2-470b-8ec0-c6e6cb2a79bd" providerId="ADAL" clId="{5AEB2719-95A5-4ED2-9E0E-ED462BB10526}" dt="2026-03-12T20:13:57.952" v="3393" actId="403"/>
          <ac:graphicFrameMkLst>
            <pc:docMk/>
            <pc:sldMk cId="2005456116" sldId="257"/>
            <ac:graphicFrameMk id="20" creationId="{6EE1AE5B-A26D-71DD-8EF3-D283BC117F1C}"/>
          </ac:graphicFrameMkLst>
        </pc:graphicFrameChg>
        <pc:picChg chg="add mod modCrop">
          <ac:chgData name="Read, Zoe" userId="b08cd0fd-26d2-470b-8ec0-c6e6cb2a79bd" providerId="ADAL" clId="{5AEB2719-95A5-4ED2-9E0E-ED462BB10526}" dt="2026-03-12T20:10:12.242" v="3170" actId="1076"/>
          <ac:picMkLst>
            <pc:docMk/>
            <pc:sldMk cId="2005456116" sldId="257"/>
            <ac:picMk id="9" creationId="{09EDF015-AC84-7DA3-BD5A-225267C491D7}"/>
          </ac:picMkLst>
        </pc:picChg>
        <pc:picChg chg="add mod ord modCrop">
          <ac:chgData name="Read, Zoe" userId="b08cd0fd-26d2-470b-8ec0-c6e6cb2a79bd" providerId="ADAL" clId="{5AEB2719-95A5-4ED2-9E0E-ED462BB10526}" dt="2026-03-12T20:15:13.625" v="3513" actId="1076"/>
          <ac:picMkLst>
            <pc:docMk/>
            <pc:sldMk cId="2005456116" sldId="257"/>
            <ac:picMk id="11" creationId="{0144416F-2A82-F7CC-0427-8A36932666F6}"/>
          </ac:picMkLst>
        </pc:picChg>
        <pc:picChg chg="add mod">
          <ac:chgData name="Read, Zoe" userId="b08cd0fd-26d2-470b-8ec0-c6e6cb2a79bd" providerId="ADAL" clId="{5AEB2719-95A5-4ED2-9E0E-ED462BB10526}" dt="2026-03-12T20:16:30.754" v="3531" actId="1076"/>
          <ac:picMkLst>
            <pc:docMk/>
            <pc:sldMk cId="2005456116" sldId="257"/>
            <ac:picMk id="14" creationId="{37395166-1C97-2974-4774-B9647BFFD3B0}"/>
          </ac:picMkLst>
        </pc:picChg>
        <pc:picChg chg="add mod ord modCrop">
          <ac:chgData name="Read, Zoe" userId="b08cd0fd-26d2-470b-8ec0-c6e6cb2a79bd" providerId="ADAL" clId="{5AEB2719-95A5-4ED2-9E0E-ED462BB10526}" dt="2026-03-12T20:16:20.411" v="3526" actId="1076"/>
          <ac:picMkLst>
            <pc:docMk/>
            <pc:sldMk cId="2005456116" sldId="257"/>
            <ac:picMk id="15" creationId="{6F1E99EB-549B-E9F4-C4C6-CCFBCE759AD8}"/>
          </ac:picMkLst>
        </pc:picChg>
        <pc:picChg chg="del mod">
          <ac:chgData name="Read, Zoe" userId="b08cd0fd-26d2-470b-8ec0-c6e6cb2a79bd" providerId="ADAL" clId="{5AEB2719-95A5-4ED2-9E0E-ED462BB10526}" dt="2026-03-12T20:13:02.055" v="3365" actId="478"/>
          <ac:picMkLst>
            <pc:docMk/>
            <pc:sldMk cId="2005456116" sldId="257"/>
            <ac:picMk id="19" creationId="{6F6CCBC1-FB78-D641-2558-44EE723465AE}"/>
          </ac:picMkLst>
        </pc:picChg>
        <pc:picChg chg="del">
          <ac:chgData name="Read, Zoe" userId="b08cd0fd-26d2-470b-8ec0-c6e6cb2a79bd" providerId="ADAL" clId="{5AEB2719-95A5-4ED2-9E0E-ED462BB10526}" dt="2026-03-12T20:13:15.849" v="3367" actId="478"/>
          <ac:picMkLst>
            <pc:docMk/>
            <pc:sldMk cId="2005456116" sldId="257"/>
            <ac:picMk id="24" creationId="{04440FAB-EE3F-FD41-C5C0-9224F3ADC6B1}"/>
          </ac:picMkLst>
        </pc:picChg>
        <pc:picChg chg="add mod modCrop">
          <ac:chgData name="Read, Zoe" userId="b08cd0fd-26d2-470b-8ec0-c6e6cb2a79bd" providerId="ADAL" clId="{5AEB2719-95A5-4ED2-9E0E-ED462BB10526}" dt="2026-03-12T20:16:18.962" v="3525" actId="1076"/>
          <ac:picMkLst>
            <pc:docMk/>
            <pc:sldMk cId="2005456116" sldId="257"/>
            <ac:picMk id="1042" creationId="{04363E67-54FD-37B3-65BB-A8173A952E9D}"/>
          </ac:picMkLst>
        </pc:picChg>
        <pc:cxnChg chg="add mod ord">
          <ac:chgData name="Read, Zoe" userId="b08cd0fd-26d2-470b-8ec0-c6e6cb2a79bd" providerId="ADAL" clId="{5AEB2719-95A5-4ED2-9E0E-ED462BB10526}" dt="2026-03-12T20:16:25.990" v="3528" actId="166"/>
          <ac:cxnSpMkLst>
            <pc:docMk/>
            <pc:sldMk cId="2005456116" sldId="257"/>
            <ac:cxnSpMk id="21" creationId="{4DACE8AF-5A3B-350F-CBBD-990A9C27B8D4}"/>
          </ac:cxnSpMkLst>
        </pc:cxnChg>
        <pc:cxnChg chg="mod">
          <ac:chgData name="Read, Zoe" userId="b08cd0fd-26d2-470b-8ec0-c6e6cb2a79bd" providerId="ADAL" clId="{5AEB2719-95A5-4ED2-9E0E-ED462BB10526}" dt="2026-03-12T19:11:58.622" v="2856" actId="1035"/>
          <ac:cxnSpMkLst>
            <pc:docMk/>
            <pc:sldMk cId="2005456116" sldId="257"/>
            <ac:cxnSpMk id="1031" creationId="{00BF45BC-03E3-27BE-C768-387C6B2C806C}"/>
          </ac:cxnSpMkLst>
        </pc:cxnChg>
        <pc:cxnChg chg="add mod ord">
          <ac:chgData name="Read, Zoe" userId="b08cd0fd-26d2-470b-8ec0-c6e6cb2a79bd" providerId="ADAL" clId="{5AEB2719-95A5-4ED2-9E0E-ED462BB10526}" dt="2026-03-12T20:12:17.256" v="3359" actId="167"/>
          <ac:cxnSpMkLst>
            <pc:docMk/>
            <pc:sldMk cId="2005456116" sldId="257"/>
            <ac:cxnSpMk id="1032" creationId="{15AF56DC-5EE6-BFA8-237F-07B49EFF2D22}"/>
          </ac:cxnSpMkLst>
        </pc:cxnChg>
        <pc:cxnChg chg="mod">
          <ac:chgData name="Read, Zoe" userId="b08cd0fd-26d2-470b-8ec0-c6e6cb2a79bd" providerId="ADAL" clId="{5AEB2719-95A5-4ED2-9E0E-ED462BB10526}" dt="2026-03-12T20:10:23.305" v="3171" actId="1076"/>
          <ac:cxnSpMkLst>
            <pc:docMk/>
            <pc:sldMk cId="2005456116" sldId="257"/>
            <ac:cxnSpMk id="1036" creationId="{A0864A2A-8580-B800-4329-34DD10B52D76}"/>
          </ac:cxnSpMkLst>
        </pc:cxnChg>
        <pc:cxnChg chg="mod">
          <ac:chgData name="Read, Zoe" userId="b08cd0fd-26d2-470b-8ec0-c6e6cb2a79bd" providerId="ADAL" clId="{5AEB2719-95A5-4ED2-9E0E-ED462BB10526}" dt="2026-03-12T19:12:02.854" v="2857" actId="14100"/>
          <ac:cxnSpMkLst>
            <pc:docMk/>
            <pc:sldMk cId="2005456116" sldId="257"/>
            <ac:cxnSpMk id="1039" creationId="{209C8AEE-D29E-C2A9-B7F5-38C8AE3FDCAC}"/>
          </ac:cxnSpMkLst>
        </pc:cxnChg>
        <pc:cxnChg chg="mod">
          <ac:chgData name="Read, Zoe" userId="b08cd0fd-26d2-470b-8ec0-c6e6cb2a79bd" providerId="ADAL" clId="{5AEB2719-95A5-4ED2-9E0E-ED462BB10526}" dt="2026-03-12T20:16:16.234" v="3524" actId="1076"/>
          <ac:cxnSpMkLst>
            <pc:docMk/>
            <pc:sldMk cId="2005456116" sldId="257"/>
            <ac:cxnSpMk id="1044" creationId="{8463A8F4-CE87-F09A-8258-6D6979B36D80}"/>
          </ac:cxnSpMkLst>
        </pc:cxnChg>
        <pc:cxnChg chg="add mod ord">
          <ac:chgData name="Read, Zoe" userId="b08cd0fd-26d2-470b-8ec0-c6e6cb2a79bd" providerId="ADAL" clId="{5AEB2719-95A5-4ED2-9E0E-ED462BB10526}" dt="2026-03-12T20:12:17.256" v="3359" actId="167"/>
          <ac:cxnSpMkLst>
            <pc:docMk/>
            <pc:sldMk cId="2005456116" sldId="257"/>
            <ac:cxnSpMk id="1045" creationId="{BB33F361-7DB9-04C2-C03A-778C0DF80E8F}"/>
          </ac:cxnSpMkLst>
        </pc:cxnChg>
        <pc:cxnChg chg="add mod">
          <ac:chgData name="Read, Zoe" userId="b08cd0fd-26d2-470b-8ec0-c6e6cb2a79bd" providerId="ADAL" clId="{5AEB2719-95A5-4ED2-9E0E-ED462BB10526}" dt="2026-03-12T20:10:36.867" v="3175" actId="1076"/>
          <ac:cxnSpMkLst>
            <pc:docMk/>
            <pc:sldMk cId="2005456116" sldId="257"/>
            <ac:cxnSpMk id="1047" creationId="{375CA06C-A251-4ED8-A38F-281C7D414E0B}"/>
          </ac:cxnSpMkLst>
        </pc:cxnChg>
        <pc:cxnChg chg="add mod ord">
          <ac:chgData name="Read, Zoe" userId="b08cd0fd-26d2-470b-8ec0-c6e6cb2a79bd" providerId="ADAL" clId="{5AEB2719-95A5-4ED2-9E0E-ED462BB10526}" dt="2026-03-12T20:12:17.256" v="3359" actId="167"/>
          <ac:cxnSpMkLst>
            <pc:docMk/>
            <pc:sldMk cId="2005456116" sldId="257"/>
            <ac:cxnSpMk id="1050" creationId="{D3DAFDEE-D9E5-1D68-8EB9-E51F04AB1645}"/>
          </ac:cxnSpMkLst>
        </pc:cxnChg>
        <pc:cxnChg chg="add mod ord">
          <ac:chgData name="Read, Zoe" userId="b08cd0fd-26d2-470b-8ec0-c6e6cb2a79bd" providerId="ADAL" clId="{5AEB2719-95A5-4ED2-9E0E-ED462BB10526}" dt="2026-03-12T20:12:17.256" v="3359" actId="167"/>
          <ac:cxnSpMkLst>
            <pc:docMk/>
            <pc:sldMk cId="2005456116" sldId="257"/>
            <ac:cxnSpMk id="1051" creationId="{F2AFA6AA-F2FA-7B6D-89B6-C18FBAE3FB74}"/>
          </ac:cxnSpMkLst>
        </pc:cxnChg>
        <pc:cxnChg chg="add mod ord">
          <ac:chgData name="Read, Zoe" userId="b08cd0fd-26d2-470b-8ec0-c6e6cb2a79bd" providerId="ADAL" clId="{5AEB2719-95A5-4ED2-9E0E-ED462BB10526}" dt="2026-03-12T20:12:17.256" v="3359" actId="167"/>
          <ac:cxnSpMkLst>
            <pc:docMk/>
            <pc:sldMk cId="2005456116" sldId="257"/>
            <ac:cxnSpMk id="1052" creationId="{9F2A7656-0EEE-7013-0DB8-ADC5FDA2A8B2}"/>
          </ac:cxnSpMkLst>
        </pc:cxnChg>
        <pc:cxnChg chg="add mod ord">
          <ac:chgData name="Read, Zoe" userId="b08cd0fd-26d2-470b-8ec0-c6e6cb2a79bd" providerId="ADAL" clId="{5AEB2719-95A5-4ED2-9E0E-ED462BB10526}" dt="2026-03-12T20:12:17.256" v="3359" actId="167"/>
          <ac:cxnSpMkLst>
            <pc:docMk/>
            <pc:sldMk cId="2005456116" sldId="257"/>
            <ac:cxnSpMk id="1053" creationId="{45B61E4A-833A-BA3F-9B21-F25237F7E669}"/>
          </ac:cxnSpMkLst>
        </pc:cxnChg>
        <pc:cxnChg chg="add mod ord">
          <ac:chgData name="Read, Zoe" userId="b08cd0fd-26d2-470b-8ec0-c6e6cb2a79bd" providerId="ADAL" clId="{5AEB2719-95A5-4ED2-9E0E-ED462BB10526}" dt="2026-03-12T20:12:17.256" v="3359" actId="167"/>
          <ac:cxnSpMkLst>
            <pc:docMk/>
            <pc:sldMk cId="2005456116" sldId="257"/>
            <ac:cxnSpMk id="1054" creationId="{B4545213-9D78-5A7D-F0ED-7247C7E86F0A}"/>
          </ac:cxnSpMkLst>
        </pc:cxnChg>
        <pc:cxnChg chg="add mod ord">
          <ac:chgData name="Read, Zoe" userId="b08cd0fd-26d2-470b-8ec0-c6e6cb2a79bd" providerId="ADAL" clId="{5AEB2719-95A5-4ED2-9E0E-ED462BB10526}" dt="2026-03-12T20:12:17.256" v="3359" actId="167"/>
          <ac:cxnSpMkLst>
            <pc:docMk/>
            <pc:sldMk cId="2005456116" sldId="257"/>
            <ac:cxnSpMk id="1055" creationId="{EAF13472-2A54-A942-9989-189633D8FC45}"/>
          </ac:cxnSpMkLst>
        </pc:cxnChg>
        <pc:cxnChg chg="add mod">
          <ac:chgData name="Read, Zoe" userId="b08cd0fd-26d2-470b-8ec0-c6e6cb2a79bd" providerId="ADAL" clId="{5AEB2719-95A5-4ED2-9E0E-ED462BB10526}" dt="2026-03-12T19:06:52.126" v="2440" actId="1076"/>
          <ac:cxnSpMkLst>
            <pc:docMk/>
            <pc:sldMk cId="2005456116" sldId="257"/>
            <ac:cxnSpMk id="1056" creationId="{97023478-EBF1-C0B2-4640-43B6062C44A4}"/>
          </ac:cxnSpMkLst>
        </pc:cxnChg>
        <pc:cxnChg chg="add mod">
          <ac:chgData name="Read, Zoe" userId="b08cd0fd-26d2-470b-8ec0-c6e6cb2a79bd" providerId="ADAL" clId="{5AEB2719-95A5-4ED2-9E0E-ED462BB10526}" dt="2026-03-12T19:06:52.126" v="2440" actId="1076"/>
          <ac:cxnSpMkLst>
            <pc:docMk/>
            <pc:sldMk cId="2005456116" sldId="257"/>
            <ac:cxnSpMk id="1057" creationId="{EABAA8CD-3573-D737-5C52-07AF46DD77DB}"/>
          </ac:cxnSpMkLst>
        </pc:cxnChg>
        <pc:cxnChg chg="add mod">
          <ac:chgData name="Read, Zoe" userId="b08cd0fd-26d2-470b-8ec0-c6e6cb2a79bd" providerId="ADAL" clId="{5AEB2719-95A5-4ED2-9E0E-ED462BB10526}" dt="2026-03-10T20:31:43.640" v="2357" actId="693"/>
          <ac:cxnSpMkLst>
            <pc:docMk/>
            <pc:sldMk cId="2005456116" sldId="257"/>
            <ac:cxnSpMk id="1058" creationId="{60C150C5-AE9C-3C24-36BA-5DE7D6481E18}"/>
          </ac:cxnSpMkLst>
        </pc:cxnChg>
      </pc:sldChg>
      <pc:sldChg chg="add del">
        <pc:chgData name="Read, Zoe" userId="b08cd0fd-26d2-470b-8ec0-c6e6cb2a79bd" providerId="ADAL" clId="{5AEB2719-95A5-4ED2-9E0E-ED462BB10526}" dt="2026-03-12T20:18:17.564" v="3533"/>
        <pc:sldMkLst>
          <pc:docMk/>
          <pc:sldMk cId="2004079467" sldId="259"/>
        </pc:sldMkLst>
      </pc:sldChg>
    </pc:docChg>
  </pc:docChgLst>
</pc:chgInfo>
</file>

<file path=ppt/comments/modernComment_101_7788D4F4.xml><?xml version="1.0" encoding="utf-8"?>
<p188:cmLst xmlns:a="http://schemas.openxmlformats.org/drawingml/2006/main" xmlns:r="http://schemas.openxmlformats.org/officeDocument/2006/relationships" xmlns:p188="http://schemas.microsoft.com/office/powerpoint/2018/8/main">
  <p188:cm id="{C554005E-3DFA-4299-9DD0-B44794E496C1}" authorId="{50137B73-C207-1407-898B-797CE70D2312}" created="2026-03-06T17:25:40.921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005456116" sldId="257"/>
      <ac:picMk id="10" creationId="{0A86C89A-5889-65B9-1137-F480341B9783}"/>
    </ac:deMkLst>
    <p188:txBody>
      <a:bodyPr/>
      <a:lstStyle/>
      <a:p>
        <a:r>
          <a:rPr lang="en-US"/>
          <a:t>Add a title that includes: “Fig 1. SO4 values across sites and zones. N samples = ?” and maybe have the Sites and Zones written out here. </a:t>
        </a:r>
      </a:p>
    </p188:txBody>
  </p188:cm>
  <p188:cm id="{D8865092-41B9-4A7A-8291-CC012781D643}" authorId="{50137B73-C207-1407-898B-797CE70D2312}" created="2026-03-06T17:31:19.747">
    <ac:deMkLst xmlns:ac="http://schemas.microsoft.com/office/drawing/2013/main/command">
      <pc:docMk xmlns:pc="http://schemas.microsoft.com/office/powerpoint/2013/main/command"/>
      <pc:sldMk xmlns:pc="http://schemas.microsoft.com/office/powerpoint/2013/main/command" cId="2005456116" sldId="257"/>
      <ac:picMk id="13" creationId="{6D65798C-DAB9-914B-7ECA-E6D17BBC9E45}"/>
    </ac:deMkLst>
    <p188:txBody>
      <a:bodyPr/>
      <a:lstStyle/>
      <a:p>
        <a:r>
          <a:rPr lang="en-US"/>
          <a:t>Switch the depth to the y-axis and sulfate to the y-axis and color by zone</a:t>
        </a:r>
      </a:p>
    </p188:txBody>
  </p188:cm>
</p188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407BD97-90D8-3541-9414-B17D17D02539}" type="datetimeFigureOut">
              <a:rPr lang="en-US" smtClean="0"/>
              <a:t>3/12/2026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746250" y="685800"/>
            <a:ext cx="33655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C32DB95-ECDB-0847-8712-29974AF33C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76903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584411" rtl="0" eaLnBrk="1" latinLnBrk="0" hangingPunct="1">
      <a:defRPr sz="1534" kern="1200">
        <a:solidFill>
          <a:schemeClr val="tx1"/>
        </a:solidFill>
        <a:latin typeface="+mn-lt"/>
        <a:ea typeface="+mn-ea"/>
        <a:cs typeface="+mn-cs"/>
      </a:defRPr>
    </a:lvl1pPr>
    <a:lvl2pPr marL="584411" algn="l" defTabSz="584411" rtl="0" eaLnBrk="1" latinLnBrk="0" hangingPunct="1">
      <a:defRPr sz="1534" kern="1200">
        <a:solidFill>
          <a:schemeClr val="tx1"/>
        </a:solidFill>
        <a:latin typeface="+mn-lt"/>
        <a:ea typeface="+mn-ea"/>
        <a:cs typeface="+mn-cs"/>
      </a:defRPr>
    </a:lvl2pPr>
    <a:lvl3pPr marL="1168823" algn="l" defTabSz="584411" rtl="0" eaLnBrk="1" latinLnBrk="0" hangingPunct="1">
      <a:defRPr sz="1534" kern="1200">
        <a:solidFill>
          <a:schemeClr val="tx1"/>
        </a:solidFill>
        <a:latin typeface="+mn-lt"/>
        <a:ea typeface="+mn-ea"/>
        <a:cs typeface="+mn-cs"/>
      </a:defRPr>
    </a:lvl3pPr>
    <a:lvl4pPr marL="1753234" algn="l" defTabSz="584411" rtl="0" eaLnBrk="1" latinLnBrk="0" hangingPunct="1">
      <a:defRPr sz="1534" kern="1200">
        <a:solidFill>
          <a:schemeClr val="tx1"/>
        </a:solidFill>
        <a:latin typeface="+mn-lt"/>
        <a:ea typeface="+mn-ea"/>
        <a:cs typeface="+mn-cs"/>
      </a:defRPr>
    </a:lvl4pPr>
    <a:lvl5pPr marL="2337645" algn="l" defTabSz="584411" rtl="0" eaLnBrk="1" latinLnBrk="0" hangingPunct="1">
      <a:defRPr sz="1534" kern="1200">
        <a:solidFill>
          <a:schemeClr val="tx1"/>
        </a:solidFill>
        <a:latin typeface="+mn-lt"/>
        <a:ea typeface="+mn-ea"/>
        <a:cs typeface="+mn-cs"/>
      </a:defRPr>
    </a:lvl5pPr>
    <a:lvl6pPr marL="2922057" algn="l" defTabSz="584411" rtl="0" eaLnBrk="1" latinLnBrk="0" hangingPunct="1">
      <a:defRPr sz="1534" kern="1200">
        <a:solidFill>
          <a:schemeClr val="tx1"/>
        </a:solidFill>
        <a:latin typeface="+mn-lt"/>
        <a:ea typeface="+mn-ea"/>
        <a:cs typeface="+mn-cs"/>
      </a:defRPr>
    </a:lvl6pPr>
    <a:lvl7pPr marL="3506468" algn="l" defTabSz="584411" rtl="0" eaLnBrk="1" latinLnBrk="0" hangingPunct="1">
      <a:defRPr sz="1534" kern="1200">
        <a:solidFill>
          <a:schemeClr val="tx1"/>
        </a:solidFill>
        <a:latin typeface="+mn-lt"/>
        <a:ea typeface="+mn-ea"/>
        <a:cs typeface="+mn-cs"/>
      </a:defRPr>
    </a:lvl7pPr>
    <a:lvl8pPr marL="4090879" algn="l" defTabSz="584411" rtl="0" eaLnBrk="1" latinLnBrk="0" hangingPunct="1">
      <a:defRPr sz="1534" kern="1200">
        <a:solidFill>
          <a:schemeClr val="tx1"/>
        </a:solidFill>
        <a:latin typeface="+mn-lt"/>
        <a:ea typeface="+mn-ea"/>
        <a:cs typeface="+mn-cs"/>
      </a:defRPr>
    </a:lvl8pPr>
    <a:lvl9pPr marL="4675291" algn="l" defTabSz="584411" rtl="0" eaLnBrk="1" latinLnBrk="0" hangingPunct="1">
      <a:defRPr sz="1534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1746250" y="685800"/>
            <a:ext cx="33655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800" b="1" dirty="0"/>
              <a:t>Who do I add to credits? </a:t>
            </a:r>
          </a:p>
          <a:p>
            <a:endParaRPr lang="en-US" sz="1800" b="1" dirty="0"/>
          </a:p>
          <a:p>
            <a:r>
              <a:rPr lang="en-US" sz="1800" b="1" dirty="0"/>
              <a:t>, </a:t>
            </a:r>
            <a:r>
              <a:rPr lang="en-US" sz="1800" dirty="0"/>
              <a:t>Stephanie J. Wilson, Pat Megonigal, Alice Stearns, Evan Phillips, Ben Bond-Lamberty</a:t>
            </a:r>
          </a:p>
          <a:p>
            <a:r>
              <a:rPr lang="en-US" sz="1600" baseline="30000" dirty="0"/>
              <a:t>1</a:t>
            </a:r>
            <a:r>
              <a:rPr lang="en-US" sz="1600" dirty="0"/>
              <a:t>Smithsonian Environmental Research Center, Maryland, USA, </a:t>
            </a:r>
            <a:r>
              <a:rPr lang="en-US" sz="1600" baseline="30000" dirty="0"/>
              <a:t>2</a:t>
            </a:r>
            <a:r>
              <a:rPr lang="en-US" sz="1600" dirty="0"/>
              <a:t>Pacific Northwest National Laboratory</a:t>
            </a:r>
            <a:endParaRPr lang="en-US" dirty="0"/>
          </a:p>
          <a:p>
            <a:endParaRPr lang="en-US" baseline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CC32DB95-ECDB-0847-8712-29974AF33C2B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492928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emf"/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584D0AFE-D266-7149-9388-0CB3CC5C87ED}"/>
              </a:ext>
            </a:extLst>
          </p:cNvPr>
          <p:cNvSpPr/>
          <p:nvPr userDrawn="1"/>
        </p:nvSpPr>
        <p:spPr>
          <a:xfrm>
            <a:off x="0" y="0"/>
            <a:ext cx="34747200" cy="737228"/>
          </a:xfrm>
          <a:prstGeom prst="rect">
            <a:avLst/>
          </a:prstGeom>
          <a:solidFill>
            <a:srgbClr val="419758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236"/>
          </a:p>
        </p:txBody>
      </p:sp>
      <p:sp>
        <p:nvSpPr>
          <p:cNvPr id="4" name="Title Placeholder 4">
            <a:extLst>
              <a:ext uri="{FF2B5EF4-FFF2-40B4-BE49-F238E27FC236}">
                <a16:creationId xmlns:a16="http://schemas.microsoft.com/office/drawing/2014/main" id="{03672AAF-4B6B-9046-B08E-E3EDCC2CB61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5634" y="1597328"/>
            <a:ext cx="26140833" cy="258029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lang="en-US" dirty="0">
                <a:solidFill>
                  <a:srgbClr val="419758"/>
                </a:solidFill>
              </a:defRPr>
            </a:lvl1pPr>
          </a:lstStyle>
          <a:p>
            <a:pPr lvl="0"/>
            <a:r>
              <a:rPr lang="en-US" dirty="0"/>
              <a:t>Click to edit Master title style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D5658E99-2B7E-A94A-AE07-8B6946534EF5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45634" y="4300499"/>
            <a:ext cx="26089544" cy="1105843"/>
          </a:xfrm>
          <a:prstGeom prst="rect">
            <a:avLst/>
          </a:prstGeom>
        </p:spPr>
        <p:txBody>
          <a:bodyPr/>
          <a:lstStyle>
            <a:lvl1pPr>
              <a:defRPr lang="en-US" sz="3800" dirty="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3" name="Text Placeholder 9">
            <a:extLst>
              <a:ext uri="{FF2B5EF4-FFF2-40B4-BE49-F238E27FC236}">
                <a16:creationId xmlns:a16="http://schemas.microsoft.com/office/drawing/2014/main" id="{CBC0CC5A-BCC7-7A40-B8AC-3C8CB9773C97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45633" y="6143570"/>
            <a:ext cx="16026342" cy="6512184"/>
          </a:xfrm>
          <a:prstGeom prst="rect">
            <a:avLst/>
          </a:prstGeom>
        </p:spPr>
        <p:txBody>
          <a:bodyPr/>
          <a:lstStyle>
            <a:lvl1pPr>
              <a:defRPr lang="en-US" sz="285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14" name="Picture Placeholder 11">
            <a:extLst>
              <a:ext uri="{FF2B5EF4-FFF2-40B4-BE49-F238E27FC236}">
                <a16:creationId xmlns:a16="http://schemas.microsoft.com/office/drawing/2014/main" id="{631EFDE9-D317-6E45-88B1-57517D7BFEDD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45633" y="13024368"/>
            <a:ext cx="10134600" cy="8355255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endParaRPr lang="en-US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CE4DD70-5E36-AE41-A65A-4190E3663EBC}"/>
              </a:ext>
            </a:extLst>
          </p:cNvPr>
          <p:cNvSpPr txBox="1"/>
          <p:nvPr userDrawn="1"/>
        </p:nvSpPr>
        <p:spPr>
          <a:xfrm>
            <a:off x="5368925" y="33789635"/>
            <a:ext cx="10677525" cy="11887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75" dirty="0">
                <a:latin typeface="Arial Narrow" panose="020B0604020202020204" pitchFamily="34" charset="0"/>
                <a:cs typeface="Arial Narrow" panose="020B0604020202020204" pitchFamily="34" charset="0"/>
              </a:rPr>
              <a:t>COMPASS is a multi-institutional program led by PNNL and funded by the Earth and Environmental Systems Sciences Division of the U.S. Department of Energy’s Office of Science.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32AE247A-04BD-BE4B-92FB-FB837DE1CD2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08199" y="1351585"/>
            <a:ext cx="7374731" cy="234991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4B1DE48B-5647-A9EA-1675-F9CED45CC64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367368" y="33513174"/>
            <a:ext cx="3619500" cy="1013689"/>
          </a:xfrm>
          <a:prstGeom prst="rect">
            <a:avLst/>
          </a:prstGeom>
        </p:spPr>
      </p:pic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D323AE28-6C10-A6FB-A7A3-33DB777A47F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7675226" y="6143570"/>
            <a:ext cx="16038909" cy="6512184"/>
          </a:xfrm>
          <a:prstGeom prst="rect">
            <a:avLst/>
          </a:prstGeom>
        </p:spPr>
        <p:txBody>
          <a:bodyPr/>
          <a:lstStyle>
            <a:lvl1pPr>
              <a:defRPr lang="en-US" sz="2850" smtClean="0">
                <a:solidFill>
                  <a:schemeClr val="tx1"/>
                </a:solidFill>
              </a:defRPr>
            </a:lvl1pPr>
            <a:lvl2pPr>
              <a:defRPr lang="en-US" smtClean="0"/>
            </a:lvl2pPr>
            <a:lvl3pPr>
              <a:defRPr lang="en-US" smtClean="0"/>
            </a:lvl3pPr>
            <a:lvl4pPr>
              <a:defRPr lang="en-US" smtClean="0"/>
            </a:lvl4pPr>
            <a:lvl5pPr>
              <a:defRPr lang="en-US"/>
            </a:lvl5pPr>
          </a:lstStyle>
          <a:p>
            <a:pPr lvl="0"/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23030590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87A1BC5-04C5-424E-B098-F40040519109}"/>
              </a:ext>
            </a:extLst>
          </p:cNvPr>
          <p:cNvSpPr/>
          <p:nvPr userDrawn="1"/>
        </p:nvSpPr>
        <p:spPr>
          <a:xfrm>
            <a:off x="0" y="0"/>
            <a:ext cx="34747200" cy="737228"/>
          </a:xfrm>
          <a:prstGeom prst="rect">
            <a:avLst/>
          </a:prstGeom>
          <a:solidFill>
            <a:srgbClr val="75BFE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5236"/>
          </a:p>
        </p:txBody>
      </p:sp>
      <p:sp>
        <p:nvSpPr>
          <p:cNvPr id="4" name="Title Placeholder 4">
            <a:extLst>
              <a:ext uri="{FF2B5EF4-FFF2-40B4-BE49-F238E27FC236}">
                <a16:creationId xmlns:a16="http://schemas.microsoft.com/office/drawing/2014/main" id="{54D62BC3-C003-A84C-B368-EA134F3F55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5634" y="1597328"/>
            <a:ext cx="26140833" cy="258029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>
            <a:lvl1pPr>
              <a:defRPr sz="7917">
                <a:solidFill>
                  <a:srgbClr val="75BFE2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6" name="Text Placeholder 6">
            <a:extLst>
              <a:ext uri="{FF2B5EF4-FFF2-40B4-BE49-F238E27FC236}">
                <a16:creationId xmlns:a16="http://schemas.microsoft.com/office/drawing/2014/main" id="{97D32DA8-2330-A247-A794-A1FB0E6D7813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1045634" y="4300499"/>
            <a:ext cx="26089544" cy="1105843"/>
          </a:xfrm>
          <a:prstGeom prst="rect">
            <a:avLst/>
          </a:prstGeom>
        </p:spPr>
        <p:txBody>
          <a:bodyPr/>
          <a:lstStyle>
            <a:lvl1pPr>
              <a:defRPr sz="3800"/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8" name="Text Placeholder 9">
            <a:extLst>
              <a:ext uri="{FF2B5EF4-FFF2-40B4-BE49-F238E27FC236}">
                <a16:creationId xmlns:a16="http://schemas.microsoft.com/office/drawing/2014/main" id="{CA885556-C088-B64F-ACA3-FF4240EFD0F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1045633" y="6143570"/>
            <a:ext cx="16026342" cy="6512184"/>
          </a:xfrm>
          <a:prstGeom prst="rect">
            <a:avLst/>
          </a:prstGeom>
        </p:spPr>
        <p:txBody>
          <a:bodyPr/>
          <a:lstStyle>
            <a:lvl1pPr>
              <a:defRPr sz="285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9" name="Picture Placeholder 11">
            <a:extLst>
              <a:ext uri="{FF2B5EF4-FFF2-40B4-BE49-F238E27FC236}">
                <a16:creationId xmlns:a16="http://schemas.microsoft.com/office/drawing/2014/main" id="{6465F565-98C7-4641-9D07-BBDFC2A1921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45633" y="13024368"/>
            <a:ext cx="10134600" cy="8355255"/>
          </a:xfrm>
          <a:prstGeom prst="rect">
            <a:avLst/>
          </a:prstGeom>
        </p:spPr>
        <p:txBody>
          <a:bodyPr anchor="ctr"/>
          <a:lstStyle>
            <a:lvl1pPr algn="ctr">
              <a:defRPr/>
            </a:lvl1pPr>
          </a:lstStyle>
          <a:p>
            <a:endParaRPr lang="en-US" dirty="0"/>
          </a:p>
        </p:txBody>
      </p:sp>
      <p:pic>
        <p:nvPicPr>
          <p:cNvPr id="36" name="Picture 35">
            <a:extLst>
              <a:ext uri="{FF2B5EF4-FFF2-40B4-BE49-F238E27FC236}">
                <a16:creationId xmlns:a16="http://schemas.microsoft.com/office/drawing/2014/main" id="{228F6D04-A06E-684E-8C67-976CAB7FFE1D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7508199" y="1351585"/>
            <a:ext cx="7374731" cy="2349916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E5FD9DC2-4A89-3FD6-54FA-1164F3422A10}"/>
              </a:ext>
            </a:extLst>
          </p:cNvPr>
          <p:cNvSpPr txBox="1"/>
          <p:nvPr userDrawn="1"/>
        </p:nvSpPr>
        <p:spPr>
          <a:xfrm>
            <a:off x="5368925" y="33789635"/>
            <a:ext cx="10677525" cy="118878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375" dirty="0">
                <a:latin typeface="Arial Narrow" panose="020B0604020202020204" pitchFamily="34" charset="0"/>
                <a:cs typeface="Arial Narrow" panose="020B0604020202020204" pitchFamily="34" charset="0"/>
              </a:rPr>
              <a:t>COMPASS is a multi-institutional program led by PNNL and funded by the Earth and Environmental Systems Sciences Division of the U.S. Department of Energy’s Office of Science.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1331CA-E7E1-FDCC-6B95-1A35867FC6E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1367368" y="33513174"/>
            <a:ext cx="3619500" cy="1013689"/>
          </a:xfrm>
          <a:prstGeom prst="rect">
            <a:avLst/>
          </a:prstGeom>
        </p:spPr>
      </p:pic>
      <p:sp>
        <p:nvSpPr>
          <p:cNvPr id="37" name="Text Placeholder 36">
            <a:extLst>
              <a:ext uri="{FF2B5EF4-FFF2-40B4-BE49-F238E27FC236}">
                <a16:creationId xmlns:a16="http://schemas.microsoft.com/office/drawing/2014/main" id="{13659340-3524-A165-87E8-5B585713021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7674681" y="6143570"/>
            <a:ext cx="16039454" cy="6512184"/>
          </a:xfrm>
          <a:prstGeom prst="rect">
            <a:avLst/>
          </a:prstGeom>
        </p:spPr>
        <p:txBody>
          <a:bodyPr/>
          <a:lstStyle>
            <a:lvl1pPr>
              <a:defRPr lang="en-US" sz="285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</a:lstStyle>
          <a:p>
            <a:pPr marL="0" lvl="0" indent="0" algn="l" defTabSz="1654622" rtl="0" eaLnBrk="1" latinLnBrk="0" hangingPunct="1">
              <a:spcBef>
                <a:spcPct val="20000"/>
              </a:spcBef>
              <a:buFont typeface="Arial" pitchFamily="34" charset="0"/>
              <a:buNone/>
            </a:pPr>
            <a:r>
              <a:rPr lang="en-US" dirty="0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3360017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079FD72-BCA5-F24C-9A3D-76ABA0D3F90D}"/>
              </a:ext>
            </a:extLst>
          </p:cNvPr>
          <p:cNvPicPr>
            <a:picLocks/>
          </p:cNvPicPr>
          <p:nvPr userDrawn="1"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7850"/>
          <a:stretch/>
        </p:blipFill>
        <p:spPr>
          <a:xfrm>
            <a:off x="0" y="31442791"/>
            <a:ext cx="34747200" cy="3944172"/>
          </a:xfrm>
          <a:prstGeom prst="rect">
            <a:avLst/>
          </a:prstGeom>
        </p:spPr>
      </p:pic>
      <p:sp>
        <p:nvSpPr>
          <p:cNvPr id="5" name="Title Placeholder 4">
            <a:extLst>
              <a:ext uri="{FF2B5EF4-FFF2-40B4-BE49-F238E27FC236}">
                <a16:creationId xmlns:a16="http://schemas.microsoft.com/office/drawing/2014/main" id="{D5336751-8B97-CB48-BAFB-A2B59127B0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045634" y="1597328"/>
            <a:ext cx="29968120" cy="2580299"/>
          </a:xfrm>
          <a:prstGeom prst="rect">
            <a:avLst/>
          </a:prstGeom>
        </p:spPr>
        <p:txBody>
          <a:bodyPr vert="horz" lIns="0" tIns="0" rIns="0" bIns="0" rtlCol="0" anchor="t">
            <a:normAutofit/>
          </a:bodyPr>
          <a:lstStyle/>
          <a:p>
            <a:pPr lvl="0"/>
            <a:r>
              <a:rPr lang="en-US" dirty="0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96846365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l" defTabSz="1654622" rtl="0" eaLnBrk="1" latinLnBrk="0" hangingPunct="1">
        <a:spcBef>
          <a:spcPct val="0"/>
        </a:spcBef>
        <a:buNone/>
        <a:defRPr lang="en-US" sz="7917" kern="1200" dirty="0">
          <a:solidFill>
            <a:srgbClr val="75BFE2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0" indent="0" algn="l" defTabSz="1654622" rtl="0" eaLnBrk="1" latinLnBrk="0" hangingPunct="1">
        <a:spcBef>
          <a:spcPct val="20000"/>
        </a:spcBef>
        <a:buFont typeface="Arial" pitchFamily="34" charset="0"/>
        <a:buNone/>
        <a:defRPr sz="3905" kern="1200">
          <a:solidFill>
            <a:schemeClr val="tx1">
              <a:lumMod val="65000"/>
              <a:lumOff val="35000"/>
            </a:schemeClr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1344381" indent="-517070" algn="l" defTabSz="1654622" rtl="0" eaLnBrk="1" latinLnBrk="0" hangingPunct="1">
        <a:spcBef>
          <a:spcPct val="20000"/>
        </a:spcBef>
        <a:buFont typeface="Arial" pitchFamily="34" charset="0"/>
        <a:buChar char="–"/>
        <a:defRPr sz="5067" kern="1200">
          <a:solidFill>
            <a:schemeClr val="tx1"/>
          </a:solidFill>
          <a:latin typeface="+mn-lt"/>
          <a:ea typeface="+mn-ea"/>
          <a:cs typeface="+mn-cs"/>
        </a:defRPr>
      </a:lvl2pPr>
      <a:lvl3pPr marL="2068278" indent="-413656" algn="l" defTabSz="1654622" rtl="0" eaLnBrk="1" latinLnBrk="0" hangingPunct="1">
        <a:spcBef>
          <a:spcPct val="20000"/>
        </a:spcBef>
        <a:buFont typeface="Arial" pitchFamily="34" charset="0"/>
        <a:buChar char="•"/>
        <a:defRPr sz="4328" kern="1200">
          <a:solidFill>
            <a:schemeClr val="tx1"/>
          </a:solidFill>
          <a:latin typeface="+mn-lt"/>
          <a:ea typeface="+mn-ea"/>
          <a:cs typeface="+mn-cs"/>
        </a:defRPr>
      </a:lvl3pPr>
      <a:lvl4pPr marL="2895590" indent="-413656" algn="l" defTabSz="1654622" rtl="0" eaLnBrk="1" latinLnBrk="0" hangingPunct="1">
        <a:spcBef>
          <a:spcPct val="20000"/>
        </a:spcBef>
        <a:buFont typeface="Arial" pitchFamily="34" charset="0"/>
        <a:buChar char="–"/>
        <a:defRPr sz="3695" kern="1200">
          <a:solidFill>
            <a:schemeClr val="tx1"/>
          </a:solidFill>
          <a:latin typeface="+mn-lt"/>
          <a:ea typeface="+mn-ea"/>
          <a:cs typeface="+mn-cs"/>
        </a:defRPr>
      </a:lvl4pPr>
      <a:lvl5pPr marL="3722900" indent="-413656" algn="l" defTabSz="1654622" rtl="0" eaLnBrk="1" latinLnBrk="0" hangingPunct="1">
        <a:spcBef>
          <a:spcPct val="20000"/>
        </a:spcBef>
        <a:buFont typeface="Arial" pitchFamily="34" charset="0"/>
        <a:buChar char="»"/>
        <a:defRPr sz="3695" kern="1200">
          <a:solidFill>
            <a:schemeClr val="tx1"/>
          </a:solidFill>
          <a:latin typeface="+mn-lt"/>
          <a:ea typeface="+mn-ea"/>
          <a:cs typeface="+mn-cs"/>
        </a:defRPr>
      </a:lvl5pPr>
      <a:lvl6pPr marL="4550212" indent="-413656" algn="l" defTabSz="1654622" rtl="0" eaLnBrk="1" latinLnBrk="0" hangingPunct="1">
        <a:spcBef>
          <a:spcPct val="20000"/>
        </a:spcBef>
        <a:buFont typeface="Arial" pitchFamily="34" charset="0"/>
        <a:buChar char="•"/>
        <a:defRPr sz="3695" kern="1200">
          <a:solidFill>
            <a:schemeClr val="tx1"/>
          </a:solidFill>
          <a:latin typeface="+mn-lt"/>
          <a:ea typeface="+mn-ea"/>
          <a:cs typeface="+mn-cs"/>
        </a:defRPr>
      </a:lvl6pPr>
      <a:lvl7pPr marL="5377522" indent="-413656" algn="l" defTabSz="1654622" rtl="0" eaLnBrk="1" latinLnBrk="0" hangingPunct="1">
        <a:spcBef>
          <a:spcPct val="20000"/>
        </a:spcBef>
        <a:buFont typeface="Arial" pitchFamily="34" charset="0"/>
        <a:buChar char="•"/>
        <a:defRPr sz="3695" kern="1200">
          <a:solidFill>
            <a:schemeClr val="tx1"/>
          </a:solidFill>
          <a:latin typeface="+mn-lt"/>
          <a:ea typeface="+mn-ea"/>
          <a:cs typeface="+mn-cs"/>
        </a:defRPr>
      </a:lvl7pPr>
      <a:lvl8pPr marL="6204835" indent="-413656" algn="l" defTabSz="1654622" rtl="0" eaLnBrk="1" latinLnBrk="0" hangingPunct="1">
        <a:spcBef>
          <a:spcPct val="20000"/>
        </a:spcBef>
        <a:buFont typeface="Arial" pitchFamily="34" charset="0"/>
        <a:buChar char="•"/>
        <a:defRPr sz="3695" kern="1200">
          <a:solidFill>
            <a:schemeClr val="tx1"/>
          </a:solidFill>
          <a:latin typeface="+mn-lt"/>
          <a:ea typeface="+mn-ea"/>
          <a:cs typeface="+mn-cs"/>
        </a:defRPr>
      </a:lvl8pPr>
      <a:lvl9pPr marL="7032146" indent="-413656" algn="l" defTabSz="1654622" rtl="0" eaLnBrk="1" latinLnBrk="0" hangingPunct="1">
        <a:spcBef>
          <a:spcPct val="20000"/>
        </a:spcBef>
        <a:buFont typeface="Arial" pitchFamily="34" charset="0"/>
        <a:buChar char="•"/>
        <a:defRPr sz="369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654622" rtl="0" eaLnBrk="1" latinLnBrk="0" hangingPunct="1">
        <a:defRPr sz="3272" kern="1200">
          <a:solidFill>
            <a:schemeClr val="tx1"/>
          </a:solidFill>
          <a:latin typeface="+mn-lt"/>
          <a:ea typeface="+mn-ea"/>
          <a:cs typeface="+mn-cs"/>
        </a:defRPr>
      </a:lvl1pPr>
      <a:lvl2pPr marL="827311" algn="l" defTabSz="1654622" rtl="0" eaLnBrk="1" latinLnBrk="0" hangingPunct="1">
        <a:defRPr sz="3272" kern="1200">
          <a:solidFill>
            <a:schemeClr val="tx1"/>
          </a:solidFill>
          <a:latin typeface="+mn-lt"/>
          <a:ea typeface="+mn-ea"/>
          <a:cs typeface="+mn-cs"/>
        </a:defRPr>
      </a:lvl2pPr>
      <a:lvl3pPr marL="1654622" algn="l" defTabSz="1654622" rtl="0" eaLnBrk="1" latinLnBrk="0" hangingPunct="1">
        <a:defRPr sz="3272" kern="1200">
          <a:solidFill>
            <a:schemeClr val="tx1"/>
          </a:solidFill>
          <a:latin typeface="+mn-lt"/>
          <a:ea typeface="+mn-ea"/>
          <a:cs typeface="+mn-cs"/>
        </a:defRPr>
      </a:lvl3pPr>
      <a:lvl4pPr marL="2481934" algn="l" defTabSz="1654622" rtl="0" eaLnBrk="1" latinLnBrk="0" hangingPunct="1">
        <a:defRPr sz="3272" kern="1200">
          <a:solidFill>
            <a:schemeClr val="tx1"/>
          </a:solidFill>
          <a:latin typeface="+mn-lt"/>
          <a:ea typeface="+mn-ea"/>
          <a:cs typeface="+mn-cs"/>
        </a:defRPr>
      </a:lvl4pPr>
      <a:lvl5pPr marL="3309245" algn="l" defTabSz="1654622" rtl="0" eaLnBrk="1" latinLnBrk="0" hangingPunct="1">
        <a:defRPr sz="3272" kern="1200">
          <a:solidFill>
            <a:schemeClr val="tx1"/>
          </a:solidFill>
          <a:latin typeface="+mn-lt"/>
          <a:ea typeface="+mn-ea"/>
          <a:cs typeface="+mn-cs"/>
        </a:defRPr>
      </a:lvl5pPr>
      <a:lvl6pPr marL="4136556" algn="l" defTabSz="1654622" rtl="0" eaLnBrk="1" latinLnBrk="0" hangingPunct="1">
        <a:defRPr sz="3272" kern="1200">
          <a:solidFill>
            <a:schemeClr val="tx1"/>
          </a:solidFill>
          <a:latin typeface="+mn-lt"/>
          <a:ea typeface="+mn-ea"/>
          <a:cs typeface="+mn-cs"/>
        </a:defRPr>
      </a:lvl6pPr>
      <a:lvl7pPr marL="4963868" algn="l" defTabSz="1654622" rtl="0" eaLnBrk="1" latinLnBrk="0" hangingPunct="1">
        <a:defRPr sz="3272" kern="1200">
          <a:solidFill>
            <a:schemeClr val="tx1"/>
          </a:solidFill>
          <a:latin typeface="+mn-lt"/>
          <a:ea typeface="+mn-ea"/>
          <a:cs typeface="+mn-cs"/>
        </a:defRPr>
      </a:lvl7pPr>
      <a:lvl8pPr marL="5791179" algn="l" defTabSz="1654622" rtl="0" eaLnBrk="1" latinLnBrk="0" hangingPunct="1">
        <a:defRPr sz="3272" kern="1200">
          <a:solidFill>
            <a:schemeClr val="tx1"/>
          </a:solidFill>
          <a:latin typeface="+mn-lt"/>
          <a:ea typeface="+mn-ea"/>
          <a:cs typeface="+mn-cs"/>
        </a:defRPr>
      </a:lvl8pPr>
      <a:lvl9pPr marL="6618490" algn="l" defTabSz="1654622" rtl="0" eaLnBrk="1" latinLnBrk="0" hangingPunct="1">
        <a:defRPr sz="3272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jpeg"/><Relationship Id="rId3" Type="http://schemas.microsoft.com/office/2018/10/relationships/comments" Target="../comments/modernComment_101_7788D4F4.xml"/><Relationship Id="rId7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10" Type="http://schemas.openxmlformats.org/officeDocument/2006/relationships/image" Target="../media/image11.png"/><Relationship Id="rId4" Type="http://schemas.openxmlformats.org/officeDocument/2006/relationships/image" Target="../media/image5.png"/><Relationship Id="rId9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 descr="A screenshot of a graph&#10;&#10;AI-generated content may be incorrect.">
            <a:extLst>
              <a:ext uri="{FF2B5EF4-FFF2-40B4-BE49-F238E27FC236}">
                <a16:creationId xmlns:a16="http://schemas.microsoft.com/office/drawing/2014/main" id="{0144416F-2A82-F7CC-0427-8A36932666F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104"/>
          <a:stretch>
            <a:fillRect/>
          </a:stretch>
        </p:blipFill>
        <p:spPr>
          <a:xfrm>
            <a:off x="17554806" y="16902663"/>
            <a:ext cx="16232726" cy="10156496"/>
          </a:xfrm>
          <a:prstGeom prst="rect">
            <a:avLst/>
          </a:prstGeom>
        </p:spPr>
      </p:pic>
      <p:cxnSp>
        <p:nvCxnSpPr>
          <p:cNvPr id="1032" name="Straight Connector 1031">
            <a:extLst>
              <a:ext uri="{FF2B5EF4-FFF2-40B4-BE49-F238E27FC236}">
                <a16:creationId xmlns:a16="http://schemas.microsoft.com/office/drawing/2014/main" id="{15AF56DC-5EE6-BFA8-237F-07B49EFF2D22}"/>
              </a:ext>
            </a:extLst>
          </p:cNvPr>
          <p:cNvCxnSpPr>
            <a:cxnSpLocks/>
          </p:cNvCxnSpPr>
          <p:nvPr/>
        </p:nvCxnSpPr>
        <p:spPr>
          <a:xfrm>
            <a:off x="18193524" y="27475279"/>
            <a:ext cx="15099634" cy="0"/>
          </a:xfrm>
          <a:prstGeom prst="line">
            <a:avLst/>
          </a:prstGeom>
          <a:ln>
            <a:solidFill>
              <a:srgbClr val="75BFE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5" name="Straight Connector 1044">
            <a:extLst>
              <a:ext uri="{FF2B5EF4-FFF2-40B4-BE49-F238E27FC236}">
                <a16:creationId xmlns:a16="http://schemas.microsoft.com/office/drawing/2014/main" id="{BB33F361-7DB9-04C2-C03A-778C0DF80E8F}"/>
              </a:ext>
            </a:extLst>
          </p:cNvPr>
          <p:cNvCxnSpPr>
            <a:cxnSpLocks/>
          </p:cNvCxnSpPr>
          <p:nvPr/>
        </p:nvCxnSpPr>
        <p:spPr>
          <a:xfrm flipV="1">
            <a:off x="20334390" y="21104778"/>
            <a:ext cx="0" cy="165469"/>
          </a:xfrm>
          <a:prstGeom prst="line">
            <a:avLst/>
          </a:prstGeom>
          <a:ln w="19050"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47" name="Straight Connector 1046">
            <a:extLst>
              <a:ext uri="{FF2B5EF4-FFF2-40B4-BE49-F238E27FC236}">
                <a16:creationId xmlns:a16="http://schemas.microsoft.com/office/drawing/2014/main" id="{375CA06C-A251-4ED8-A38F-281C7D414E0B}"/>
              </a:ext>
            </a:extLst>
          </p:cNvPr>
          <p:cNvCxnSpPr>
            <a:cxnSpLocks/>
          </p:cNvCxnSpPr>
          <p:nvPr/>
        </p:nvCxnSpPr>
        <p:spPr>
          <a:xfrm flipV="1">
            <a:off x="23687190" y="21104777"/>
            <a:ext cx="0" cy="165469"/>
          </a:xfrm>
          <a:prstGeom prst="line">
            <a:avLst/>
          </a:prstGeom>
          <a:ln w="19050"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0" name="Straight Connector 1049">
            <a:extLst>
              <a:ext uri="{FF2B5EF4-FFF2-40B4-BE49-F238E27FC236}">
                <a16:creationId xmlns:a16="http://schemas.microsoft.com/office/drawing/2014/main" id="{D3DAFDEE-D9E5-1D68-8EB9-E51F04AB1645}"/>
              </a:ext>
            </a:extLst>
          </p:cNvPr>
          <p:cNvCxnSpPr>
            <a:cxnSpLocks/>
          </p:cNvCxnSpPr>
          <p:nvPr/>
        </p:nvCxnSpPr>
        <p:spPr>
          <a:xfrm flipV="1">
            <a:off x="27725790" y="21104777"/>
            <a:ext cx="0" cy="165469"/>
          </a:xfrm>
          <a:prstGeom prst="line">
            <a:avLst/>
          </a:prstGeom>
          <a:ln w="19050"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1" name="Straight Connector 1050">
            <a:extLst>
              <a:ext uri="{FF2B5EF4-FFF2-40B4-BE49-F238E27FC236}">
                <a16:creationId xmlns:a16="http://schemas.microsoft.com/office/drawing/2014/main" id="{F2AFA6AA-F2FA-7B6D-89B6-C18FBAE3FB74}"/>
              </a:ext>
            </a:extLst>
          </p:cNvPr>
          <p:cNvCxnSpPr>
            <a:cxnSpLocks/>
          </p:cNvCxnSpPr>
          <p:nvPr/>
        </p:nvCxnSpPr>
        <p:spPr>
          <a:xfrm flipV="1">
            <a:off x="30545190" y="21104777"/>
            <a:ext cx="0" cy="165469"/>
          </a:xfrm>
          <a:prstGeom prst="line">
            <a:avLst/>
          </a:prstGeom>
          <a:ln w="19050"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2" name="Straight Connector 1051">
            <a:extLst>
              <a:ext uri="{FF2B5EF4-FFF2-40B4-BE49-F238E27FC236}">
                <a16:creationId xmlns:a16="http://schemas.microsoft.com/office/drawing/2014/main" id="{9F2A7656-0EEE-7013-0DB8-ADC5FDA2A8B2}"/>
              </a:ext>
            </a:extLst>
          </p:cNvPr>
          <p:cNvCxnSpPr>
            <a:cxnSpLocks/>
          </p:cNvCxnSpPr>
          <p:nvPr/>
        </p:nvCxnSpPr>
        <p:spPr>
          <a:xfrm flipV="1">
            <a:off x="32221590" y="21104777"/>
            <a:ext cx="0" cy="165469"/>
          </a:xfrm>
          <a:prstGeom prst="line">
            <a:avLst/>
          </a:prstGeom>
          <a:ln w="19050"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3" name="Straight Connector 1052">
            <a:extLst>
              <a:ext uri="{FF2B5EF4-FFF2-40B4-BE49-F238E27FC236}">
                <a16:creationId xmlns:a16="http://schemas.microsoft.com/office/drawing/2014/main" id="{45B61E4A-833A-BA3F-9B21-F25237F7E669}"/>
              </a:ext>
            </a:extLst>
          </p:cNvPr>
          <p:cNvCxnSpPr>
            <a:cxnSpLocks/>
          </p:cNvCxnSpPr>
          <p:nvPr/>
        </p:nvCxnSpPr>
        <p:spPr>
          <a:xfrm flipV="1">
            <a:off x="19572390" y="26086816"/>
            <a:ext cx="0" cy="165469"/>
          </a:xfrm>
          <a:prstGeom prst="line">
            <a:avLst/>
          </a:prstGeom>
          <a:ln w="19050"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4" name="Straight Connector 1053">
            <a:extLst>
              <a:ext uri="{FF2B5EF4-FFF2-40B4-BE49-F238E27FC236}">
                <a16:creationId xmlns:a16="http://schemas.microsoft.com/office/drawing/2014/main" id="{B4545213-9D78-5A7D-F0ED-7247C7E86F0A}"/>
              </a:ext>
            </a:extLst>
          </p:cNvPr>
          <p:cNvCxnSpPr>
            <a:cxnSpLocks/>
          </p:cNvCxnSpPr>
          <p:nvPr/>
        </p:nvCxnSpPr>
        <p:spPr>
          <a:xfrm flipV="1">
            <a:off x="22467990" y="26086816"/>
            <a:ext cx="0" cy="165469"/>
          </a:xfrm>
          <a:prstGeom prst="line">
            <a:avLst/>
          </a:prstGeom>
          <a:ln w="19050"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5" name="Straight Connector 1054">
            <a:extLst>
              <a:ext uri="{FF2B5EF4-FFF2-40B4-BE49-F238E27FC236}">
                <a16:creationId xmlns:a16="http://schemas.microsoft.com/office/drawing/2014/main" id="{EAF13472-2A54-A942-9989-189633D8FC45}"/>
              </a:ext>
            </a:extLst>
          </p:cNvPr>
          <p:cNvCxnSpPr>
            <a:cxnSpLocks/>
          </p:cNvCxnSpPr>
          <p:nvPr/>
        </p:nvCxnSpPr>
        <p:spPr>
          <a:xfrm flipV="1">
            <a:off x="23839590" y="26086816"/>
            <a:ext cx="0" cy="165469"/>
          </a:xfrm>
          <a:prstGeom prst="line">
            <a:avLst/>
          </a:prstGeom>
          <a:ln w="19050"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6" name="Straight Connector 1055">
            <a:extLst>
              <a:ext uri="{FF2B5EF4-FFF2-40B4-BE49-F238E27FC236}">
                <a16:creationId xmlns:a16="http://schemas.microsoft.com/office/drawing/2014/main" id="{97023478-EBF1-C0B2-4640-43B6062C44A4}"/>
              </a:ext>
            </a:extLst>
          </p:cNvPr>
          <p:cNvCxnSpPr>
            <a:cxnSpLocks/>
          </p:cNvCxnSpPr>
          <p:nvPr/>
        </p:nvCxnSpPr>
        <p:spPr>
          <a:xfrm flipV="1">
            <a:off x="27878190" y="26007090"/>
            <a:ext cx="0" cy="165469"/>
          </a:xfrm>
          <a:prstGeom prst="line">
            <a:avLst/>
          </a:prstGeom>
          <a:ln w="19050"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7" name="Straight Connector 1056">
            <a:extLst>
              <a:ext uri="{FF2B5EF4-FFF2-40B4-BE49-F238E27FC236}">
                <a16:creationId xmlns:a16="http://schemas.microsoft.com/office/drawing/2014/main" id="{EABAA8CD-3573-D737-5C52-07AF46DD77DB}"/>
              </a:ext>
            </a:extLst>
          </p:cNvPr>
          <p:cNvCxnSpPr>
            <a:cxnSpLocks/>
          </p:cNvCxnSpPr>
          <p:nvPr/>
        </p:nvCxnSpPr>
        <p:spPr>
          <a:xfrm flipV="1">
            <a:off x="30697590" y="26007090"/>
            <a:ext cx="0" cy="165469"/>
          </a:xfrm>
          <a:prstGeom prst="line">
            <a:avLst/>
          </a:prstGeom>
          <a:ln w="19050"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58" name="Straight Connector 1057">
            <a:extLst>
              <a:ext uri="{FF2B5EF4-FFF2-40B4-BE49-F238E27FC236}">
                <a16:creationId xmlns:a16="http://schemas.microsoft.com/office/drawing/2014/main" id="{60C150C5-AE9C-3C24-36BA-5DE7D6481E18}"/>
              </a:ext>
            </a:extLst>
          </p:cNvPr>
          <p:cNvCxnSpPr>
            <a:cxnSpLocks/>
          </p:cNvCxnSpPr>
          <p:nvPr/>
        </p:nvCxnSpPr>
        <p:spPr>
          <a:xfrm flipV="1">
            <a:off x="32145390" y="26007090"/>
            <a:ext cx="0" cy="165469"/>
          </a:xfrm>
          <a:prstGeom prst="line">
            <a:avLst/>
          </a:prstGeom>
          <a:ln w="19050">
            <a:prstDash val="lgDas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15" name="Picture 14" descr="A graph of different colored lines&#10;&#10;AI-generated content may be incorrect.">
            <a:extLst>
              <a:ext uri="{FF2B5EF4-FFF2-40B4-BE49-F238E27FC236}">
                <a16:creationId xmlns:a16="http://schemas.microsoft.com/office/drawing/2014/main" id="{6F1E99EB-549B-E9F4-C4C6-CCFBCE759AD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88306" t="32174" b="33648"/>
          <a:stretch>
            <a:fillRect/>
          </a:stretch>
        </p:blipFill>
        <p:spPr>
          <a:xfrm>
            <a:off x="14585669" y="19739617"/>
            <a:ext cx="2452944" cy="2389927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60AF3C6-E87C-784C-EFEA-27D2ADCE07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7036" y="978053"/>
            <a:ext cx="26832555" cy="2580299"/>
          </a:xfrm>
        </p:spPr>
        <p:txBody>
          <a:bodyPr>
            <a:normAutofit/>
          </a:bodyPr>
          <a:lstStyle/>
          <a:p>
            <a:r>
              <a:rPr lang="en-US" dirty="0"/>
              <a:t>Porewater sulfate varies spatially and temporally across the coastal terrestrial-aquatic interface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9275BAE-6112-7B97-7490-496A68DBDB86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897042" y="3488618"/>
            <a:ext cx="31415565" cy="1076230"/>
          </a:xfrm>
        </p:spPr>
        <p:txBody>
          <a:bodyPr/>
          <a:lstStyle/>
          <a:p>
            <a:r>
              <a:rPr lang="en-US" sz="3600" b="1" dirty="0"/>
              <a:t>Zoe Read, </a:t>
            </a:r>
            <a:r>
              <a:rPr lang="en-US" sz="3600" dirty="0"/>
              <a:t>Smithsonian Environmental Research Center, Maryland, USA</a:t>
            </a:r>
            <a:endParaRPr lang="en-US" dirty="0"/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0C87B8A1-9733-67EB-E4E3-F2570D73F838}"/>
              </a:ext>
            </a:extLst>
          </p:cNvPr>
          <p:cNvSpPr txBox="1">
            <a:spLocks/>
          </p:cNvSpPr>
          <p:nvPr/>
        </p:nvSpPr>
        <p:spPr>
          <a:xfrm>
            <a:off x="778417" y="4668837"/>
            <a:ext cx="16381197" cy="2712495"/>
          </a:xfrm>
          <a:prstGeom prst="rect">
            <a:avLst/>
          </a:prstGeom>
          <a:ln>
            <a:noFill/>
          </a:ln>
        </p:spPr>
        <p:txBody>
          <a:bodyPr/>
          <a:lstStyle>
            <a:lvl1pPr marL="0" indent="0" algn="l" defTabSz="1654622" rtl="0" eaLnBrk="1" latinLnBrk="0" hangingPunct="1">
              <a:spcBef>
                <a:spcPct val="20000"/>
              </a:spcBef>
              <a:buFont typeface="Arial" pitchFamily="34" charset="0"/>
              <a:buNone/>
              <a:defRPr lang="en-US" sz="285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1344381" indent="-517070" algn="l" defTabSz="1654622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50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68278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32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895590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722900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50212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77522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204835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032146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solidFill>
                  <a:srgbClr val="75BFE2"/>
                </a:solidFill>
              </a:rPr>
              <a:t>Background</a:t>
            </a:r>
            <a:endParaRPr lang="en-US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We monitor transects including upland coastal forest, forest transitioning to wetland, and wetlands 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in the Chesapeake Bay Region </a:t>
            </a:r>
            <a:r>
              <a:rPr lang="en-US" sz="2800" dirty="0"/>
              <a:t>at four sites 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that are oligohaline, mesohaline, and </a:t>
            </a:r>
            <a:r>
              <a:rPr lang="en-US" sz="2800" dirty="0" err="1">
                <a:latin typeface="Arial" panose="020B0604020202020204" pitchFamily="34" charset="0"/>
                <a:cs typeface="Arial" panose="020B0604020202020204" pitchFamily="34" charset="0"/>
              </a:rPr>
              <a:t>polyhaline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Porewater sampling from 2022-2025 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Analyzed for DIC, DOC, Total Alkalinity, CDOM, H</a:t>
            </a:r>
            <a:r>
              <a:rPr lang="en-US" sz="2800" baseline="-25000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S, Cl</a:t>
            </a:r>
            <a:r>
              <a:rPr lang="en-US" sz="2800" baseline="30000" dirty="0">
                <a:latin typeface="Arial" panose="020B0604020202020204" pitchFamily="34" charset="0"/>
                <a:cs typeface="Arial" panose="020B0604020202020204" pitchFamily="34" charset="0"/>
              </a:rPr>
              <a:t>-</a:t>
            </a:r>
            <a:r>
              <a:rPr lang="en-US" sz="2800" dirty="0">
                <a:latin typeface="Arial" panose="020B0604020202020204" pitchFamily="34" charset="0"/>
                <a:cs typeface="Arial" panose="020B0604020202020204" pitchFamily="34" charset="0"/>
              </a:rPr>
              <a:t>, Nutrients, and </a:t>
            </a:r>
            <a:r>
              <a:rPr lang="en-US" sz="2800" b="1" dirty="0">
                <a:latin typeface="Arial" panose="020B0604020202020204" pitchFamily="34" charset="0"/>
                <a:cs typeface="Arial" panose="020B0604020202020204" pitchFamily="34" charset="0"/>
              </a:rPr>
              <a:t>SO</a:t>
            </a:r>
            <a:r>
              <a:rPr lang="en-US" sz="2800" b="1" baseline="-25000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  <a:r>
              <a:rPr lang="en-US" sz="2800" b="1" baseline="30000" dirty="0">
                <a:latin typeface="Arial" panose="020B0604020202020204" pitchFamily="34" charset="0"/>
                <a:cs typeface="Arial" panose="020B0604020202020204" pitchFamily="34" charset="0"/>
              </a:rPr>
              <a:t>2-</a:t>
            </a:r>
            <a:endParaRPr lang="en-US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endParaRPr lang="en-US" sz="2800" dirty="0"/>
          </a:p>
        </p:txBody>
      </p:sp>
      <p:cxnSp>
        <p:nvCxnSpPr>
          <p:cNvPr id="1031" name="Straight Connector 1030">
            <a:extLst>
              <a:ext uri="{FF2B5EF4-FFF2-40B4-BE49-F238E27FC236}">
                <a16:creationId xmlns:a16="http://schemas.microsoft.com/office/drawing/2014/main" id="{00BF45BC-03E3-27BE-C768-387C6B2C806C}"/>
              </a:ext>
            </a:extLst>
          </p:cNvPr>
          <p:cNvCxnSpPr/>
          <p:nvPr/>
        </p:nvCxnSpPr>
        <p:spPr>
          <a:xfrm>
            <a:off x="685800" y="4605517"/>
            <a:ext cx="33375600" cy="0"/>
          </a:xfrm>
          <a:prstGeom prst="line">
            <a:avLst/>
          </a:prstGeom>
          <a:ln>
            <a:solidFill>
              <a:srgbClr val="75BFE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6" name="Straight Connector 1035">
            <a:extLst>
              <a:ext uri="{FF2B5EF4-FFF2-40B4-BE49-F238E27FC236}">
                <a16:creationId xmlns:a16="http://schemas.microsoft.com/office/drawing/2014/main" id="{A0864A2A-8580-B800-4329-34DD10B52D76}"/>
              </a:ext>
            </a:extLst>
          </p:cNvPr>
          <p:cNvCxnSpPr>
            <a:cxnSpLocks/>
          </p:cNvCxnSpPr>
          <p:nvPr/>
        </p:nvCxnSpPr>
        <p:spPr>
          <a:xfrm>
            <a:off x="18199250" y="14540452"/>
            <a:ext cx="15862150" cy="0"/>
          </a:xfrm>
          <a:prstGeom prst="line">
            <a:avLst/>
          </a:prstGeom>
          <a:ln>
            <a:solidFill>
              <a:srgbClr val="75BFE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39" name="Straight Connector 1038">
            <a:extLst>
              <a:ext uri="{FF2B5EF4-FFF2-40B4-BE49-F238E27FC236}">
                <a16:creationId xmlns:a16="http://schemas.microsoft.com/office/drawing/2014/main" id="{209C8AEE-D29E-C2A9-B7F5-38C8AE3FDCAC}"/>
              </a:ext>
            </a:extLst>
          </p:cNvPr>
          <p:cNvCxnSpPr>
            <a:cxnSpLocks/>
          </p:cNvCxnSpPr>
          <p:nvPr/>
        </p:nvCxnSpPr>
        <p:spPr>
          <a:xfrm>
            <a:off x="17373600" y="4879335"/>
            <a:ext cx="0" cy="26641242"/>
          </a:xfrm>
          <a:prstGeom prst="line">
            <a:avLst/>
          </a:prstGeom>
          <a:ln>
            <a:solidFill>
              <a:srgbClr val="75BFE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44" name="Straight Connector 1043">
            <a:extLst>
              <a:ext uri="{FF2B5EF4-FFF2-40B4-BE49-F238E27FC236}">
                <a16:creationId xmlns:a16="http://schemas.microsoft.com/office/drawing/2014/main" id="{8463A8F4-CE87-F09A-8258-6D6979B36D80}"/>
              </a:ext>
            </a:extLst>
          </p:cNvPr>
          <p:cNvCxnSpPr>
            <a:cxnSpLocks/>
          </p:cNvCxnSpPr>
          <p:nvPr/>
        </p:nvCxnSpPr>
        <p:spPr>
          <a:xfrm>
            <a:off x="742675" y="15233361"/>
            <a:ext cx="15862150" cy="0"/>
          </a:xfrm>
          <a:prstGeom prst="line">
            <a:avLst/>
          </a:prstGeom>
          <a:ln>
            <a:solidFill>
              <a:srgbClr val="75BFE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46" name="Text Placeholder 3">
            <a:extLst>
              <a:ext uri="{FF2B5EF4-FFF2-40B4-BE49-F238E27FC236}">
                <a16:creationId xmlns:a16="http://schemas.microsoft.com/office/drawing/2014/main" id="{3D22E29A-542C-2707-EE87-D32E923FD26A}"/>
              </a:ext>
            </a:extLst>
          </p:cNvPr>
          <p:cNvSpPr txBox="1">
            <a:spLocks/>
          </p:cNvSpPr>
          <p:nvPr/>
        </p:nvSpPr>
        <p:spPr>
          <a:xfrm>
            <a:off x="18348557" y="14944725"/>
            <a:ext cx="15095898" cy="2097650"/>
          </a:xfrm>
          <a:prstGeom prst="rect">
            <a:avLst/>
          </a:prstGeom>
          <a:ln>
            <a:noFill/>
          </a:ln>
        </p:spPr>
        <p:txBody>
          <a:bodyPr/>
          <a:lstStyle>
            <a:lvl1pPr marL="0" indent="0" algn="l" defTabSz="1654622" rtl="0" eaLnBrk="1" latinLnBrk="0" hangingPunct="1">
              <a:spcBef>
                <a:spcPct val="20000"/>
              </a:spcBef>
              <a:buFont typeface="Arial" pitchFamily="34" charset="0"/>
              <a:buNone/>
              <a:defRPr lang="en-US" sz="285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1344381" indent="-517070" algn="l" defTabSz="1654622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50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68278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32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895590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722900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50212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77522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204835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032146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solidFill>
                  <a:srgbClr val="75BFE2"/>
                </a:solidFill>
              </a:rPr>
              <a:t>Seasonal variation</a:t>
            </a:r>
            <a:r>
              <a:rPr lang="en-US" b="1" dirty="0"/>
              <a:t> 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dirty="0"/>
              <a:t>Sulfate tends to increase throughout the year and decrease at the start of a new year. 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dirty="0"/>
              <a:t>Sulfate appears to be increasing over time at the </a:t>
            </a:r>
            <a:r>
              <a:rPr lang="en-US" dirty="0" err="1"/>
              <a:t>GCReW</a:t>
            </a:r>
            <a:r>
              <a:rPr lang="en-US" dirty="0"/>
              <a:t> site. </a:t>
            </a:r>
          </a:p>
          <a:p>
            <a:endParaRPr lang="en-US" dirty="0"/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580F8D7-E067-282C-0BEF-1FA899DCFD3B}"/>
              </a:ext>
            </a:extLst>
          </p:cNvPr>
          <p:cNvSpPr txBox="1">
            <a:spLocks/>
          </p:cNvSpPr>
          <p:nvPr/>
        </p:nvSpPr>
        <p:spPr>
          <a:xfrm>
            <a:off x="18269342" y="4879335"/>
            <a:ext cx="15095898" cy="2511262"/>
          </a:xfrm>
          <a:prstGeom prst="rect">
            <a:avLst/>
          </a:prstGeom>
          <a:ln>
            <a:noFill/>
          </a:ln>
        </p:spPr>
        <p:txBody>
          <a:bodyPr/>
          <a:lstStyle>
            <a:lvl1pPr marL="0" indent="0" algn="l" defTabSz="1654622" rtl="0" eaLnBrk="1" latinLnBrk="0" hangingPunct="1">
              <a:spcBef>
                <a:spcPct val="20000"/>
              </a:spcBef>
              <a:buFont typeface="Arial" pitchFamily="34" charset="0"/>
              <a:buNone/>
              <a:defRPr lang="en-US" sz="285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1344381" indent="-517070" algn="l" defTabSz="1654622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50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68278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32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895590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722900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50212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77522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204835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032146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solidFill>
                  <a:srgbClr val="75BFE2"/>
                </a:solidFill>
              </a:rPr>
              <a:t>Depth</a:t>
            </a:r>
            <a:endParaRPr lang="en-US" dirty="0"/>
          </a:p>
          <a:p>
            <a:pPr marL="688975" lvl="1" indent="-457200">
              <a:buFont typeface="Arial" panose="020B0604020202020204" pitchFamily="34" charset="0"/>
              <a:buChar char="•"/>
            </a:pP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Porewater was sampled at three depths: 10, 20, and 45 cm</a:t>
            </a:r>
          </a:p>
          <a:p>
            <a:pPr marL="688975" lvl="1" indent="-457200">
              <a:buFont typeface="Arial" panose="020B0604020202020204" pitchFamily="34" charset="0"/>
              <a:buChar char="•"/>
            </a:pP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Sulfate concentration changes by depth, but this effect varies across site and zone. For example, sulfate is much lower at the 45 cm depth at the </a:t>
            </a:r>
            <a:r>
              <a:rPr lang="en-US" sz="3200" dirty="0" err="1">
                <a:latin typeface="Arial" panose="020B0604020202020204" pitchFamily="34" charset="0"/>
                <a:cs typeface="Arial" panose="020B0604020202020204" pitchFamily="34" charset="0"/>
              </a:rPr>
              <a:t>Moneystump</a:t>
            </a:r>
            <a:r>
              <a:rPr lang="en-US" sz="3200" dirty="0">
                <a:latin typeface="Arial" panose="020B0604020202020204" pitchFamily="34" charset="0"/>
                <a:cs typeface="Arial" panose="020B0604020202020204" pitchFamily="34" charset="0"/>
              </a:rPr>
              <a:t> Wetland Zone compared to other depths; however, sulfate is consistent across depths at Goodwin. </a:t>
            </a:r>
            <a:endParaRPr lang="en-US" sz="32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11D73CC-38EE-87A4-659B-7AFB71426A3B}"/>
              </a:ext>
            </a:extLst>
          </p:cNvPr>
          <p:cNvSpPr txBox="1"/>
          <p:nvPr/>
        </p:nvSpPr>
        <p:spPr>
          <a:xfrm>
            <a:off x="933921" y="12399147"/>
            <a:ext cx="15738541" cy="26930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 rtl="0">
              <a:spcBef>
                <a:spcPts val="1000"/>
              </a:spcBef>
              <a:spcAft>
                <a:spcPts val="0"/>
              </a:spcAft>
            </a:pPr>
            <a:r>
              <a:rPr lang="en-US" sz="3200" b="1" dirty="0">
                <a:solidFill>
                  <a:srgbClr val="75BFE2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Hypothesis: </a:t>
            </a:r>
            <a:r>
              <a:rPr lang="en-US" sz="2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There is a hierarchical structure to </a:t>
            </a:r>
            <a:r>
              <a:rPr lang="en-US" sz="2800" b="0" i="0" u="sng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spatial </a:t>
            </a:r>
            <a:r>
              <a:rPr lang="en-US" sz="2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variation in ecosystem structure and function at the coastal TAI that is set by:</a:t>
            </a:r>
            <a:endParaRPr lang="en-US" sz="2800" b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rtl="0">
              <a:spcBef>
                <a:spcPts val="1000"/>
              </a:spcBef>
              <a:spcAft>
                <a:spcPts val="0"/>
              </a:spcAft>
            </a:pPr>
            <a:r>
              <a:rPr lang="en-US" sz="2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1) the </a:t>
            </a:r>
            <a:r>
              <a:rPr lang="en-US" sz="2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depth and duration of soil saturation </a:t>
            </a:r>
            <a:endParaRPr lang="en-US" sz="2800" b="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 rtl="0">
              <a:spcBef>
                <a:spcPts val="1000"/>
              </a:spcBef>
              <a:spcAft>
                <a:spcPts val="0"/>
              </a:spcAft>
            </a:pPr>
            <a:r>
              <a:rPr lang="en-US" sz="28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2) the abundance of </a:t>
            </a:r>
            <a:r>
              <a:rPr lang="en-US" sz="2800" b="1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redox-sensitive elements</a:t>
            </a:r>
          </a:p>
          <a:p>
            <a:pPr algn="ctr" rtl="0">
              <a:spcBef>
                <a:spcPts val="1000"/>
              </a:spcBef>
              <a:spcAft>
                <a:spcPts val="0"/>
              </a:spcAft>
            </a:pPr>
            <a:r>
              <a:rPr lang="en-US" sz="2800" b="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3) their</a:t>
            </a:r>
            <a:r>
              <a:rPr lang="en-US" sz="2800" b="1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2800" dirty="0"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interactions with plant traits</a:t>
            </a:r>
            <a:endParaRPr lang="en-US" sz="3600" dirty="0"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9" name="Picture 8" descr="A graph of different types of lines&#10;&#10;AI-generated content may be incorrect.">
            <a:extLst>
              <a:ext uri="{FF2B5EF4-FFF2-40B4-BE49-F238E27FC236}">
                <a16:creationId xmlns:a16="http://schemas.microsoft.com/office/drawing/2014/main" id="{09EDF015-AC84-7DA3-BD5A-225267C491D7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3900"/>
          <a:stretch>
            <a:fillRect/>
          </a:stretch>
        </p:blipFill>
        <p:spPr>
          <a:xfrm>
            <a:off x="19206043" y="8261037"/>
            <a:ext cx="13068565" cy="6279415"/>
          </a:xfrm>
          <a:prstGeom prst="rect">
            <a:avLst/>
          </a:prstGeom>
        </p:spPr>
      </p:pic>
      <p:grpSp>
        <p:nvGrpSpPr>
          <p:cNvPr id="16" name="Group 15">
            <a:extLst>
              <a:ext uri="{FF2B5EF4-FFF2-40B4-BE49-F238E27FC236}">
                <a16:creationId xmlns:a16="http://schemas.microsoft.com/office/drawing/2014/main" id="{8705218F-41E6-8FF9-6DE2-6F194B8E4A42}"/>
              </a:ext>
            </a:extLst>
          </p:cNvPr>
          <p:cNvGrpSpPr/>
          <p:nvPr/>
        </p:nvGrpSpPr>
        <p:grpSpPr>
          <a:xfrm>
            <a:off x="1412690" y="4404611"/>
            <a:ext cx="14975825" cy="7819779"/>
            <a:chOff x="-4093975" y="10585278"/>
            <a:chExt cx="15389819" cy="7038010"/>
          </a:xfrm>
        </p:grpSpPr>
        <p:sp>
          <p:nvSpPr>
            <p:cNvPr id="17" name="Text Placeholder 11">
              <a:extLst>
                <a:ext uri="{FF2B5EF4-FFF2-40B4-BE49-F238E27FC236}">
                  <a16:creationId xmlns:a16="http://schemas.microsoft.com/office/drawing/2014/main" id="{2BD42464-D16B-3701-0C0F-271BDE66BAA5}"/>
                </a:ext>
              </a:extLst>
            </p:cNvPr>
            <p:cNvSpPr txBox="1">
              <a:spLocks/>
            </p:cNvSpPr>
            <p:nvPr/>
          </p:nvSpPr>
          <p:spPr>
            <a:xfrm>
              <a:off x="353828" y="10585278"/>
              <a:ext cx="6170205" cy="2441318"/>
            </a:xfrm>
            <a:prstGeom prst="rect">
              <a:avLst/>
            </a:prstGeom>
            <a:ln>
              <a:noFill/>
            </a:ln>
          </p:spPr>
          <p:txBody>
            <a:bodyPr/>
            <a:lstStyle>
              <a:lvl1pPr marL="0" indent="0" algn="l" defTabSz="1567510" rtl="0" eaLnBrk="1" latinLnBrk="0" hangingPunct="1">
                <a:spcBef>
                  <a:spcPct val="20000"/>
                </a:spcBef>
                <a:buFont typeface="Arial" pitchFamily="34" charset="0"/>
                <a:buNone/>
                <a:defRPr sz="2200" kern="1200">
                  <a:solidFill>
                    <a:schemeClr val="tx1"/>
                  </a:solidFill>
                  <a:latin typeface="Arial" panose="020B0604020202020204" pitchFamily="34" charset="0"/>
                  <a:ea typeface="+mn-ea"/>
                  <a:cs typeface="Arial" panose="020B0604020202020204" pitchFamily="34" charset="0"/>
                </a:defRPr>
              </a:lvl1pPr>
              <a:lvl2pPr marL="1273602" indent="-489847" algn="l" defTabSz="156751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4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2pPr>
              <a:lvl3pPr marL="1959388" indent="-391878" algn="l" defTabSz="156751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41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3pPr>
              <a:lvl4pPr marL="2743143" indent="-391878" algn="l" defTabSz="1567510" rtl="0" eaLnBrk="1" latinLnBrk="0" hangingPunct="1">
                <a:spcBef>
                  <a:spcPct val="20000"/>
                </a:spcBef>
                <a:buFont typeface="Arial" pitchFamily="34" charset="0"/>
                <a:buChar char="–"/>
                <a:defRPr sz="35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4pPr>
              <a:lvl5pPr marL="3526898" indent="-391878" algn="l" defTabSz="1567510" rtl="0" eaLnBrk="1" latinLnBrk="0" hangingPunct="1">
                <a:spcBef>
                  <a:spcPct val="20000"/>
                </a:spcBef>
                <a:buFont typeface="Arial" pitchFamily="34" charset="0"/>
                <a:buChar char="»"/>
                <a:defRPr sz="35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5pPr>
              <a:lvl6pPr marL="4310653" indent="-391878" algn="l" defTabSz="156751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35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5094408" indent="-391878" algn="l" defTabSz="156751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35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5878164" indent="-391878" algn="l" defTabSz="156751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35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6661919" indent="-391878" algn="l" defTabSz="1567510" rtl="0" eaLnBrk="1" latinLnBrk="0" hangingPunct="1">
                <a:spcBef>
                  <a:spcPct val="20000"/>
                </a:spcBef>
                <a:buFont typeface="Arial" pitchFamily="34" charset="0"/>
                <a:buChar char="•"/>
                <a:defRPr sz="35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endParaRPr lang="en-US" sz="2800" dirty="0">
                <a:solidFill>
                  <a:srgbClr val="419556"/>
                </a:solidFill>
              </a:endParaRPr>
            </a:p>
          </p:txBody>
        </p: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902C4E4F-82D2-D6F9-9AC8-C28F32695521}"/>
                </a:ext>
              </a:extLst>
            </p:cNvPr>
            <p:cNvGrpSpPr/>
            <p:nvPr/>
          </p:nvGrpSpPr>
          <p:grpSpPr>
            <a:xfrm>
              <a:off x="-4093975" y="13332543"/>
              <a:ext cx="15389819" cy="4290745"/>
              <a:chOff x="-4114879" y="9198158"/>
              <a:chExt cx="15389819" cy="4290745"/>
            </a:xfrm>
          </p:grpSpPr>
          <p:graphicFrame>
            <p:nvGraphicFramePr>
              <p:cNvPr id="20" name="Google Shape;116;p4">
                <a:extLst>
                  <a:ext uri="{FF2B5EF4-FFF2-40B4-BE49-F238E27FC236}">
                    <a16:creationId xmlns:a16="http://schemas.microsoft.com/office/drawing/2014/main" id="{6EE1AE5B-A26D-71DD-8EF3-D283BC117F1C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241652528"/>
                  </p:ext>
                </p:extLst>
              </p:nvPr>
            </p:nvGraphicFramePr>
            <p:xfrm>
              <a:off x="-4114879" y="9683969"/>
              <a:ext cx="3682599" cy="2585472"/>
            </p:xfrm>
            <a:graphic>
              <a:graphicData uri="http://schemas.openxmlformats.org/drawingml/2006/table">
                <a:tbl>
                  <a:tblPr firstRow="1" bandRow="1">
                    <a:noFill/>
                  </a:tblPr>
                  <a:tblGrid>
                    <a:gridCol w="2182470">
                      <a:extLst>
                        <a:ext uri="{9D8B030D-6E8A-4147-A177-3AD203B41FA5}">
                          <a16:colId xmlns:a16="http://schemas.microsoft.com/office/drawing/2014/main" val="20000"/>
                        </a:ext>
                      </a:extLst>
                    </a:gridCol>
                    <a:gridCol w="1401065">
                      <a:extLst>
                        <a:ext uri="{9D8B030D-6E8A-4147-A177-3AD203B41FA5}">
                          <a16:colId xmlns:a16="http://schemas.microsoft.com/office/drawing/2014/main" val="20001"/>
                        </a:ext>
                      </a:extLst>
                    </a:gridCol>
                  </a:tblGrid>
                  <a:tr h="506206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2400" u="none" strike="noStrike" cap="none" dirty="0">
                              <a:solidFill>
                                <a:schemeClr val="lt1"/>
                              </a:solidFill>
                              <a:latin typeface="+mj-lt"/>
                            </a:rPr>
                            <a:t>Site</a:t>
                          </a:r>
                          <a:endParaRPr sz="2400" dirty="0">
                            <a:latin typeface="+mj-lt"/>
                          </a:endParaRPr>
                        </a:p>
                      </a:txBody>
                      <a:tcPr marL="91450" marR="91450" marT="45725" marB="45725">
                        <a:lnL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rgbClr val="242424"/>
                        </a:solidFill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2400" u="none" strike="noStrike" cap="none" dirty="0">
                              <a:solidFill>
                                <a:schemeClr val="lt1"/>
                              </a:solidFill>
                              <a:latin typeface="+mj-lt"/>
                            </a:rPr>
                            <a:t>Salinity</a:t>
                          </a:r>
                          <a:endParaRPr sz="2400" dirty="0">
                            <a:latin typeface="+mj-lt"/>
                          </a:endParaRPr>
                        </a:p>
                      </a:txBody>
                      <a:tcPr marL="91450" marR="91450" marT="45725" marB="45725">
                        <a:lnL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  <a:solidFill>
                          <a:srgbClr val="242424"/>
                        </a:solidFill>
                      </a:tcPr>
                    </a:tc>
                    <a:extLst>
                      <a:ext uri="{0D108BD9-81ED-4DB2-BD59-A6C34878D82A}">
                        <a16:rowId xmlns:a16="http://schemas.microsoft.com/office/drawing/2014/main" val="10000"/>
                      </a:ext>
                    </a:extLst>
                  </a:tr>
                  <a:tr h="507454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2400" dirty="0">
                              <a:latin typeface="+mj-lt"/>
                            </a:rPr>
                            <a:t>Sweethall</a:t>
                          </a:r>
                          <a:endParaRPr sz="2400" dirty="0">
                            <a:latin typeface="+mj-lt"/>
                          </a:endParaRPr>
                        </a:p>
                      </a:txBody>
                      <a:tcPr marL="91450" marR="91450" marT="45725" marB="45725">
                        <a:lnL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2400" u="none" strike="noStrike" cap="none" dirty="0">
                              <a:solidFill>
                                <a:srgbClr val="000000"/>
                              </a:solidFill>
                              <a:latin typeface="+mj-lt"/>
                            </a:rPr>
                            <a:t>0-2</a:t>
                          </a:r>
                          <a:endParaRPr sz="2400" dirty="0">
                            <a:latin typeface="+mj-lt"/>
                          </a:endParaRPr>
                        </a:p>
                      </a:txBody>
                      <a:tcPr marL="91450" marR="91450" marT="45725" marB="45725">
                        <a:lnL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1"/>
                      </a:ext>
                    </a:extLst>
                  </a:tr>
                  <a:tr h="506206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2400" u="none" strike="noStrike" cap="none" dirty="0">
                              <a:solidFill>
                                <a:srgbClr val="000000"/>
                              </a:solidFill>
                              <a:latin typeface="+mj-lt"/>
                            </a:rPr>
                            <a:t>GCReW</a:t>
                          </a:r>
                          <a:endParaRPr sz="2400" dirty="0">
                            <a:latin typeface="+mj-lt"/>
                          </a:endParaRPr>
                        </a:p>
                      </a:txBody>
                      <a:tcPr marL="91450" marR="91450" marT="45725" marB="45725">
                        <a:lnL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2400" u="none" strike="noStrike" cap="none" dirty="0">
                              <a:solidFill>
                                <a:srgbClr val="000000"/>
                              </a:solidFill>
                              <a:latin typeface="+mj-lt"/>
                            </a:rPr>
                            <a:t>8-10</a:t>
                          </a:r>
                          <a:endParaRPr sz="2400" dirty="0">
                            <a:latin typeface="+mj-lt"/>
                          </a:endParaRPr>
                        </a:p>
                      </a:txBody>
                      <a:tcPr marL="91450" marR="91450" marT="45725" marB="45725">
                        <a:lnL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2"/>
                      </a:ext>
                    </a:extLst>
                  </a:tr>
                  <a:tr h="0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2400" u="none" strike="noStrike" cap="none" dirty="0">
                              <a:solidFill>
                                <a:srgbClr val="000000"/>
                              </a:solidFill>
                              <a:latin typeface="+mj-lt"/>
                            </a:rPr>
                            <a:t>M</a:t>
                          </a:r>
                          <a:r>
                            <a:rPr lang="en-US" sz="2400" dirty="0">
                              <a:latin typeface="+mj-lt"/>
                            </a:rPr>
                            <a:t>oneyStump</a:t>
                          </a:r>
                          <a:endParaRPr sz="2400" dirty="0">
                            <a:latin typeface="+mj-lt"/>
                          </a:endParaRPr>
                        </a:p>
                      </a:txBody>
                      <a:tcPr marL="91450" marR="91450" marT="45725" marB="45725">
                        <a:lnL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2400" u="none" strike="noStrike" cap="none">
                              <a:solidFill>
                                <a:srgbClr val="000000"/>
                              </a:solidFill>
                              <a:latin typeface="+mj-lt"/>
                            </a:rPr>
                            <a:t>8-10</a:t>
                          </a:r>
                          <a:endParaRPr sz="2400">
                            <a:latin typeface="+mj-lt"/>
                          </a:endParaRPr>
                        </a:p>
                      </a:txBody>
                      <a:tcPr marL="91450" marR="91450" marT="45725" marB="45725">
                        <a:lnL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3"/>
                      </a:ext>
                    </a:extLst>
                  </a:tr>
                  <a:tr h="895585"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2400" u="none" strike="noStrike" cap="none" dirty="0">
                              <a:solidFill>
                                <a:srgbClr val="000000"/>
                              </a:solidFill>
                              <a:latin typeface="+mj-lt"/>
                            </a:rPr>
                            <a:t>G</a:t>
                          </a:r>
                          <a:r>
                            <a:rPr lang="en-US" sz="2400" dirty="0">
                              <a:latin typeface="+mj-lt"/>
                            </a:rPr>
                            <a:t>oodwin Islands</a:t>
                          </a:r>
                          <a:endParaRPr sz="2400" dirty="0">
                            <a:latin typeface="+mj-lt"/>
                          </a:endParaRPr>
                        </a:p>
                      </a:txBody>
                      <a:tcPr marL="91450" marR="91450" marT="45725" marB="45725">
                        <a:lnL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</a:tcPr>
                    </a:tc>
                    <a:tc>
                      <a:txBody>
                        <a:bodyPr/>
                        <a:lstStyle/>
                        <a:p>
                          <a:pPr marL="0" marR="0" lvl="0" indent="0" algn="ctr" rtl="0">
                            <a:lnSpc>
                              <a:spcPct val="100000"/>
                            </a:lnSpc>
                            <a:spcBef>
                              <a:spcPts val="0"/>
                            </a:spcBef>
                            <a:spcAft>
                              <a:spcPts val="0"/>
                            </a:spcAft>
                            <a:buNone/>
                          </a:pPr>
                          <a:r>
                            <a:rPr lang="en-US" sz="2400" u="none" strike="noStrike" cap="none" dirty="0">
                              <a:solidFill>
                                <a:srgbClr val="000000"/>
                              </a:solidFill>
                              <a:latin typeface="+mj-lt"/>
                            </a:rPr>
                            <a:t>18-20</a:t>
                          </a:r>
                          <a:endParaRPr sz="2400" dirty="0">
                            <a:latin typeface="+mj-lt"/>
                          </a:endParaRPr>
                        </a:p>
                      </a:txBody>
                      <a:tcPr marL="91450" marR="91450" marT="45725" marB="45725">
                        <a:lnL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L>
                        <a:lnR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R>
                        <a:lnT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T>
                        <a:lnB w="9525" cap="flat" cmpd="sng">
                          <a:solidFill>
                            <a:srgbClr val="242424"/>
                          </a:solidFill>
                          <a:prstDash val="solid"/>
                          <a:round/>
                          <a:headEnd type="none" w="sm" len="sm"/>
                          <a:tailEnd type="none" w="sm" len="sm"/>
                        </a:lnB>
                      </a:tcPr>
                    </a:tc>
                    <a:extLst>
                      <a:ext uri="{0D108BD9-81ED-4DB2-BD59-A6C34878D82A}">
                        <a16:rowId xmlns:a16="http://schemas.microsoft.com/office/drawing/2014/main" val="10004"/>
                      </a:ext>
                    </a:extLst>
                  </a:tr>
                </a:tbl>
              </a:graphicData>
            </a:graphic>
          </p:graphicFrame>
          <p:grpSp>
            <p:nvGrpSpPr>
              <p:cNvPr id="23" name="Group 22">
                <a:extLst>
                  <a:ext uri="{FF2B5EF4-FFF2-40B4-BE49-F238E27FC236}">
                    <a16:creationId xmlns:a16="http://schemas.microsoft.com/office/drawing/2014/main" id="{744546CE-2EC9-735C-F6B3-4A137D102F0F}"/>
                  </a:ext>
                </a:extLst>
              </p:cNvPr>
              <p:cNvGrpSpPr/>
              <p:nvPr/>
            </p:nvGrpSpPr>
            <p:grpSpPr>
              <a:xfrm>
                <a:off x="272558" y="9198158"/>
                <a:ext cx="11002382" cy="4290745"/>
                <a:chOff x="928742" y="15582937"/>
                <a:chExt cx="9627773" cy="3356493"/>
              </a:xfrm>
            </p:grpSpPr>
            <p:sp>
              <p:nvSpPr>
                <p:cNvPr id="25" name="TextBox 24">
                  <a:extLst>
                    <a:ext uri="{FF2B5EF4-FFF2-40B4-BE49-F238E27FC236}">
                      <a16:creationId xmlns:a16="http://schemas.microsoft.com/office/drawing/2014/main" id="{A8454ACA-A266-32A3-C891-C89EAA9E01CB}"/>
                    </a:ext>
                  </a:extLst>
                </p:cNvPr>
                <p:cNvSpPr txBox="1"/>
                <p:nvPr/>
              </p:nvSpPr>
              <p:spPr>
                <a:xfrm>
                  <a:off x="5924325" y="18335237"/>
                  <a:ext cx="2668307" cy="58477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 rtl="0">
                    <a:spcBef>
                      <a:spcPts val="0"/>
                    </a:spcBef>
                    <a:spcAft>
                      <a:spcPts val="0"/>
                    </a:spcAft>
                  </a:pPr>
                  <a:r>
                    <a:rPr lang="en-US" sz="3200" b="1" i="0" u="none" strike="noStrike" dirty="0">
                      <a:solidFill>
                        <a:srgbClr val="AD9335"/>
                      </a:solidFill>
                      <a:effectLst/>
                      <a:latin typeface="Arial" panose="020B0604020202020204" pitchFamily="34" charset="0"/>
                    </a:rPr>
                    <a:t>Transition </a:t>
                  </a:r>
                  <a:endParaRPr lang="en-US" b="0" dirty="0">
                    <a:effectLst/>
                  </a:endParaRPr>
                </a:p>
              </p:txBody>
            </p:sp>
            <p:sp>
              <p:nvSpPr>
                <p:cNvPr id="26" name="TextBox 25">
                  <a:extLst>
                    <a:ext uri="{FF2B5EF4-FFF2-40B4-BE49-F238E27FC236}">
                      <a16:creationId xmlns:a16="http://schemas.microsoft.com/office/drawing/2014/main" id="{484190F2-EFC3-A118-D2D7-FB24CCBD39B4}"/>
                    </a:ext>
                  </a:extLst>
                </p:cNvPr>
                <p:cNvSpPr txBox="1"/>
                <p:nvPr/>
              </p:nvSpPr>
              <p:spPr>
                <a:xfrm>
                  <a:off x="3615900" y="18327135"/>
                  <a:ext cx="2015164" cy="58477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 rtl="0">
                    <a:spcBef>
                      <a:spcPts val="0"/>
                    </a:spcBef>
                    <a:spcAft>
                      <a:spcPts val="0"/>
                    </a:spcAft>
                  </a:pPr>
                  <a:r>
                    <a:rPr lang="en-US" sz="3200" b="1" i="0" u="none" strike="noStrike" dirty="0">
                      <a:solidFill>
                        <a:srgbClr val="7F7F7F"/>
                      </a:solidFill>
                      <a:effectLst/>
                      <a:latin typeface="Arial" panose="020B0604020202020204" pitchFamily="34" charset="0"/>
                    </a:rPr>
                    <a:t>Upland </a:t>
                  </a:r>
                  <a:endParaRPr lang="en-US" dirty="0"/>
                </a:p>
              </p:txBody>
            </p:sp>
            <p:sp>
              <p:nvSpPr>
                <p:cNvPr id="27" name="TextBox 26">
                  <a:extLst>
                    <a:ext uri="{FF2B5EF4-FFF2-40B4-BE49-F238E27FC236}">
                      <a16:creationId xmlns:a16="http://schemas.microsoft.com/office/drawing/2014/main" id="{E3FB73FF-BFA6-26DB-AA0A-F51D66FFA661}"/>
                    </a:ext>
                  </a:extLst>
                </p:cNvPr>
                <p:cNvSpPr txBox="1"/>
                <p:nvPr/>
              </p:nvSpPr>
              <p:spPr>
                <a:xfrm>
                  <a:off x="8346715" y="18354655"/>
                  <a:ext cx="2209800" cy="584775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 algn="ctr" rtl="0">
                    <a:spcBef>
                      <a:spcPts val="0"/>
                    </a:spcBef>
                    <a:spcAft>
                      <a:spcPts val="0"/>
                    </a:spcAft>
                  </a:pPr>
                  <a:r>
                    <a:rPr lang="en-US" sz="3200" b="1" i="0" u="none" strike="noStrike" dirty="0">
                      <a:solidFill>
                        <a:srgbClr val="214A2B"/>
                      </a:solidFill>
                      <a:effectLst/>
                      <a:latin typeface="Arial" panose="020B0604020202020204" pitchFamily="34" charset="0"/>
                    </a:rPr>
                    <a:t>Wetland </a:t>
                  </a:r>
                  <a:endParaRPr lang="en-US" dirty="0"/>
                </a:p>
              </p:txBody>
            </p:sp>
            <p:grpSp>
              <p:nvGrpSpPr>
                <p:cNvPr id="28" name="Group 27">
                  <a:extLst>
                    <a:ext uri="{FF2B5EF4-FFF2-40B4-BE49-F238E27FC236}">
                      <a16:creationId xmlns:a16="http://schemas.microsoft.com/office/drawing/2014/main" id="{971C545D-FDC3-D326-1EAC-5618EEB032BF}"/>
                    </a:ext>
                  </a:extLst>
                </p:cNvPr>
                <p:cNvGrpSpPr/>
                <p:nvPr/>
              </p:nvGrpSpPr>
              <p:grpSpPr>
                <a:xfrm>
                  <a:off x="928742" y="15582937"/>
                  <a:ext cx="9424200" cy="3179751"/>
                  <a:chOff x="899080" y="7578118"/>
                  <a:chExt cx="9424200" cy="3179751"/>
                </a:xfrm>
              </p:grpSpPr>
              <p:pic>
                <p:nvPicPr>
                  <p:cNvPr id="29" name="Picture 14">
                    <a:extLst>
                      <a:ext uri="{FF2B5EF4-FFF2-40B4-BE49-F238E27FC236}">
                        <a16:creationId xmlns:a16="http://schemas.microsoft.com/office/drawing/2014/main" id="{5D396374-1D6A-7D31-B4E5-8759728546FC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7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l="23500" t="37555" r="55500" b="10000"/>
                  <a:stretch/>
                </p:blipFill>
                <p:spPr bwMode="auto">
                  <a:xfrm>
                    <a:off x="899080" y="7578118"/>
                    <a:ext cx="2263551" cy="3179751"/>
                  </a:xfrm>
                  <a:prstGeom prst="rect">
                    <a:avLst/>
                  </a:prstGeom>
                  <a:noFill/>
                  <a:ln>
                    <a:solidFill>
                      <a:schemeClr val="tx1"/>
                    </a:solidFill>
                  </a:ln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pic>
                <p:nvPicPr>
                  <p:cNvPr id="30" name="Picture 16">
                    <a:extLst>
                      <a:ext uri="{FF2B5EF4-FFF2-40B4-BE49-F238E27FC236}">
                        <a16:creationId xmlns:a16="http://schemas.microsoft.com/office/drawing/2014/main" id="{2E43BF24-48A1-D61A-62BA-CC3D09328484}"/>
                      </a:ext>
                    </a:extLst>
                  </p:cNvPr>
                  <p:cNvPicPr>
                    <a:picLocks noChangeAspect="1" noChangeArrowheads="1"/>
                  </p:cNvPicPr>
                  <p:nvPr/>
                </p:nvPicPr>
                <p:blipFill rotWithShape="1">
                  <a:blip r:embed="rId8" cstate="print">
                    <a:extLst>
                      <a:ext uri="{28A0092B-C50C-407E-A947-70E740481C1C}">
                        <a14:useLocalDpi xmlns:a14="http://schemas.microsoft.com/office/drawing/2010/main" val="0"/>
                      </a:ext>
                    </a:extLst>
                  </a:blip>
                  <a:srcRect t="28816" b="28777"/>
                  <a:stretch/>
                </p:blipFill>
                <p:spPr bwMode="auto">
                  <a:xfrm>
                    <a:off x="3657600" y="8315169"/>
                    <a:ext cx="6553200" cy="1851522"/>
                  </a:xfrm>
                  <a:prstGeom prst="rect">
                    <a:avLst/>
                  </a:prstGeom>
                  <a:noFill/>
                  <a:extLst>
                    <a:ext uri="{909E8E84-426E-40DD-AFC4-6F175D3DCCD1}">
                      <a14:hiddenFill xmlns:a14="http://schemas.microsoft.com/office/drawing/2010/main">
                        <a:solidFill>
                          <a:srgbClr val="FFFFFF"/>
                        </a:solidFill>
                      </a14:hiddenFill>
                    </a:ext>
                  </a:extLst>
                </p:spPr>
              </p:pic>
              <p:sp>
                <p:nvSpPr>
                  <p:cNvPr id="31" name="Isosceles Triangle 9">
                    <a:extLst>
                      <a:ext uri="{FF2B5EF4-FFF2-40B4-BE49-F238E27FC236}">
                        <a16:creationId xmlns:a16="http://schemas.microsoft.com/office/drawing/2014/main" id="{9187A6BA-BC5B-ADEA-5C80-21A90D319C6D}"/>
                      </a:ext>
                    </a:extLst>
                  </p:cNvPr>
                  <p:cNvSpPr/>
                  <p:nvPr/>
                </p:nvSpPr>
                <p:spPr>
                  <a:xfrm rot="16200000">
                    <a:off x="2022821" y="8767998"/>
                    <a:ext cx="2072359" cy="965647"/>
                  </a:xfrm>
                  <a:custGeom>
                    <a:avLst/>
                    <a:gdLst>
                      <a:gd name="connsiteX0" fmla="*/ 0 w 1858996"/>
                      <a:gd name="connsiteY0" fmla="*/ 1119526 h 1119526"/>
                      <a:gd name="connsiteX1" fmla="*/ 929498 w 1858996"/>
                      <a:gd name="connsiteY1" fmla="*/ 0 h 1119526"/>
                      <a:gd name="connsiteX2" fmla="*/ 1858996 w 1858996"/>
                      <a:gd name="connsiteY2" fmla="*/ 1119526 h 1119526"/>
                      <a:gd name="connsiteX3" fmla="*/ 0 w 1858996"/>
                      <a:gd name="connsiteY3" fmla="*/ 1119526 h 1119526"/>
                      <a:gd name="connsiteX0" fmla="*/ 0 w 1858996"/>
                      <a:gd name="connsiteY0" fmla="*/ 1081426 h 1081426"/>
                      <a:gd name="connsiteX1" fmla="*/ 1405748 w 1858996"/>
                      <a:gd name="connsiteY1" fmla="*/ 0 h 1081426"/>
                      <a:gd name="connsiteX2" fmla="*/ 1858996 w 1858996"/>
                      <a:gd name="connsiteY2" fmla="*/ 1081426 h 1081426"/>
                      <a:gd name="connsiteX3" fmla="*/ 0 w 1858996"/>
                      <a:gd name="connsiteY3" fmla="*/ 1081426 h 1081426"/>
                    </a:gdLst>
                    <a:ahLst/>
                    <a:cxnLst>
                      <a:cxn ang="0">
                        <a:pos x="connsiteX0" y="connsiteY0"/>
                      </a:cxn>
                      <a:cxn ang="0">
                        <a:pos x="connsiteX1" y="connsiteY1"/>
                      </a:cxn>
                      <a:cxn ang="0">
                        <a:pos x="connsiteX2" y="connsiteY2"/>
                      </a:cxn>
                      <a:cxn ang="0">
                        <a:pos x="connsiteX3" y="connsiteY3"/>
                      </a:cxn>
                    </a:cxnLst>
                    <a:rect l="l" t="t" r="r" b="b"/>
                    <a:pathLst>
                      <a:path w="1858996" h="1081426">
                        <a:moveTo>
                          <a:pt x="0" y="1081426"/>
                        </a:moveTo>
                        <a:lnTo>
                          <a:pt x="1405748" y="0"/>
                        </a:lnTo>
                        <a:lnTo>
                          <a:pt x="1858996" y="1081426"/>
                        </a:lnTo>
                        <a:lnTo>
                          <a:pt x="0" y="1081426"/>
                        </a:lnTo>
                        <a:close/>
                      </a:path>
                    </a:pathLst>
                  </a:custGeom>
                  <a:solidFill>
                    <a:srgbClr val="A6A6A6">
                      <a:alpha val="60000"/>
                    </a:srgbClr>
                  </a:solidFill>
                  <a:ln>
                    <a:solidFill>
                      <a:schemeClr val="tx1">
                        <a:lumMod val="50000"/>
                        <a:lumOff val="50000"/>
                      </a:schemeClr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24" name="Rectangle 1023">
                    <a:extLst>
                      <a:ext uri="{FF2B5EF4-FFF2-40B4-BE49-F238E27FC236}">
                        <a16:creationId xmlns:a16="http://schemas.microsoft.com/office/drawing/2014/main" id="{534B1453-A12C-51C2-7D42-7A9A13707632}"/>
                      </a:ext>
                    </a:extLst>
                  </p:cNvPr>
                  <p:cNvSpPr/>
                  <p:nvPr/>
                </p:nvSpPr>
                <p:spPr>
                  <a:xfrm>
                    <a:off x="3545120" y="8214640"/>
                    <a:ext cx="2007627" cy="2072359"/>
                  </a:xfrm>
                  <a:prstGeom prst="rect">
                    <a:avLst/>
                  </a:prstGeom>
                  <a:noFill/>
                  <a:ln w="57150">
                    <a:solidFill>
                      <a:srgbClr val="777469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25" name="Rectangle 1024">
                    <a:extLst>
                      <a:ext uri="{FF2B5EF4-FFF2-40B4-BE49-F238E27FC236}">
                        <a16:creationId xmlns:a16="http://schemas.microsoft.com/office/drawing/2014/main" id="{9F20B42B-9512-BB49-4F59-11A4D0326422}"/>
                      </a:ext>
                    </a:extLst>
                  </p:cNvPr>
                  <p:cNvSpPr/>
                  <p:nvPr/>
                </p:nvSpPr>
                <p:spPr>
                  <a:xfrm>
                    <a:off x="6079668" y="8214641"/>
                    <a:ext cx="2209801" cy="2072359"/>
                  </a:xfrm>
                  <a:prstGeom prst="rect">
                    <a:avLst/>
                  </a:prstGeom>
                  <a:noFill/>
                  <a:ln w="57150">
                    <a:solidFill>
                      <a:srgbClr val="AD9335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26" name="Rectangle 1025">
                    <a:extLst>
                      <a:ext uri="{FF2B5EF4-FFF2-40B4-BE49-F238E27FC236}">
                        <a16:creationId xmlns:a16="http://schemas.microsoft.com/office/drawing/2014/main" id="{DE5C81FB-2A8D-A005-8B1C-169458704852}"/>
                      </a:ext>
                    </a:extLst>
                  </p:cNvPr>
                  <p:cNvSpPr/>
                  <p:nvPr/>
                </p:nvSpPr>
                <p:spPr>
                  <a:xfrm>
                    <a:off x="8516357" y="8214641"/>
                    <a:ext cx="1806923" cy="2072359"/>
                  </a:xfrm>
                  <a:prstGeom prst="rect">
                    <a:avLst/>
                  </a:prstGeom>
                  <a:noFill/>
                  <a:ln w="57150">
                    <a:solidFill>
                      <a:srgbClr val="214A2B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tlCol="0" anchor="ctr"/>
                  <a:lstStyle/>
                  <a:p>
                    <a:pPr algn="ctr"/>
                    <a:endParaRPr lang="en-US"/>
                  </a:p>
                </p:txBody>
              </p:sp>
              <p:sp>
                <p:nvSpPr>
                  <p:cNvPr id="1027" name="TextBox 1026">
                    <a:extLst>
                      <a:ext uri="{FF2B5EF4-FFF2-40B4-BE49-F238E27FC236}">
                        <a16:creationId xmlns:a16="http://schemas.microsoft.com/office/drawing/2014/main" id="{09B9D4B3-825A-6240-B76A-180647AC14FF}"/>
                      </a:ext>
                    </a:extLst>
                  </p:cNvPr>
                  <p:cNvSpPr txBox="1"/>
                  <p:nvPr/>
                </p:nvSpPr>
                <p:spPr>
                  <a:xfrm>
                    <a:off x="1101908" y="7662833"/>
                    <a:ext cx="1750958" cy="25325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800" dirty="0"/>
                      <a:t>GCReW</a:t>
                    </a:r>
                  </a:p>
                </p:txBody>
              </p:sp>
              <p:sp>
                <p:nvSpPr>
                  <p:cNvPr id="1028" name="TextBox 1027">
                    <a:extLst>
                      <a:ext uri="{FF2B5EF4-FFF2-40B4-BE49-F238E27FC236}">
                        <a16:creationId xmlns:a16="http://schemas.microsoft.com/office/drawing/2014/main" id="{21EEE5BE-6B05-FC7D-1F1A-67A39BAA5CDA}"/>
                      </a:ext>
                    </a:extLst>
                  </p:cNvPr>
                  <p:cNvSpPr txBox="1"/>
                  <p:nvPr/>
                </p:nvSpPr>
                <p:spPr>
                  <a:xfrm>
                    <a:off x="1261457" y="8174021"/>
                    <a:ext cx="1750958" cy="25325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800" dirty="0"/>
                      <a:t>Money Stump</a:t>
                    </a:r>
                  </a:p>
                </p:txBody>
              </p:sp>
              <p:sp>
                <p:nvSpPr>
                  <p:cNvPr id="1029" name="TextBox 1028">
                    <a:extLst>
                      <a:ext uri="{FF2B5EF4-FFF2-40B4-BE49-F238E27FC236}">
                        <a16:creationId xmlns:a16="http://schemas.microsoft.com/office/drawing/2014/main" id="{C7415B56-3138-683E-A33F-94BF1FC8C347}"/>
                      </a:ext>
                    </a:extLst>
                  </p:cNvPr>
                  <p:cNvSpPr txBox="1"/>
                  <p:nvPr/>
                </p:nvSpPr>
                <p:spPr>
                  <a:xfrm>
                    <a:off x="1778391" y="9662022"/>
                    <a:ext cx="1750958" cy="25325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800" dirty="0"/>
                      <a:t>Goodwin Islands</a:t>
                    </a:r>
                  </a:p>
                </p:txBody>
              </p:sp>
              <p:sp>
                <p:nvSpPr>
                  <p:cNvPr id="1030" name="TextBox 1029">
                    <a:extLst>
                      <a:ext uri="{FF2B5EF4-FFF2-40B4-BE49-F238E27FC236}">
                        <a16:creationId xmlns:a16="http://schemas.microsoft.com/office/drawing/2014/main" id="{65E00C91-BBF6-45C7-C690-D1D7A6D871AE}"/>
                      </a:ext>
                    </a:extLst>
                  </p:cNvPr>
                  <p:cNvSpPr txBox="1"/>
                  <p:nvPr/>
                </p:nvSpPr>
                <p:spPr>
                  <a:xfrm>
                    <a:off x="1014980" y="9118251"/>
                    <a:ext cx="1750958" cy="253253"/>
                  </a:xfrm>
                  <a:prstGeom prst="rect">
                    <a:avLst/>
                  </a:prstGeom>
                  <a:noFill/>
                </p:spPr>
                <p:txBody>
                  <a:bodyPr wrap="square" rtlCol="0">
                    <a:spAutoFit/>
                  </a:bodyPr>
                  <a:lstStyle/>
                  <a:p>
                    <a:r>
                      <a:rPr lang="en-US" sz="1800" dirty="0"/>
                      <a:t>Sweethall</a:t>
                    </a:r>
                  </a:p>
                </p:txBody>
              </p:sp>
            </p:grpSp>
          </p:grpSp>
        </p:grpSp>
      </p:grpSp>
      <p:sp>
        <p:nvSpPr>
          <p:cNvPr id="1033" name="Text Placeholder 3">
            <a:extLst>
              <a:ext uri="{FF2B5EF4-FFF2-40B4-BE49-F238E27FC236}">
                <a16:creationId xmlns:a16="http://schemas.microsoft.com/office/drawing/2014/main" id="{32C2827D-C730-B34A-4122-5BD22CBCDCCA}"/>
              </a:ext>
            </a:extLst>
          </p:cNvPr>
          <p:cNvSpPr txBox="1">
            <a:spLocks/>
          </p:cNvSpPr>
          <p:nvPr/>
        </p:nvSpPr>
        <p:spPr>
          <a:xfrm>
            <a:off x="18624523" y="27832532"/>
            <a:ext cx="14861984" cy="3400317"/>
          </a:xfrm>
          <a:prstGeom prst="rect">
            <a:avLst/>
          </a:prstGeom>
          <a:ln>
            <a:noFill/>
          </a:ln>
        </p:spPr>
        <p:txBody>
          <a:bodyPr/>
          <a:lstStyle>
            <a:lvl1pPr marL="0" indent="0" algn="l" defTabSz="1654622" rtl="0" eaLnBrk="1" latinLnBrk="0" hangingPunct="1">
              <a:spcBef>
                <a:spcPct val="20000"/>
              </a:spcBef>
              <a:buFont typeface="Arial" pitchFamily="34" charset="0"/>
              <a:buNone/>
              <a:defRPr lang="en-US" sz="285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1344381" indent="-517070" algn="l" defTabSz="1654622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50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68278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32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895590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722900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50212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77522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204835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032146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solidFill>
                  <a:srgbClr val="75BFE2"/>
                </a:solidFill>
              </a:rPr>
              <a:t>Take-home messages</a:t>
            </a:r>
            <a:endParaRPr lang="en-US" b="1" dirty="0"/>
          </a:p>
          <a:p>
            <a:pPr marL="457200" indent="-457200">
              <a:buFont typeface="Arial" pitchFamily="34" charset="0"/>
              <a:buChar char="•"/>
            </a:pPr>
            <a:r>
              <a:rPr lang="en-US" dirty="0"/>
              <a:t>Porewater sulfate varies predictably across sites and zones, increasing from the upland forest to the wetland. 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dirty="0"/>
              <a:t>Porewater sulfate is moderated by salinity, water level/content, and electrical conductivity. 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dirty="0"/>
              <a:t>Sulfate varies less predictably across depths, as this effect varies by site and zone. </a:t>
            </a:r>
          </a:p>
          <a:p>
            <a:pPr marL="457200" indent="-457200">
              <a:buFont typeface="Arial" pitchFamily="34" charset="0"/>
              <a:buChar char="•"/>
            </a:pPr>
            <a:r>
              <a:rPr lang="en-US" dirty="0"/>
              <a:t>Sulfate increases throughout the season, and at one site, increases across years. </a:t>
            </a:r>
          </a:p>
          <a:p>
            <a:pPr marL="457200" indent="-457200">
              <a:buFont typeface="Arial" pitchFamily="34" charset="0"/>
              <a:buChar char="•"/>
            </a:pPr>
            <a:endParaRPr lang="en-US" dirty="0"/>
          </a:p>
          <a:p>
            <a:pPr marL="457200" indent="-457200">
              <a:buFont typeface="Arial" pitchFamily="34" charset="0"/>
              <a:buChar char="•"/>
            </a:pPr>
            <a:endParaRPr lang="en-US" dirty="0"/>
          </a:p>
          <a:p>
            <a:endParaRPr lang="en-US" dirty="0"/>
          </a:p>
        </p:txBody>
      </p:sp>
      <p:sp>
        <p:nvSpPr>
          <p:cNvPr id="1034" name="Text Placeholder 3">
            <a:extLst>
              <a:ext uri="{FF2B5EF4-FFF2-40B4-BE49-F238E27FC236}">
                <a16:creationId xmlns:a16="http://schemas.microsoft.com/office/drawing/2014/main" id="{3B019716-EAFE-3F05-01D8-F3689D302ED2}"/>
              </a:ext>
            </a:extLst>
          </p:cNvPr>
          <p:cNvSpPr txBox="1">
            <a:spLocks/>
          </p:cNvSpPr>
          <p:nvPr/>
        </p:nvSpPr>
        <p:spPr>
          <a:xfrm>
            <a:off x="1242798" y="15436171"/>
            <a:ext cx="15429360" cy="8155030"/>
          </a:xfrm>
          <a:prstGeom prst="rect">
            <a:avLst/>
          </a:prstGeom>
          <a:ln>
            <a:noFill/>
          </a:ln>
        </p:spPr>
        <p:txBody>
          <a:bodyPr/>
          <a:lstStyle>
            <a:lvl1pPr marL="0" indent="0" algn="l" defTabSz="1654622" rtl="0" eaLnBrk="1" latinLnBrk="0" hangingPunct="1">
              <a:spcBef>
                <a:spcPct val="20000"/>
              </a:spcBef>
              <a:buFont typeface="Arial" pitchFamily="34" charset="0"/>
              <a:buNone/>
              <a:defRPr lang="en-US" sz="285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1344381" indent="-517070" algn="l" defTabSz="1654622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50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68278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32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895590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722900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50212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77522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204835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032146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solidFill>
                  <a:srgbClr val="75BFE2"/>
                </a:solidFill>
              </a:rPr>
              <a:t>Porewater Sulfate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Porewater was analyzed for </a:t>
            </a:r>
            <a:r>
              <a:rPr lang="en-US" sz="2800" b="1" dirty="0"/>
              <a:t>SO</a:t>
            </a:r>
            <a:r>
              <a:rPr lang="en-US" sz="2800" b="1" baseline="-25000" dirty="0"/>
              <a:t>4</a:t>
            </a:r>
            <a:r>
              <a:rPr lang="en-US" sz="2800" b="1" baseline="30000" dirty="0"/>
              <a:t>2-</a:t>
            </a:r>
            <a:r>
              <a:rPr lang="en-US" sz="2800" dirty="0"/>
              <a:t> in 2,293 samples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Sulfate increased from upland forest through transition zones to the wetland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Sulfate also increased from </a:t>
            </a:r>
            <a:r>
              <a:rPr lang="en-US" sz="2800" dirty="0" err="1"/>
              <a:t>Sweethall</a:t>
            </a:r>
            <a:r>
              <a:rPr lang="en-US" sz="2800" dirty="0"/>
              <a:t> site (oligohaline) to Goodwin Islands site (</a:t>
            </a:r>
            <a:r>
              <a:rPr lang="en-US" sz="2800" dirty="0" err="1"/>
              <a:t>polyhaline</a:t>
            </a:r>
            <a:r>
              <a:rPr lang="en-US" sz="2800" dirty="0"/>
              <a:t>).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en-US" sz="2800" dirty="0"/>
              <a:t>Surface water was a source of sulfate into these ecosystems. 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sz="3200" dirty="0"/>
          </a:p>
          <a:p>
            <a:pPr marL="457200" indent="-457200">
              <a:buFont typeface="Arial" panose="020B0604020202020204" pitchFamily="34" charset="0"/>
              <a:buChar char="•"/>
            </a:pPr>
            <a:endParaRPr lang="en-US" dirty="0"/>
          </a:p>
        </p:txBody>
      </p:sp>
      <p:pic>
        <p:nvPicPr>
          <p:cNvPr id="1042" name="Picture 1041" descr="A graph of different colored squares&#10;&#10;AI-generated content may be incorrect.">
            <a:extLst>
              <a:ext uri="{FF2B5EF4-FFF2-40B4-BE49-F238E27FC236}">
                <a16:creationId xmlns:a16="http://schemas.microsoft.com/office/drawing/2014/main" id="{04363E67-54FD-37B3-65BB-A8173A952E9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399"/>
          <a:stretch>
            <a:fillRect/>
          </a:stretch>
        </p:blipFill>
        <p:spPr>
          <a:xfrm>
            <a:off x="2677555" y="18193266"/>
            <a:ext cx="11541659" cy="6620362"/>
          </a:xfrm>
          <a:prstGeom prst="rect">
            <a:avLst/>
          </a:prstGeom>
        </p:spPr>
      </p:pic>
      <p:pic>
        <p:nvPicPr>
          <p:cNvPr id="14" name="Picture 13" descr="A graph of water level and value&#10;&#10;AI-generated content may be incorrect.">
            <a:extLst>
              <a:ext uri="{FF2B5EF4-FFF2-40B4-BE49-F238E27FC236}">
                <a16:creationId xmlns:a16="http://schemas.microsoft.com/office/drawing/2014/main" id="{37395166-1C97-2974-4774-B9647BFFD3B0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4042" y="26789484"/>
            <a:ext cx="13716027" cy="5486411"/>
          </a:xfrm>
          <a:prstGeom prst="rect">
            <a:avLst/>
          </a:prstGeom>
        </p:spPr>
      </p:pic>
      <p:sp>
        <p:nvSpPr>
          <p:cNvPr id="1035" name="Text Placeholder 3">
            <a:extLst>
              <a:ext uri="{FF2B5EF4-FFF2-40B4-BE49-F238E27FC236}">
                <a16:creationId xmlns:a16="http://schemas.microsoft.com/office/drawing/2014/main" id="{8DA61A9E-9FD6-923F-C6C1-69FD27ACDB80}"/>
              </a:ext>
            </a:extLst>
          </p:cNvPr>
          <p:cNvSpPr txBox="1">
            <a:spLocks/>
          </p:cNvSpPr>
          <p:nvPr/>
        </p:nvSpPr>
        <p:spPr>
          <a:xfrm>
            <a:off x="981439" y="24958265"/>
            <a:ext cx="15095898" cy="2097650"/>
          </a:xfrm>
          <a:prstGeom prst="rect">
            <a:avLst/>
          </a:prstGeom>
          <a:ln>
            <a:noFill/>
          </a:ln>
        </p:spPr>
        <p:txBody>
          <a:bodyPr/>
          <a:lstStyle>
            <a:lvl1pPr marL="0" indent="0" algn="l" defTabSz="1654622" rtl="0" eaLnBrk="1" latinLnBrk="0" hangingPunct="1">
              <a:spcBef>
                <a:spcPct val="20000"/>
              </a:spcBef>
              <a:buFont typeface="Arial" pitchFamily="34" charset="0"/>
              <a:buNone/>
              <a:defRPr lang="en-US" sz="2850" kern="1200" dirty="0">
                <a:solidFill>
                  <a:schemeClr val="tx1"/>
                </a:solidFill>
                <a:latin typeface="Arial" panose="020B0604020202020204" pitchFamily="34" charset="0"/>
                <a:ea typeface="+mn-ea"/>
                <a:cs typeface="Arial" panose="020B0604020202020204" pitchFamily="34" charset="0"/>
              </a:defRPr>
            </a:lvl1pPr>
            <a:lvl2pPr marL="1344381" indent="-517070" algn="l" defTabSz="1654622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5067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2068278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4328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2895590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–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3722900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»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4550212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5377522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6204835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7032146" indent="-413656" algn="l" defTabSz="1654622" rtl="0" eaLnBrk="1" latinLnBrk="0" hangingPunct="1">
              <a:spcBef>
                <a:spcPct val="20000"/>
              </a:spcBef>
              <a:buFont typeface="Arial" pitchFamily="34" charset="0"/>
              <a:buChar char="•"/>
              <a:defRPr sz="3695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3600" b="1" dirty="0">
                <a:solidFill>
                  <a:srgbClr val="75BFE2"/>
                </a:solidFill>
              </a:rPr>
              <a:t>Environmental variables</a:t>
            </a:r>
            <a:endParaRPr lang="en-US" b="1" dirty="0"/>
          </a:p>
          <a:p>
            <a:pPr marL="457200" indent="-457200">
              <a:buFont typeface="Arial" pitchFamily="34" charset="0"/>
              <a:buChar char="•"/>
            </a:pPr>
            <a:r>
              <a:rPr lang="en-US" dirty="0"/>
              <a:t>Sulfate increases with increasing groundwater salinity, groundwater water level, soil electrical conductivity, and soil volumetric water content. </a:t>
            </a:r>
          </a:p>
          <a:p>
            <a:endParaRPr lang="en-US" dirty="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4DACE8AF-5A3B-350F-CBBD-990A9C27B8D4}"/>
              </a:ext>
            </a:extLst>
          </p:cNvPr>
          <p:cNvCxnSpPr>
            <a:cxnSpLocks/>
          </p:cNvCxnSpPr>
          <p:nvPr/>
        </p:nvCxnSpPr>
        <p:spPr>
          <a:xfrm>
            <a:off x="863299" y="24744165"/>
            <a:ext cx="15099634" cy="0"/>
          </a:xfrm>
          <a:prstGeom prst="line">
            <a:avLst/>
          </a:prstGeom>
          <a:ln>
            <a:solidFill>
              <a:srgbClr val="75BFE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005456116"/>
      </p:ext>
    </p:extLst>
  </p:cSld>
  <p:clrMapOvr>
    <a:masterClrMapping/>
  </p:clrMapOvr>
  <p:extLst>
    <p:ext uri="{6950BFC3-D8DA-4A85-94F7-54DA5524770B}">
      <p188:commentRel xmlns:p188="http://schemas.microsoft.com/office/powerpoint/2018/8/main" r:id="rId3"/>
    </p:ext>
  </p:extLs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12999</TotalTime>
  <Words>413</Words>
  <Application>Microsoft Office PowerPoint</Application>
  <PresentationFormat>Custom</PresentationFormat>
  <Paragraphs>51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Arial Narrow</vt:lpstr>
      <vt:lpstr>Calibri</vt:lpstr>
      <vt:lpstr>Office Theme</vt:lpstr>
      <vt:lpstr>Porewater sulfate varies spatially and temporally across the coastal terrestrial-aquatic interface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Windows User</dc:creator>
  <cp:lastModifiedBy>Read, Zoe</cp:lastModifiedBy>
  <cp:revision>52</cp:revision>
  <dcterms:created xsi:type="dcterms:W3CDTF">2012-11-30T02:20:55Z</dcterms:created>
  <dcterms:modified xsi:type="dcterms:W3CDTF">2026-03-12T20:26:40Z</dcterms:modified>
</cp:coreProperties>
</file>