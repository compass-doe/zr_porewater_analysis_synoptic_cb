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</p:sldIdLst>
  <p:sldSz cy="43891200" cx="43891200"/>
  <p:notesSz cx="6858000" cy="9144000"/>
  <p:embeddedFontLst>
    <p:embeddedFont>
      <p:font typeface="Arial Narrow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824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  <p:ext uri="GoogleSlidesCustomDataVersion2">
      <go:slidesCustomData xmlns:go="http://customooxmlschemas.google.com/" r:id="rId12" roundtripDataSignature="AMtx7mgKA3kKMC98Vczeqz/YN60skKsH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915503-3861-4976-90DD-61954201B4D3}">
  <a:tblStyle styleId="{5B915503-3861-4976-90DD-61954201B4D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824" orient="horz"/>
        <p:guide pos="1382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font" Target="fonts/ArialNarrow-boldItalic.fntdata"/><Relationship Id="rId10" Type="http://schemas.openxmlformats.org/officeDocument/2006/relationships/font" Target="fonts/ArialNarrow-italic.fntdata"/><Relationship Id="rId12" Type="http://customschemas.google.com/relationships/presentationmetadata" Target="metadata"/><Relationship Id="rId9" Type="http://schemas.openxmlformats.org/officeDocument/2006/relationships/font" Target="fonts/ArialNarrow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ArialNarrow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7145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23f4fc96d9a_0_65:notes"/>
          <p:cNvSpPr/>
          <p:nvPr>
            <p:ph idx="2" type="sldImg"/>
          </p:nvPr>
        </p:nvSpPr>
        <p:spPr>
          <a:xfrm>
            <a:off x="17145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g23f4fc96d9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Contact Digital Duplicating (375-2969, http://digitalduplicating.pnl.gov) to order poster printing and finishing services for your completed poster design.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Remember to have your poster cleared for public display/distribution through the ERICA Information Release system (http://erica.pnl.gov).</a:t>
            </a:r>
            <a:endParaRPr/>
          </a:p>
        </p:txBody>
      </p:sp>
      <p:sp>
        <p:nvSpPr>
          <p:cNvPr id="35" name="Google Shape;35;g23f4fc96d9a_0_6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0" y="0"/>
            <a:ext cx="43891200" cy="914400"/>
          </a:xfrm>
          <a:prstGeom prst="rect">
            <a:avLst/>
          </a:prstGeom>
          <a:solidFill>
            <a:srgbClr val="41975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612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1320800" y="1981200"/>
            <a:ext cx="33020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19758"/>
              </a:buClr>
              <a:buSzPts val="10000"/>
              <a:buFont typeface="Arial"/>
              <a:buNone/>
              <a:defRPr>
                <a:solidFill>
                  <a:srgbClr val="41975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1320800" y="5334000"/>
            <a:ext cx="32955213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960"/>
              </a:spcBef>
              <a:spcAft>
                <a:spcPts val="0"/>
              </a:spcAft>
              <a:buClr>
                <a:srgbClr val="595959"/>
              </a:buClr>
              <a:buSzPts val="4800"/>
              <a:buFont typeface="Arial"/>
              <a:buNone/>
              <a:defRPr b="0" i="0" sz="4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635000" lvl="1" marL="914400" marR="0" rtl="0" algn="l"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Char char="–"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75754" lvl="2" marL="1371600" marR="0" rtl="0" algn="l">
              <a:spcBef>
                <a:spcPts val="1093"/>
              </a:spcBef>
              <a:spcAft>
                <a:spcPts val="0"/>
              </a:spcAft>
              <a:buClr>
                <a:schemeClr val="dk1"/>
              </a:buClr>
              <a:buSzPts val="5467"/>
              <a:buFont typeface="Arial"/>
              <a:buChar char="•"/>
              <a:defRPr b="0" i="0" sz="54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524954" lvl="3" marL="1828800" marR="0" rtl="0" algn="l"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4667"/>
              <a:buFont typeface="Arial"/>
              <a:buChar char="–"/>
              <a:defRPr b="0" i="0" sz="4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24954" lvl="4" marL="2286000" marR="0" rtl="0" algn="l"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4667"/>
              <a:buFont typeface="Arial"/>
              <a:buChar char="»"/>
              <a:defRPr b="0" i="0" sz="4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24954" lvl="5" marL="2743200" marR="0" rtl="0" algn="l"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4667"/>
              <a:buFont typeface="Arial"/>
              <a:buChar char="•"/>
              <a:defRPr b="0" i="0" sz="4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524954" lvl="6" marL="3200400" marR="0" rtl="0" algn="l"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4667"/>
              <a:buFont typeface="Arial"/>
              <a:buChar char="•"/>
              <a:defRPr b="0" i="0" sz="4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24954" lvl="7" marL="3657600" marR="0" rtl="0" algn="l"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4667"/>
              <a:buFont typeface="Arial"/>
              <a:buChar char="•"/>
              <a:defRPr b="0" i="0" sz="4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524954" lvl="8" marL="4114800" marR="0" rtl="0" algn="l"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4667"/>
              <a:buFont typeface="Arial"/>
              <a:buChar char="•"/>
              <a:defRPr b="0" i="0" sz="4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2" type="body"/>
          </p:nvPr>
        </p:nvSpPr>
        <p:spPr>
          <a:xfrm>
            <a:off x="1320800" y="7620000"/>
            <a:ext cx="20243800" cy="80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635000" lvl="1" marL="914400" marR="0" rtl="0" algn="l"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Char char="–"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75754" lvl="2" marL="1371600" marR="0" rtl="0" algn="l">
              <a:spcBef>
                <a:spcPts val="1093"/>
              </a:spcBef>
              <a:spcAft>
                <a:spcPts val="0"/>
              </a:spcAft>
              <a:buClr>
                <a:schemeClr val="dk1"/>
              </a:buClr>
              <a:buSzPts val="5467"/>
              <a:buFont typeface="Arial"/>
              <a:buChar char="•"/>
              <a:defRPr b="0" i="0" sz="54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524954" lvl="3" marL="1828800" marR="0" rtl="0" algn="l"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4667"/>
              <a:buFont typeface="Arial"/>
              <a:buChar char="–"/>
              <a:defRPr b="0" i="0" sz="4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24954" lvl="4" marL="2286000" marR="0" rtl="0" algn="l"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4667"/>
              <a:buFont typeface="Arial"/>
              <a:buChar char="»"/>
              <a:defRPr b="0" i="0" sz="4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24954" lvl="5" marL="2743200" marR="0" rtl="0" algn="l"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4667"/>
              <a:buFont typeface="Arial"/>
              <a:buChar char="•"/>
              <a:defRPr b="0" i="0" sz="4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524954" lvl="6" marL="3200400" marR="0" rtl="0" algn="l"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4667"/>
              <a:buFont typeface="Arial"/>
              <a:buChar char="•"/>
              <a:defRPr b="0" i="0" sz="4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24954" lvl="7" marL="3657600" marR="0" rtl="0" algn="l"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4667"/>
              <a:buFont typeface="Arial"/>
              <a:buChar char="•"/>
              <a:defRPr b="0" i="0" sz="4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524954" lvl="8" marL="4114800" marR="0" rtl="0" algn="l"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4667"/>
              <a:buFont typeface="Arial"/>
              <a:buChar char="•"/>
              <a:defRPr b="0" i="0" sz="4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/>
          <p:nvPr>
            <p:ph idx="3" type="pic"/>
          </p:nvPr>
        </p:nvSpPr>
        <p:spPr>
          <a:xfrm>
            <a:off x="1320800" y="16154400"/>
            <a:ext cx="12801600" cy="10363200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3"/>
          <p:cNvSpPr txBox="1"/>
          <p:nvPr/>
        </p:nvSpPr>
        <p:spPr>
          <a:xfrm>
            <a:off x="6781800" y="41910000"/>
            <a:ext cx="134874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COMPASS is a multi-institutional program led by PNNL and funded by the Earth and Environmental Systems Sciences Division of the U.S. Department of Energy’s Office of Science.</a:t>
            </a:r>
            <a:endParaRPr/>
          </a:p>
        </p:txBody>
      </p:sp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747199" y="1676400"/>
            <a:ext cx="9315450" cy="291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7202" y="41567100"/>
            <a:ext cx="4572000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>
            <p:ph idx="4" type="body"/>
          </p:nvPr>
        </p:nvSpPr>
        <p:spPr>
          <a:xfrm>
            <a:off x="22326600" y="7620000"/>
            <a:ext cx="20259675" cy="80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635000" lvl="1" marL="914400" marR="0" rtl="0" algn="l"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Char char="–"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75754" lvl="2" marL="1371600" marR="0" rtl="0" algn="l">
              <a:spcBef>
                <a:spcPts val="1093"/>
              </a:spcBef>
              <a:spcAft>
                <a:spcPts val="0"/>
              </a:spcAft>
              <a:buClr>
                <a:schemeClr val="dk1"/>
              </a:buClr>
              <a:buSzPts val="5467"/>
              <a:buFont typeface="Arial"/>
              <a:buChar char="•"/>
              <a:defRPr b="0" i="0" sz="54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524954" lvl="3" marL="1828800" marR="0" rtl="0" algn="l"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4667"/>
              <a:buFont typeface="Arial"/>
              <a:buChar char="–"/>
              <a:defRPr b="0" i="0" sz="4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24954" lvl="4" marL="2286000" marR="0" rtl="0" algn="l"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4667"/>
              <a:buFont typeface="Arial"/>
              <a:buChar char="»"/>
              <a:defRPr b="0" i="0" sz="4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24954" lvl="5" marL="2743200" marR="0" rtl="0" algn="l"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4667"/>
              <a:buFont typeface="Arial"/>
              <a:buChar char="•"/>
              <a:defRPr b="0" i="0" sz="4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524954" lvl="6" marL="3200400" marR="0" rtl="0" algn="l"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4667"/>
              <a:buFont typeface="Arial"/>
              <a:buChar char="•"/>
              <a:defRPr b="0" i="0" sz="4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24954" lvl="7" marL="3657600" marR="0" rtl="0" algn="l"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4667"/>
              <a:buFont typeface="Arial"/>
              <a:buChar char="•"/>
              <a:defRPr b="0" i="0" sz="4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524954" lvl="8" marL="4114800" marR="0" rtl="0" algn="l"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4667"/>
              <a:buFont typeface="Arial"/>
              <a:buChar char="•"/>
              <a:defRPr b="0" i="0" sz="4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0" y="0"/>
            <a:ext cx="43891200" cy="914400"/>
          </a:xfrm>
          <a:prstGeom prst="rect">
            <a:avLst/>
          </a:prstGeom>
          <a:solidFill>
            <a:srgbClr val="75BF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12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1320800" y="1981200"/>
            <a:ext cx="33020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BFE2"/>
              </a:buClr>
              <a:buSzPts val="10000"/>
              <a:buFont typeface="Arial"/>
              <a:buNone/>
              <a:defRPr sz="10000">
                <a:solidFill>
                  <a:srgbClr val="75BFE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1320800" y="5334000"/>
            <a:ext cx="32955213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960"/>
              </a:spcBef>
              <a:spcAft>
                <a:spcPts val="0"/>
              </a:spcAft>
              <a:buClr>
                <a:srgbClr val="595959"/>
              </a:buClr>
              <a:buSzPts val="4800"/>
              <a:buFont typeface="Arial"/>
              <a:buNone/>
              <a:defRPr b="0" i="0" sz="4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635000" lvl="1" marL="914400" marR="0" rtl="0" algn="l"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Char char="–"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75754" lvl="2" marL="1371600" marR="0" rtl="0" algn="l">
              <a:spcBef>
                <a:spcPts val="1093"/>
              </a:spcBef>
              <a:spcAft>
                <a:spcPts val="0"/>
              </a:spcAft>
              <a:buClr>
                <a:schemeClr val="dk1"/>
              </a:buClr>
              <a:buSzPts val="5467"/>
              <a:buFont typeface="Arial"/>
              <a:buChar char="•"/>
              <a:defRPr b="0" i="0" sz="54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524954" lvl="3" marL="1828800" marR="0" rtl="0" algn="l"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4667"/>
              <a:buFont typeface="Arial"/>
              <a:buChar char="–"/>
              <a:defRPr b="0" i="0" sz="4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24954" lvl="4" marL="2286000" marR="0" rtl="0" algn="l"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4667"/>
              <a:buFont typeface="Arial"/>
              <a:buChar char="»"/>
              <a:defRPr b="0" i="0" sz="4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24954" lvl="5" marL="2743200" marR="0" rtl="0" algn="l"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4667"/>
              <a:buFont typeface="Arial"/>
              <a:buChar char="•"/>
              <a:defRPr b="0" i="0" sz="4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524954" lvl="6" marL="3200400" marR="0" rtl="0" algn="l"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4667"/>
              <a:buFont typeface="Arial"/>
              <a:buChar char="•"/>
              <a:defRPr b="0" i="0" sz="4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24954" lvl="7" marL="3657600" marR="0" rtl="0" algn="l"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4667"/>
              <a:buFont typeface="Arial"/>
              <a:buChar char="•"/>
              <a:defRPr b="0" i="0" sz="4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524954" lvl="8" marL="4114800" marR="0" rtl="0" algn="l"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4667"/>
              <a:buFont typeface="Arial"/>
              <a:buChar char="•"/>
              <a:defRPr b="0" i="0" sz="4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2" type="body"/>
          </p:nvPr>
        </p:nvSpPr>
        <p:spPr>
          <a:xfrm>
            <a:off x="1320800" y="7620000"/>
            <a:ext cx="20243800" cy="80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635000" lvl="1" marL="914400" marR="0" rtl="0" algn="l"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Char char="–"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75754" lvl="2" marL="1371600" marR="0" rtl="0" algn="l">
              <a:spcBef>
                <a:spcPts val="1093"/>
              </a:spcBef>
              <a:spcAft>
                <a:spcPts val="0"/>
              </a:spcAft>
              <a:buClr>
                <a:schemeClr val="dk1"/>
              </a:buClr>
              <a:buSzPts val="5467"/>
              <a:buFont typeface="Arial"/>
              <a:buChar char="•"/>
              <a:defRPr b="0" i="0" sz="54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524954" lvl="3" marL="1828800" marR="0" rtl="0" algn="l"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4667"/>
              <a:buFont typeface="Arial"/>
              <a:buChar char="–"/>
              <a:defRPr b="0" i="0" sz="4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24954" lvl="4" marL="2286000" marR="0" rtl="0" algn="l"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4667"/>
              <a:buFont typeface="Arial"/>
              <a:buChar char="»"/>
              <a:defRPr b="0" i="0" sz="4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24954" lvl="5" marL="2743200" marR="0" rtl="0" algn="l"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4667"/>
              <a:buFont typeface="Arial"/>
              <a:buChar char="•"/>
              <a:defRPr b="0" i="0" sz="4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524954" lvl="6" marL="3200400" marR="0" rtl="0" algn="l"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4667"/>
              <a:buFont typeface="Arial"/>
              <a:buChar char="•"/>
              <a:defRPr b="0" i="0" sz="4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24954" lvl="7" marL="3657600" marR="0" rtl="0" algn="l"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4667"/>
              <a:buFont typeface="Arial"/>
              <a:buChar char="•"/>
              <a:defRPr b="0" i="0" sz="4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524954" lvl="8" marL="4114800" marR="0" rtl="0" algn="l"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4667"/>
              <a:buFont typeface="Arial"/>
              <a:buChar char="•"/>
              <a:defRPr b="0" i="0" sz="4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4"/>
          <p:cNvSpPr/>
          <p:nvPr>
            <p:ph idx="3" type="pic"/>
          </p:nvPr>
        </p:nvSpPr>
        <p:spPr>
          <a:xfrm>
            <a:off x="1320800" y="16154400"/>
            <a:ext cx="12801600" cy="10363200"/>
          </a:xfrm>
          <a:prstGeom prst="rect">
            <a:avLst/>
          </a:prstGeom>
          <a:noFill/>
          <a:ln>
            <a:noFill/>
          </a:ln>
        </p:spPr>
      </p:sp>
      <p:pic>
        <p:nvPicPr>
          <p:cNvPr id="28" name="Google Shape;2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747199" y="1676400"/>
            <a:ext cx="9315450" cy="2914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/>
        </p:nvSpPr>
        <p:spPr>
          <a:xfrm>
            <a:off x="6781800" y="41910000"/>
            <a:ext cx="134874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COMPASS is a multi-institutional program led by PNNL and funded by the Earth and Environmental Systems Sciences Division of the U.S. Department of Energy’s Office of Science.</a:t>
            </a:r>
            <a:endParaRPr/>
          </a:p>
        </p:txBody>
      </p:sp>
      <p:pic>
        <p:nvPicPr>
          <p:cNvPr id="30" name="Google Shape;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7202" y="41567100"/>
            <a:ext cx="4572000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 txBox="1"/>
          <p:nvPr>
            <p:ph idx="4" type="body"/>
          </p:nvPr>
        </p:nvSpPr>
        <p:spPr>
          <a:xfrm>
            <a:off x="22325912" y="7620000"/>
            <a:ext cx="20260363" cy="80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635000" lvl="1" marL="914400" marR="0" rtl="0" algn="l"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Char char="–"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75754" lvl="2" marL="1371600" marR="0" rtl="0" algn="l">
              <a:spcBef>
                <a:spcPts val="1093"/>
              </a:spcBef>
              <a:spcAft>
                <a:spcPts val="0"/>
              </a:spcAft>
              <a:buClr>
                <a:schemeClr val="dk1"/>
              </a:buClr>
              <a:buSzPts val="5467"/>
              <a:buFont typeface="Arial"/>
              <a:buChar char="•"/>
              <a:defRPr b="0" i="0" sz="54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524954" lvl="3" marL="1828800" marR="0" rtl="0" algn="l"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4667"/>
              <a:buFont typeface="Arial"/>
              <a:buChar char="–"/>
              <a:defRPr b="0" i="0" sz="4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24954" lvl="4" marL="2286000" marR="0" rtl="0" algn="l"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4667"/>
              <a:buFont typeface="Arial"/>
              <a:buChar char="»"/>
              <a:defRPr b="0" i="0" sz="4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24954" lvl="5" marL="2743200" marR="0" rtl="0" algn="l"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4667"/>
              <a:buFont typeface="Arial"/>
              <a:buChar char="•"/>
              <a:defRPr b="0" i="0" sz="4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524954" lvl="6" marL="3200400" marR="0" rtl="0" algn="l"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4667"/>
              <a:buFont typeface="Arial"/>
              <a:buChar char="•"/>
              <a:defRPr b="0" i="0" sz="4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24954" lvl="7" marL="3657600" marR="0" rtl="0" algn="l"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4667"/>
              <a:buFont typeface="Arial"/>
              <a:buChar char="•"/>
              <a:defRPr b="0" i="0" sz="4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524954" lvl="8" marL="4114800" marR="0" rtl="0" algn="l">
              <a:spcBef>
                <a:spcPts val="933"/>
              </a:spcBef>
              <a:spcAft>
                <a:spcPts val="0"/>
              </a:spcAft>
              <a:buClr>
                <a:schemeClr val="dk1"/>
              </a:buClr>
              <a:buSzPts val="4667"/>
              <a:buFont typeface="Arial"/>
              <a:buChar char="•"/>
              <a:defRPr b="0" i="0" sz="4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1">
            <a:alphaModFix/>
          </a:blip>
          <a:srcRect b="0" l="0" r="27849" t="0"/>
          <a:stretch/>
        </p:blipFill>
        <p:spPr>
          <a:xfrm>
            <a:off x="0" y="38999160"/>
            <a:ext cx="43891200" cy="48920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title"/>
          </p:nvPr>
        </p:nvSpPr>
        <p:spPr>
          <a:xfrm>
            <a:off x="1320800" y="1981200"/>
            <a:ext cx="37854467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75BFE2"/>
              </a:buClr>
              <a:buSzPts val="10000"/>
              <a:buFont typeface="Arial"/>
              <a:buNone/>
              <a:defRPr b="0" i="0" sz="10000" u="none" cap="none" strike="noStrike">
                <a:solidFill>
                  <a:srgbClr val="75BFE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11" Type="http://schemas.openxmlformats.org/officeDocument/2006/relationships/image" Target="../media/image3.png"/><Relationship Id="rId10" Type="http://schemas.openxmlformats.org/officeDocument/2006/relationships/image" Target="../media/image4.png"/><Relationship Id="rId12" Type="http://schemas.openxmlformats.org/officeDocument/2006/relationships/image" Target="../media/image6.png"/><Relationship Id="rId9" Type="http://schemas.openxmlformats.org/officeDocument/2006/relationships/image" Target="../media/image7.png"/><Relationship Id="rId5" Type="http://schemas.openxmlformats.org/officeDocument/2006/relationships/image" Target="../media/image9.jpg"/><Relationship Id="rId6" Type="http://schemas.openxmlformats.org/officeDocument/2006/relationships/image" Target="../media/image1.png"/><Relationship Id="rId7" Type="http://schemas.openxmlformats.org/officeDocument/2006/relationships/image" Target="../media/image5.png"/><Relationship Id="rId8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g23f4fc96d9a_0_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40963" y="35510199"/>
            <a:ext cx="24130176" cy="4470401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g23f4fc96d9a_0_65"/>
          <p:cNvSpPr txBox="1"/>
          <p:nvPr>
            <p:ph type="title"/>
          </p:nvPr>
        </p:nvSpPr>
        <p:spPr>
          <a:xfrm>
            <a:off x="1398718" y="1598016"/>
            <a:ext cx="330201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19758"/>
              </a:buClr>
              <a:buSzPts val="10000"/>
              <a:buFont typeface="Arial"/>
              <a:buNone/>
            </a:pPr>
            <a:r>
              <a:rPr lang="en-US"/>
              <a:t>Biogeochemistry and function in soils as they transition from coastal forest to wetland in the Chesapeake Bay </a:t>
            </a:r>
            <a:endParaRPr/>
          </a:p>
        </p:txBody>
      </p:sp>
      <p:sp>
        <p:nvSpPr>
          <p:cNvPr id="39" name="Google Shape;39;g23f4fc96d9a_0_65"/>
          <p:cNvSpPr txBox="1"/>
          <p:nvPr>
            <p:ph idx="1" type="body"/>
          </p:nvPr>
        </p:nvSpPr>
        <p:spPr>
          <a:xfrm>
            <a:off x="1398675" y="4704800"/>
            <a:ext cx="317544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000"/>
              <a:buNone/>
            </a:pPr>
            <a:r>
              <a:rPr lang="en-US" sz="4000"/>
              <a:t>Stephanie J. Wilson</a:t>
            </a:r>
            <a:r>
              <a:rPr baseline="30000" lang="en-US" sz="4000"/>
              <a:t>1*</a:t>
            </a:r>
            <a:r>
              <a:rPr lang="en-US" sz="4000"/>
              <a:t>, Patrick Megonigal</a:t>
            </a:r>
            <a:r>
              <a:rPr baseline="30000" lang="en-US" sz="4000"/>
              <a:t>1</a:t>
            </a:r>
            <a:r>
              <a:rPr lang="en-US" sz="4000"/>
              <a:t>, Roy Rich</a:t>
            </a:r>
            <a:r>
              <a:rPr baseline="30000" lang="en-US" sz="4000"/>
              <a:t>1</a:t>
            </a:r>
            <a:r>
              <a:rPr lang="en-US" sz="4000"/>
              <a:t>, Alice Stearns1, Evan Phillips</a:t>
            </a:r>
            <a:r>
              <a:rPr baseline="30000" lang="en-US" sz="4000"/>
              <a:t>1</a:t>
            </a:r>
            <a:r>
              <a:rPr lang="en-US" sz="4000"/>
              <a:t>, Erin Fien</a:t>
            </a:r>
            <a:r>
              <a:rPr baseline="30000" lang="en-US" sz="4000"/>
              <a:t>1</a:t>
            </a:r>
            <a:r>
              <a:rPr lang="en-US" sz="4000"/>
              <a:t>, Lani DuFresne</a:t>
            </a:r>
            <a:r>
              <a:rPr baseline="30000" lang="en-US" sz="4000"/>
              <a:t>1</a:t>
            </a:r>
            <a:r>
              <a:rPr lang="en-US" sz="4000"/>
              <a:t>, Peter Regier</a:t>
            </a:r>
            <a:r>
              <a:rPr baseline="30000" lang="en-US" sz="4000"/>
              <a:t>2</a:t>
            </a:r>
            <a:r>
              <a:rPr lang="en-US" sz="4000"/>
              <a:t>, Allison Myers-Pigg</a:t>
            </a:r>
            <a:r>
              <a:rPr baseline="30000" lang="en-US" sz="4000"/>
              <a:t>2</a:t>
            </a:r>
            <a:r>
              <a:rPr lang="en-US" sz="4000"/>
              <a:t>, Stephanie Pennington</a:t>
            </a:r>
            <a:r>
              <a:rPr baseline="30000" lang="en-US" sz="4000"/>
              <a:t>2</a:t>
            </a:r>
            <a:r>
              <a:rPr lang="en-US" sz="4000"/>
              <a:t>, Anya Hopple</a:t>
            </a:r>
            <a:r>
              <a:rPr baseline="30000" lang="en-US" sz="4000"/>
              <a:t>2</a:t>
            </a:r>
            <a:r>
              <a:rPr lang="en-US" sz="4000"/>
              <a:t>, Kendalynn A. Morris</a:t>
            </a:r>
            <a:r>
              <a:rPr baseline="30000" lang="en-US" sz="4000"/>
              <a:t>3</a:t>
            </a:r>
            <a:r>
              <a:rPr lang="en-US" sz="4000"/>
              <a:t>, Nate McDowell</a:t>
            </a:r>
            <a:r>
              <a:rPr baseline="30000" lang="en-US" sz="4000"/>
              <a:t>2</a:t>
            </a:r>
            <a:r>
              <a:rPr lang="en-US" sz="4000"/>
              <a:t>, Ben Bond-Lamberty</a:t>
            </a:r>
            <a:r>
              <a:rPr baseline="30000" lang="en-US" sz="4000"/>
              <a:t>3</a:t>
            </a:r>
            <a:r>
              <a:rPr lang="en-US" sz="4000"/>
              <a:t>, Bing Li</a:t>
            </a:r>
            <a:r>
              <a:rPr baseline="30000" lang="en-US" sz="4000"/>
              <a:t>2</a:t>
            </a:r>
            <a:r>
              <a:rPr lang="en-US" sz="4000"/>
              <a:t>, Jianqiu Zheng</a:t>
            </a:r>
            <a:r>
              <a:rPr baseline="30000" lang="en-US" sz="4000"/>
              <a:t>2</a:t>
            </a:r>
            <a:r>
              <a:rPr lang="en-US" sz="4000"/>
              <a:t>,  Xingyuan Chen</a:t>
            </a:r>
            <a:r>
              <a:rPr baseline="30000" lang="en-US" sz="4000"/>
              <a:t>2</a:t>
            </a:r>
            <a:r>
              <a:rPr lang="en-US" sz="4000"/>
              <a:t>, Mike Weintraub</a:t>
            </a:r>
            <a:r>
              <a:rPr baseline="30000" lang="en-US" sz="4000"/>
              <a:t>4</a:t>
            </a:r>
            <a:r>
              <a:rPr lang="en-US" sz="4000"/>
              <a:t>, Nick Ward</a:t>
            </a:r>
            <a:r>
              <a:rPr baseline="30000" lang="en-US" sz="4000"/>
              <a:t>2</a:t>
            </a:r>
            <a:r>
              <a:rPr lang="en-US" sz="4000"/>
              <a:t>, Ken Kemner</a:t>
            </a:r>
            <a:r>
              <a:rPr baseline="30000" lang="en-US" sz="4000"/>
              <a:t>5</a:t>
            </a:r>
            <a:r>
              <a:rPr lang="en-US" sz="4000"/>
              <a:t>, and Vanessa Bailey</a:t>
            </a:r>
            <a:r>
              <a:rPr baseline="30000" lang="en-US" sz="4000"/>
              <a:t>2</a:t>
            </a:r>
            <a:endParaRPr/>
          </a:p>
          <a:p>
            <a:pPr indent="0" lvl="0" marL="0" rtl="0" algn="l">
              <a:spcBef>
                <a:spcPts val="240"/>
              </a:spcBef>
              <a:spcAft>
                <a:spcPts val="0"/>
              </a:spcAft>
              <a:buClr>
                <a:srgbClr val="595959"/>
              </a:buClr>
              <a:buSzPts val="120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rgbClr val="595959"/>
              </a:buClr>
              <a:buSzPts val="4000"/>
              <a:buNone/>
            </a:pPr>
            <a:r>
              <a:rPr baseline="30000" lang="en-US" sz="3600"/>
              <a:t>1</a:t>
            </a:r>
            <a:r>
              <a:rPr lang="en-US" sz="3600"/>
              <a:t>Smithsonian Environmental Research Center, MD, USA; </a:t>
            </a:r>
            <a:r>
              <a:rPr baseline="30000" lang="en-US" sz="3600"/>
              <a:t>2</a:t>
            </a:r>
            <a:r>
              <a:rPr lang="en-US" sz="3600"/>
              <a:t>Pacific Northwest National Laboratory, WA, USA; </a:t>
            </a:r>
            <a:r>
              <a:rPr baseline="30000" lang="en-US" sz="3600"/>
              <a:t>3</a:t>
            </a:r>
            <a:r>
              <a:rPr lang="en-US" sz="3600"/>
              <a:t>Joint Global Change Research Institute, MD, USA; </a:t>
            </a:r>
            <a:r>
              <a:rPr baseline="30000" lang="en-US" sz="3600"/>
              <a:t>4</a:t>
            </a:r>
            <a:r>
              <a:rPr lang="en-US" sz="3600"/>
              <a:t>University of Toledo, OH, USA; </a:t>
            </a:r>
            <a:r>
              <a:rPr baseline="30000" lang="en-US" sz="3600"/>
              <a:t>5</a:t>
            </a:r>
            <a:r>
              <a:rPr lang="en-US" sz="3600"/>
              <a:t>Argonne National Laboratory, IL, USA</a:t>
            </a:r>
            <a:endParaRPr sz="4400"/>
          </a:p>
        </p:txBody>
      </p:sp>
      <p:sp>
        <p:nvSpPr>
          <p:cNvPr id="40" name="Google Shape;40;g23f4fc96d9a_0_65"/>
          <p:cNvSpPr txBox="1"/>
          <p:nvPr/>
        </p:nvSpPr>
        <p:spPr>
          <a:xfrm>
            <a:off x="22986225" y="13821925"/>
            <a:ext cx="20638200" cy="41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</a:pPr>
            <a:r>
              <a:rPr lang="en-US" sz="4000">
                <a:solidFill>
                  <a:schemeClr val="dk1"/>
                </a:solidFill>
              </a:rPr>
              <a:t>Four (CB) transects from upland coastal forest to tidal wetland established </a:t>
            </a:r>
            <a:endParaRPr sz="4000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Continuous monitoring of water</a:t>
            </a:r>
            <a:r>
              <a:rPr lang="en-US" sz="4000">
                <a:solidFill>
                  <a:schemeClr val="dk1"/>
                </a:solidFill>
              </a:rPr>
              <a:t>, soil, and sap flow </a:t>
            </a: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across </a:t>
            </a:r>
            <a:r>
              <a:rPr lang="en-US" sz="4000">
                <a:solidFill>
                  <a:schemeClr val="dk1"/>
                </a:solidFill>
              </a:rPr>
              <a:t>the terrestrial-</a:t>
            </a:r>
            <a:r>
              <a:rPr lang="en-US" sz="4000">
                <a:solidFill>
                  <a:schemeClr val="dk1"/>
                </a:solidFill>
              </a:rPr>
              <a:t>aquatic</a:t>
            </a:r>
            <a:r>
              <a:rPr lang="en-US" sz="4000">
                <a:solidFill>
                  <a:schemeClr val="dk1"/>
                </a:solidFill>
              </a:rPr>
              <a:t> interface</a:t>
            </a:r>
            <a:endParaRPr/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Monthly </a:t>
            </a:r>
            <a:r>
              <a:rPr lang="en-US" sz="4000">
                <a:solidFill>
                  <a:schemeClr val="dk1"/>
                </a:solidFill>
              </a:rPr>
              <a:t> </a:t>
            </a: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redox </a:t>
            </a:r>
            <a:r>
              <a:rPr lang="en-US" sz="4000">
                <a:solidFill>
                  <a:schemeClr val="dk1"/>
                </a:solidFill>
              </a:rPr>
              <a:t>and</a:t>
            </a: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porewat</a:t>
            </a:r>
            <a:r>
              <a:rPr lang="en-US" sz="4000">
                <a:solidFill>
                  <a:schemeClr val="dk1"/>
                </a:solidFill>
              </a:rPr>
              <a:t>er profiles, greenhouse gas fluxes, </a:t>
            </a:r>
            <a:endParaRPr/>
          </a:p>
        </p:txBody>
      </p:sp>
      <p:grpSp>
        <p:nvGrpSpPr>
          <p:cNvPr id="41" name="Google Shape;41;g23f4fc96d9a_0_65"/>
          <p:cNvGrpSpPr/>
          <p:nvPr/>
        </p:nvGrpSpPr>
        <p:grpSpPr>
          <a:xfrm>
            <a:off x="28884839" y="8457422"/>
            <a:ext cx="14451133" cy="4925291"/>
            <a:chOff x="588863" y="9407958"/>
            <a:chExt cx="10686337" cy="3781704"/>
          </a:xfrm>
        </p:grpSpPr>
        <p:grpSp>
          <p:nvGrpSpPr>
            <p:cNvPr id="42" name="Google Shape;42;g23f4fc96d9a_0_65"/>
            <p:cNvGrpSpPr/>
            <p:nvPr/>
          </p:nvGrpSpPr>
          <p:grpSpPr>
            <a:xfrm>
              <a:off x="588863" y="9607314"/>
              <a:ext cx="10686337" cy="3582348"/>
              <a:chOff x="1205503" y="15903524"/>
              <a:chExt cx="9351012" cy="2802431"/>
            </a:xfrm>
          </p:grpSpPr>
          <p:sp>
            <p:nvSpPr>
              <p:cNvPr id="43" name="Google Shape;43;g23f4fc96d9a_0_65"/>
              <p:cNvSpPr txBox="1"/>
              <p:nvPr/>
            </p:nvSpPr>
            <p:spPr>
              <a:xfrm>
                <a:off x="5924325" y="18335237"/>
                <a:ext cx="2668200" cy="35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3200" u="none" strike="noStrike">
                    <a:solidFill>
                      <a:srgbClr val="AD9335"/>
                    </a:solidFill>
                    <a:latin typeface="Arial"/>
                    <a:ea typeface="Arial"/>
                    <a:cs typeface="Arial"/>
                    <a:sym typeface="Arial"/>
                  </a:rPr>
                  <a:t>Transition </a:t>
                </a:r>
                <a:endParaRPr b="0" sz="496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g23f4fc96d9a_0_65"/>
              <p:cNvSpPr txBox="1"/>
              <p:nvPr/>
            </p:nvSpPr>
            <p:spPr>
              <a:xfrm>
                <a:off x="3615900" y="18327135"/>
                <a:ext cx="2015100" cy="35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3200" u="none" strike="noStrike">
                    <a:solidFill>
                      <a:srgbClr val="7F7F7F"/>
                    </a:solidFill>
                    <a:latin typeface="Arial"/>
                    <a:ea typeface="Arial"/>
                    <a:cs typeface="Arial"/>
                    <a:sym typeface="Arial"/>
                  </a:rPr>
                  <a:t>Upland </a:t>
                </a:r>
                <a:endParaRPr sz="496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g23f4fc96d9a_0_65"/>
              <p:cNvSpPr txBox="1"/>
              <p:nvPr/>
            </p:nvSpPr>
            <p:spPr>
              <a:xfrm>
                <a:off x="8346715" y="18354655"/>
                <a:ext cx="2209800" cy="35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3200" u="none" strike="noStrike">
                    <a:solidFill>
                      <a:srgbClr val="214A2B"/>
                    </a:solidFill>
                    <a:latin typeface="Arial"/>
                    <a:ea typeface="Arial"/>
                    <a:cs typeface="Arial"/>
                    <a:sym typeface="Arial"/>
                  </a:rPr>
                  <a:t>Wetland </a:t>
                </a:r>
                <a:endParaRPr sz="496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6" name="Google Shape;46;g23f4fc96d9a_0_65"/>
              <p:cNvGrpSpPr/>
              <p:nvPr/>
            </p:nvGrpSpPr>
            <p:grpSpPr>
              <a:xfrm>
                <a:off x="1205503" y="15903524"/>
                <a:ext cx="9147416" cy="2759920"/>
                <a:chOff x="1175841" y="7898705"/>
                <a:chExt cx="9147416" cy="2759920"/>
              </a:xfrm>
            </p:grpSpPr>
            <p:pic>
              <p:nvPicPr>
                <p:cNvPr id="47" name="Google Shape;47;g23f4fc96d9a_0_65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10001" l="23499" r="55500" t="37555"/>
                <a:stretch/>
              </p:blipFill>
              <p:spPr>
                <a:xfrm>
                  <a:off x="1175841" y="7898705"/>
                  <a:ext cx="1964688" cy="275992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pic>
            <p:pic>
              <p:nvPicPr>
                <p:cNvPr id="48" name="Google Shape;48;g23f4fc96d9a_0_65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28777" l="0" r="0" t="28815"/>
                <a:stretch/>
              </p:blipFill>
              <p:spPr>
                <a:xfrm>
                  <a:off x="3657600" y="8315169"/>
                  <a:ext cx="6553201" cy="185152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9" name="Google Shape;49;g23f4fc96d9a_0_65"/>
                <p:cNvSpPr/>
                <p:nvPr/>
              </p:nvSpPr>
              <p:spPr>
                <a:xfrm rot="-5400000">
                  <a:off x="2022373" y="8768024"/>
                  <a:ext cx="2072781" cy="965173"/>
                </a:xfrm>
                <a:custGeom>
                  <a:rect b="b" l="l" r="r" t="t"/>
                  <a:pathLst>
                    <a:path extrusionOk="0" h="1081426" w="1858996">
                      <a:moveTo>
                        <a:pt x="0" y="1081426"/>
                      </a:moveTo>
                      <a:lnTo>
                        <a:pt x="1405748" y="0"/>
                      </a:lnTo>
                      <a:lnTo>
                        <a:pt x="1858996" y="1081426"/>
                      </a:lnTo>
                      <a:lnTo>
                        <a:pt x="0" y="1081426"/>
                      </a:lnTo>
                      <a:close/>
                    </a:path>
                  </a:pathLst>
                </a:custGeom>
                <a:solidFill>
                  <a:srgbClr val="A6A6A6">
                    <a:alpha val="60000"/>
                  </a:srgbClr>
                </a:solidFill>
                <a:ln cap="flat" cmpd="sng" w="25400">
                  <a:solidFill>
                    <a:srgbClr val="7F7F7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496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" name="Google Shape;50;g23f4fc96d9a_0_65"/>
                <p:cNvSpPr/>
                <p:nvPr/>
              </p:nvSpPr>
              <p:spPr>
                <a:xfrm>
                  <a:off x="3545120" y="8214641"/>
                  <a:ext cx="2007600" cy="2072400"/>
                </a:xfrm>
                <a:prstGeom prst="rect">
                  <a:avLst/>
                </a:prstGeom>
                <a:noFill/>
                <a:ln cap="flat" cmpd="sng" w="57150">
                  <a:solidFill>
                    <a:srgbClr val="77746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496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" name="Google Shape;51;g23f4fc96d9a_0_65"/>
                <p:cNvSpPr/>
                <p:nvPr/>
              </p:nvSpPr>
              <p:spPr>
                <a:xfrm>
                  <a:off x="6079668" y="8214641"/>
                  <a:ext cx="2209800" cy="2072400"/>
                </a:xfrm>
                <a:prstGeom prst="rect">
                  <a:avLst/>
                </a:prstGeom>
                <a:noFill/>
                <a:ln cap="flat" cmpd="sng" w="57150">
                  <a:solidFill>
                    <a:srgbClr val="AD933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496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" name="Google Shape;52;g23f4fc96d9a_0_65"/>
                <p:cNvSpPr/>
                <p:nvPr/>
              </p:nvSpPr>
              <p:spPr>
                <a:xfrm>
                  <a:off x="8516357" y="8214641"/>
                  <a:ext cx="1806900" cy="2072400"/>
                </a:xfrm>
                <a:prstGeom prst="rect">
                  <a:avLst/>
                </a:prstGeom>
                <a:noFill/>
                <a:ln cap="flat" cmpd="sng" w="57150">
                  <a:solidFill>
                    <a:srgbClr val="214A2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496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" name="Google Shape;53;g23f4fc96d9a_0_65"/>
                <p:cNvSpPr txBox="1"/>
                <p:nvPr/>
              </p:nvSpPr>
              <p:spPr>
                <a:xfrm>
                  <a:off x="1333226" y="8068938"/>
                  <a:ext cx="1466100" cy="314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GCReW</a:t>
                  </a:r>
                  <a:endParaRPr/>
                </a:p>
              </p:txBody>
            </p:sp>
            <p:sp>
              <p:nvSpPr>
                <p:cNvPr id="54" name="Google Shape;54;g23f4fc96d9a_0_65"/>
                <p:cNvSpPr txBox="1"/>
                <p:nvPr/>
              </p:nvSpPr>
              <p:spPr>
                <a:xfrm>
                  <a:off x="1477881" y="8745550"/>
                  <a:ext cx="1466100" cy="351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Money</a:t>
                  </a:r>
                  <a:r>
                    <a:rPr lang="en-US" sz="32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</a:t>
                  </a:r>
                  <a:r>
                    <a:rPr lang="en-US" sz="2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Stump</a:t>
                  </a:r>
                  <a:endParaRPr sz="3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" name="Google Shape;55;g23f4fc96d9a_0_65"/>
                <p:cNvSpPr txBox="1"/>
                <p:nvPr/>
              </p:nvSpPr>
              <p:spPr>
                <a:xfrm>
                  <a:off x="2288788" y="9875437"/>
                  <a:ext cx="1323900" cy="573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Goodwin Islands</a:t>
                  </a:r>
                  <a:endParaRPr/>
                </a:p>
              </p:txBody>
            </p:sp>
            <p:sp>
              <p:nvSpPr>
                <p:cNvPr id="56" name="Google Shape;56;g23f4fc96d9a_0_65"/>
                <p:cNvSpPr txBox="1"/>
                <p:nvPr/>
              </p:nvSpPr>
              <p:spPr>
                <a:xfrm>
                  <a:off x="1250648" y="9325765"/>
                  <a:ext cx="1466100" cy="314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Sweethall</a:t>
                  </a:r>
                  <a:endParaRPr/>
                </a:p>
              </p:txBody>
            </p:sp>
          </p:grpSp>
        </p:grpSp>
        <p:pic>
          <p:nvPicPr>
            <p:cNvPr id="57" name="Google Shape;57;g23f4fc96d9a_0_6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884107" y="9407958"/>
              <a:ext cx="3920968" cy="4923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8" name="Google Shape;58;g23f4fc96d9a_0_6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845365" y="11604000"/>
            <a:ext cx="7703100" cy="3873424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g23f4fc96d9a_0_65"/>
          <p:cNvSpPr txBox="1"/>
          <p:nvPr>
            <p:ph idx="2" type="body"/>
          </p:nvPr>
        </p:nvSpPr>
        <p:spPr>
          <a:xfrm>
            <a:off x="874825" y="8274825"/>
            <a:ext cx="20638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4A2B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214A2B"/>
                </a:solidFill>
                <a:latin typeface="Arial"/>
                <a:ea typeface="Arial"/>
                <a:cs typeface="Arial"/>
                <a:sym typeface="Arial"/>
              </a:rPr>
              <a:t>Background:	   </a:t>
            </a: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Sea level rise drives spatial migration of coastal ecosystems and can lead to the replacement of coastal forests with tidal wetlands. Stressed or dead trees are</a:t>
            </a:r>
            <a:r>
              <a:rPr lang="en-US" sz="4000"/>
              <a:t> </a:t>
            </a: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indicators of forest conversion</a:t>
            </a:r>
            <a:r>
              <a:rPr lang="en-US" sz="4000"/>
              <a:t> </a:t>
            </a: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wetland, but </a:t>
            </a:r>
            <a:r>
              <a:rPr b="0" i="0" lang="en-US" sz="4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carbon cycling and soil biogeochemistry are also altered significantly during this ecosystem state </a:t>
            </a:r>
            <a:r>
              <a:rPr lang="en-US" sz="4000" u="sng"/>
              <a:t>change</a:t>
            </a: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4000"/>
              <a:t>B</a:t>
            </a: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iogeochemistry and vegetation</a:t>
            </a:r>
            <a:r>
              <a:rPr lang="en-US" sz="4000"/>
              <a:t> shifts </a:t>
            </a: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may occur on different timescales and influence ecosystem function.</a:t>
            </a:r>
            <a:endParaRPr/>
          </a:p>
        </p:txBody>
      </p:sp>
      <p:sp>
        <p:nvSpPr>
          <p:cNvPr id="60" name="Google Shape;60;g23f4fc96d9a_0_65"/>
          <p:cNvSpPr/>
          <p:nvPr/>
        </p:nvSpPr>
        <p:spPr>
          <a:xfrm>
            <a:off x="874825" y="11648100"/>
            <a:ext cx="13807800" cy="3894300"/>
          </a:xfrm>
          <a:prstGeom prst="rect">
            <a:avLst/>
          </a:prstGeom>
          <a:solidFill>
            <a:srgbClr val="67AA78">
              <a:alpha val="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96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g23f4fc96d9a_0_65"/>
          <p:cNvSpPr txBox="1"/>
          <p:nvPr/>
        </p:nvSpPr>
        <p:spPr>
          <a:xfrm>
            <a:off x="1475825" y="11604000"/>
            <a:ext cx="129318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4A2B"/>
              </a:buClr>
              <a:buSzPts val="4400"/>
              <a:buFont typeface="Arial"/>
              <a:buNone/>
            </a:pPr>
            <a:r>
              <a:rPr b="1" lang="en-US" sz="4200">
                <a:solidFill>
                  <a:srgbClr val="214A2B"/>
                </a:solidFill>
                <a:latin typeface="Arial"/>
                <a:ea typeface="Arial"/>
                <a:cs typeface="Arial"/>
                <a:sym typeface="Arial"/>
              </a:rPr>
              <a:t>Hypothesis</a:t>
            </a:r>
            <a:r>
              <a:rPr lang="en-US" sz="4200">
                <a:solidFill>
                  <a:srgbClr val="214A2B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 is a hierarchical structure to </a:t>
            </a:r>
            <a:r>
              <a:rPr lang="en-US" sz="4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spatial </a:t>
            </a: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variation in ecosystem structure and function at the coastal terrestrial-aquatic interface set by:</a:t>
            </a:r>
            <a:r>
              <a:rPr lang="en-US" sz="4200">
                <a:solidFill>
                  <a:schemeClr val="dk1"/>
                </a:solidFill>
              </a:rPr>
              <a:t> </a:t>
            </a: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1) the </a:t>
            </a:r>
            <a:r>
              <a:rPr b="1"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depth and duration of soil saturation</a:t>
            </a:r>
            <a:r>
              <a:rPr b="1" lang="en-US" sz="4200"/>
              <a:t>, </a:t>
            </a: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2) the abundance of </a:t>
            </a:r>
            <a:r>
              <a:rPr b="1"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redox-sensitive elements</a:t>
            </a:r>
            <a:r>
              <a:rPr lang="en-US" sz="4200">
                <a:solidFill>
                  <a:schemeClr val="dk1"/>
                </a:solidFill>
              </a:rPr>
              <a:t>, </a:t>
            </a: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3) their </a:t>
            </a:r>
            <a:r>
              <a:rPr b="1"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interactions with plant traits</a:t>
            </a:r>
            <a:endParaRPr sz="4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g23f4fc96d9a_0_65"/>
          <p:cNvSpPr txBox="1"/>
          <p:nvPr/>
        </p:nvSpPr>
        <p:spPr>
          <a:xfrm>
            <a:off x="1149188" y="24173338"/>
            <a:ext cx="12165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52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Fig.1. Water level overtime</a:t>
            </a:r>
            <a:r>
              <a:rPr i="1" lang="en-US" sz="3600">
                <a:solidFill>
                  <a:schemeClr val="dk1"/>
                </a:solidFill>
              </a:rPr>
              <a:t> </a:t>
            </a:r>
            <a:r>
              <a:rPr i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across zones</a:t>
            </a:r>
            <a:r>
              <a:rPr i="1" lang="en-US" sz="3600">
                <a:solidFill>
                  <a:schemeClr val="dk1"/>
                </a:solidFill>
              </a:rPr>
              <a:t> at synoptic sites</a:t>
            </a:r>
            <a:r>
              <a:rPr i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63" name="Google Shape;63;g23f4fc96d9a_0_65"/>
          <p:cNvSpPr txBox="1"/>
          <p:nvPr/>
        </p:nvSpPr>
        <p:spPr>
          <a:xfrm>
            <a:off x="14003226" y="16359675"/>
            <a:ext cx="8341500" cy="7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52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214A2B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/>
          </a:p>
          <a:p>
            <a:pPr indent="-342900" lvl="0" marL="4953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Water level gradient across zones and varying hydrologic conditions across sites </a:t>
            </a:r>
            <a:endParaRPr/>
          </a:p>
          <a:p>
            <a:pPr indent="-342900" lvl="0" marL="4953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Transition </a:t>
            </a:r>
            <a:r>
              <a:rPr lang="en-US" sz="4000">
                <a:solidFill>
                  <a:schemeClr val="dk1"/>
                </a:solidFill>
              </a:rPr>
              <a:t>zones </a:t>
            </a: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highly variable, creating hot spots and hot moments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500" lvl="0" marL="4953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n-US" sz="4000">
                <a:solidFill>
                  <a:schemeClr val="dk1"/>
                </a:solidFill>
              </a:rPr>
              <a:t>This aligns with model results indicating that the distribution of oxygen in transition and wetland regions is significantly influenced by both precipitation and inundation events. </a:t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64" name="Google Shape;64;g23f4fc96d9a_0_65"/>
          <p:cNvSpPr txBox="1"/>
          <p:nvPr/>
        </p:nvSpPr>
        <p:spPr>
          <a:xfrm>
            <a:off x="820863" y="38551600"/>
            <a:ext cx="104229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52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Fig.</a:t>
            </a:r>
            <a:r>
              <a:rPr i="1" lang="en-US" sz="3600">
                <a:solidFill>
                  <a:schemeClr val="dk1"/>
                </a:solidFill>
              </a:rPr>
              <a:t>3</a:t>
            </a:r>
            <a:r>
              <a:rPr i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Redox potential profiles  across zones.  </a:t>
            </a:r>
            <a:endParaRPr/>
          </a:p>
        </p:txBody>
      </p:sp>
      <p:pic>
        <p:nvPicPr>
          <p:cNvPr id="65" name="Google Shape;65;g23f4fc96d9a_0_6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3428125" y="16632501"/>
            <a:ext cx="9873000" cy="66680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" name="Google Shape;66;g23f4fc96d9a_0_65"/>
          <p:cNvCxnSpPr/>
          <p:nvPr/>
        </p:nvCxnSpPr>
        <p:spPr>
          <a:xfrm flipH="1" rot="10800000">
            <a:off x="358489" y="8017350"/>
            <a:ext cx="43174200" cy="128700"/>
          </a:xfrm>
          <a:prstGeom prst="straightConnector1">
            <a:avLst/>
          </a:prstGeom>
          <a:noFill/>
          <a:ln cap="flat" cmpd="sng" w="28575">
            <a:solidFill>
              <a:srgbClr val="41975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7" name="Google Shape;67;g23f4fc96d9a_0_6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4826" y="32410113"/>
            <a:ext cx="8473539" cy="586672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g23f4fc96d9a_0_65"/>
          <p:cNvSpPr txBox="1"/>
          <p:nvPr/>
        </p:nvSpPr>
        <p:spPr>
          <a:xfrm>
            <a:off x="22899662" y="23438096"/>
            <a:ext cx="9873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52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Fig.</a:t>
            </a:r>
            <a:r>
              <a:rPr i="1" lang="en-US" sz="3600">
                <a:solidFill>
                  <a:schemeClr val="dk1"/>
                </a:solidFill>
              </a:rPr>
              <a:t>4</a:t>
            </a:r>
            <a:r>
              <a:rPr i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Porewater sulfate concentration</a:t>
            </a:r>
            <a:r>
              <a:rPr i="1" lang="en-US" sz="3600">
                <a:solidFill>
                  <a:schemeClr val="dk1"/>
                </a:solidFill>
              </a:rPr>
              <a:t> profiles</a:t>
            </a:r>
            <a:r>
              <a:rPr i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 </a:t>
            </a:r>
            <a:endParaRPr/>
          </a:p>
        </p:txBody>
      </p:sp>
      <p:sp>
        <p:nvSpPr>
          <p:cNvPr id="69" name="Google Shape;69;g23f4fc96d9a_0_65"/>
          <p:cNvSpPr txBox="1"/>
          <p:nvPr/>
        </p:nvSpPr>
        <p:spPr>
          <a:xfrm>
            <a:off x="19819063" y="35798250"/>
            <a:ext cx="22974000" cy="38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4A2B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214A2B"/>
                </a:solidFill>
                <a:latin typeface="Arial"/>
                <a:ea typeface="Arial"/>
                <a:cs typeface="Arial"/>
                <a:sym typeface="Arial"/>
              </a:rPr>
              <a:t>Take home messages:</a:t>
            </a:r>
            <a:r>
              <a:rPr lang="en-US"/>
              <a:t> </a:t>
            </a:r>
            <a:r>
              <a:rPr lang="en-US" sz="4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Inundation depth and duration are a major drivers </a:t>
            </a:r>
            <a:r>
              <a:rPr lang="en-US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structure and function at the coastal terrestrial aquatic interface. Changes in soil biogeochemistry and vegetation during marsh migration occur on </a:t>
            </a:r>
            <a:r>
              <a:rPr i="1" lang="en-US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timescales</a:t>
            </a:r>
            <a:r>
              <a:rPr lang="en-US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This </a:t>
            </a:r>
            <a:r>
              <a:rPr lang="en-US" sz="4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asynchrony will influence ecosystem function </a:t>
            </a:r>
            <a:r>
              <a:rPr lang="en-US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is critical to the framework to how we will accurately model these systems</a:t>
            </a:r>
            <a:r>
              <a:rPr lang="en-US" sz="4400">
                <a:solidFill>
                  <a:schemeClr val="dk1"/>
                </a:solidFill>
              </a:rPr>
              <a:t>. The synoptic site monitoring data will serve as model inputs to better predict changes across the terrestrial-aquatic interface. </a:t>
            </a:r>
            <a:endParaRPr/>
          </a:p>
        </p:txBody>
      </p:sp>
      <p:pic>
        <p:nvPicPr>
          <p:cNvPr id="70" name="Google Shape;70;g23f4fc96d9a_0_65"/>
          <p:cNvPicPr preferRelativeResize="0"/>
          <p:nvPr/>
        </p:nvPicPr>
        <p:blipFill rotWithShape="1">
          <a:blip r:embed="rId10">
            <a:alphaModFix/>
          </a:blip>
          <a:srcRect b="7381" l="0" r="0" t="0"/>
          <a:stretch/>
        </p:blipFill>
        <p:spPr>
          <a:xfrm>
            <a:off x="22873125" y="24679512"/>
            <a:ext cx="10983001" cy="9451722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g23f4fc96d9a_0_65"/>
          <p:cNvSpPr txBox="1"/>
          <p:nvPr/>
        </p:nvSpPr>
        <p:spPr>
          <a:xfrm>
            <a:off x="9348377" y="32952875"/>
            <a:ext cx="7703100" cy="40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95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Lower redox potential suggests more reducing conditions</a:t>
            </a:r>
            <a:endParaRPr/>
          </a:p>
          <a:p>
            <a:pPr indent="-342900" lvl="0" marL="4953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Horizontal and depth gradients driven by hydrology</a:t>
            </a:r>
            <a:r>
              <a:rPr lang="en-US" sz="4000">
                <a:solidFill>
                  <a:schemeClr val="dk1"/>
                </a:solidFill>
              </a:rPr>
              <a:t> and</a:t>
            </a: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inunda</a:t>
            </a:r>
            <a:r>
              <a:rPr lang="en-US" sz="4000">
                <a:solidFill>
                  <a:schemeClr val="dk1"/>
                </a:solidFill>
              </a:rPr>
              <a:t>tion frequency that alter </a:t>
            </a: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soil moisture across zones</a:t>
            </a:r>
            <a:endParaRPr/>
          </a:p>
        </p:txBody>
      </p:sp>
      <p:sp>
        <p:nvSpPr>
          <p:cNvPr id="72" name="Google Shape;72;g23f4fc96d9a_0_65"/>
          <p:cNvSpPr txBox="1"/>
          <p:nvPr/>
        </p:nvSpPr>
        <p:spPr>
          <a:xfrm>
            <a:off x="33753274" y="16804075"/>
            <a:ext cx="9033900" cy="58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95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Porewater sulfate concentrations directly linked to salinity and conductivity</a:t>
            </a:r>
            <a:endParaRPr/>
          </a:p>
          <a:p>
            <a:pPr indent="-342900" lvl="0" marL="4953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Profiles across zones match hydrology and soil moisture </a:t>
            </a:r>
            <a:endParaRPr sz="4000">
              <a:solidFill>
                <a:schemeClr val="dk1"/>
              </a:solidFill>
            </a:endParaRPr>
          </a:p>
          <a:p>
            <a:pPr indent="-342900" lvl="0" marL="4953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4000">
                <a:solidFill>
                  <a:schemeClr val="dk1"/>
                </a:solidFill>
              </a:rPr>
              <a:t>The availability of sulfate will influence soil function, as it a provides more energetically favorable reaction than methanogenesis</a:t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73" name="Google Shape;73;g23f4fc96d9a_0_65"/>
          <p:cNvSpPr txBox="1"/>
          <p:nvPr/>
        </p:nvSpPr>
        <p:spPr>
          <a:xfrm>
            <a:off x="33965975" y="26792902"/>
            <a:ext cx="9033900" cy="6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95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Transition soils are shifting from sinks to sources of CH</a:t>
            </a:r>
            <a:r>
              <a:rPr baseline="-25000"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</a:t>
            </a:r>
            <a:endParaRPr/>
          </a:p>
          <a:p>
            <a:pPr indent="-342900" lvl="0" marL="4953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Soil function with respect to CH</a:t>
            </a:r>
            <a:r>
              <a:rPr baseline="-25000"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shifting prior to mass tree mortality</a:t>
            </a:r>
            <a:endParaRPr/>
          </a:p>
          <a:p>
            <a:pPr indent="-342900" lvl="0" marL="4953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4000">
                <a:solidFill>
                  <a:schemeClr val="dk1"/>
                </a:solidFill>
              </a:rPr>
              <a:t>Consistent pattern o</a:t>
            </a: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bserved across site salinities and following the hydrologic gradient</a:t>
            </a:r>
            <a:endParaRPr/>
          </a:p>
          <a:p>
            <a:pPr indent="-342900" lvl="0" marL="4953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4000">
                <a:solidFill>
                  <a:schemeClr val="dk1"/>
                </a:solidFill>
              </a:rPr>
              <a:t>These data s</a:t>
            </a: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upport that inundation may be more important to ecosystem function with respect to CH</a:t>
            </a:r>
            <a:r>
              <a:rPr baseline="-25000"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</a:t>
            </a:r>
            <a:r>
              <a:rPr lang="en-US" sz="4000">
                <a:solidFill>
                  <a:schemeClr val="dk1"/>
                </a:solidFill>
              </a:rPr>
              <a:t>than redox sensitive elements. </a:t>
            </a:r>
            <a:endParaRPr/>
          </a:p>
        </p:txBody>
      </p:sp>
      <p:sp>
        <p:nvSpPr>
          <p:cNvPr id="74" name="Google Shape;74;g23f4fc96d9a_0_65"/>
          <p:cNvSpPr txBox="1"/>
          <p:nvPr/>
        </p:nvSpPr>
        <p:spPr>
          <a:xfrm>
            <a:off x="22986225" y="34131225"/>
            <a:ext cx="103149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52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Fig.</a:t>
            </a:r>
            <a:r>
              <a:rPr i="1" lang="en-US" sz="3600">
                <a:solidFill>
                  <a:schemeClr val="dk1"/>
                </a:solidFill>
              </a:rPr>
              <a:t>5.</a:t>
            </a:r>
            <a:r>
              <a:rPr i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Soil CH</a:t>
            </a:r>
            <a:r>
              <a:rPr baseline="-25000" i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i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fluxes </a:t>
            </a:r>
            <a:r>
              <a:rPr i="1" lang="en-US" sz="3600">
                <a:solidFill>
                  <a:schemeClr val="dk1"/>
                </a:solidFill>
              </a:rPr>
              <a:t>across synoptic transects.</a:t>
            </a:r>
            <a:r>
              <a:rPr i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grpSp>
        <p:nvGrpSpPr>
          <p:cNvPr id="75" name="Google Shape;75;g23f4fc96d9a_0_65"/>
          <p:cNvGrpSpPr/>
          <p:nvPr/>
        </p:nvGrpSpPr>
        <p:grpSpPr>
          <a:xfrm>
            <a:off x="33577789" y="24679502"/>
            <a:ext cx="9810272" cy="1678532"/>
            <a:chOff x="32229176" y="27410852"/>
            <a:chExt cx="9810272" cy="1678532"/>
          </a:xfrm>
        </p:grpSpPr>
        <p:pic>
          <p:nvPicPr>
            <p:cNvPr id="76" name="Google Shape;76;g23f4fc96d9a_0_6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4190106" y="27933095"/>
              <a:ext cx="5708094" cy="6932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" name="Google Shape;77;g23f4fc96d9a_0_65"/>
            <p:cNvSpPr txBox="1"/>
            <p:nvPr/>
          </p:nvSpPr>
          <p:spPr>
            <a:xfrm>
              <a:off x="32229176" y="27410852"/>
              <a:ext cx="19608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960">
                  <a:solidFill>
                    <a:srgbClr val="616265"/>
                  </a:solidFill>
                  <a:latin typeface="Calibri"/>
                  <a:ea typeface="Calibri"/>
                  <a:cs typeface="Calibri"/>
                  <a:sym typeface="Calibri"/>
                </a:rPr>
                <a:t>CH</a:t>
              </a:r>
              <a:r>
                <a:rPr b="1" baseline="-25000" lang="en-US" sz="4960">
                  <a:solidFill>
                    <a:srgbClr val="616265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r>
                <a:rPr b="1" lang="en-US" sz="4960">
                  <a:solidFill>
                    <a:srgbClr val="616265"/>
                  </a:solidFill>
                  <a:latin typeface="Calibri"/>
                  <a:ea typeface="Calibri"/>
                  <a:cs typeface="Calibri"/>
                  <a:sym typeface="Calibri"/>
                </a:rPr>
                <a:t> Sink</a:t>
              </a:r>
              <a:endParaRPr/>
            </a:p>
          </p:txBody>
        </p:sp>
        <p:sp>
          <p:nvSpPr>
            <p:cNvPr id="78" name="Google Shape;78;g23f4fc96d9a_0_65"/>
            <p:cNvSpPr txBox="1"/>
            <p:nvPr/>
          </p:nvSpPr>
          <p:spPr>
            <a:xfrm>
              <a:off x="40078648" y="27470284"/>
              <a:ext cx="19608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960">
                  <a:solidFill>
                    <a:srgbClr val="3D6134"/>
                  </a:solidFill>
                  <a:latin typeface="Calibri"/>
                  <a:ea typeface="Calibri"/>
                  <a:cs typeface="Calibri"/>
                  <a:sym typeface="Calibri"/>
                </a:rPr>
                <a:t>CH</a:t>
              </a:r>
              <a:r>
                <a:rPr b="1" baseline="-25000" lang="en-US" sz="4960">
                  <a:solidFill>
                    <a:srgbClr val="3D6134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r>
                <a:rPr b="1" lang="en-US" sz="4960">
                  <a:solidFill>
                    <a:srgbClr val="3D6134"/>
                  </a:solidFill>
                  <a:latin typeface="Calibri"/>
                  <a:ea typeface="Calibri"/>
                  <a:cs typeface="Calibri"/>
                  <a:sym typeface="Calibri"/>
                </a:rPr>
                <a:t> Source</a:t>
              </a:r>
              <a:endParaRPr/>
            </a:p>
          </p:txBody>
        </p:sp>
      </p:grpSp>
      <p:graphicFrame>
        <p:nvGraphicFramePr>
          <p:cNvPr id="79" name="Google Shape;79;g23f4fc96d9a_0_65"/>
          <p:cNvGraphicFramePr/>
          <p:nvPr/>
        </p:nvGraphicFramePr>
        <p:xfrm>
          <a:off x="22711213" y="8691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{5B915503-3861-4976-90DD-61954201B4D3}</a:tableStyleId>
              </a:tblPr>
              <a:tblGrid>
                <a:gridCol w="3476450"/>
                <a:gridCol w="2231650"/>
              </a:tblGrid>
              <a:tr h="928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Site</a:t>
                      </a:r>
                      <a:endParaRPr sz="35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Salinity</a:t>
                      </a:r>
                      <a:endParaRPr sz="35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</a:tr>
              <a:tr h="928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Sweethall</a:t>
                      </a:r>
                      <a:endParaRPr sz="3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0-2</a:t>
                      </a:r>
                      <a:endParaRPr sz="3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8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GCReW</a:t>
                      </a:r>
                      <a:endParaRPr sz="3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8-10</a:t>
                      </a:r>
                      <a:endParaRPr sz="3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8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MoneyS tump</a:t>
                      </a:r>
                      <a:endParaRPr sz="3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8-10</a:t>
                      </a:r>
                      <a:endParaRPr sz="3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8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Goodwin Islands</a:t>
                      </a:r>
                      <a:endParaRPr sz="3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18-20</a:t>
                      </a:r>
                      <a:endParaRPr sz="3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0" name="Google Shape;80;g23f4fc96d9a_0_65"/>
          <p:cNvPicPr preferRelativeResize="0"/>
          <p:nvPr/>
        </p:nvPicPr>
        <p:blipFill rotWithShape="1">
          <a:blip r:embed="rId11">
            <a:alphaModFix/>
          </a:blip>
          <a:srcRect b="0" l="7404" r="17424" t="4761"/>
          <a:stretch/>
        </p:blipFill>
        <p:spPr>
          <a:xfrm>
            <a:off x="733263" y="25064363"/>
            <a:ext cx="20159657" cy="58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g23f4fc96d9a_0_65"/>
          <p:cNvPicPr preferRelativeResize="0"/>
          <p:nvPr/>
        </p:nvPicPr>
        <p:blipFill rotWithShape="1">
          <a:blip r:embed="rId12">
            <a:alphaModFix/>
          </a:blip>
          <a:srcRect b="4351" l="0" r="0" t="0"/>
          <a:stretch/>
        </p:blipFill>
        <p:spPr>
          <a:xfrm>
            <a:off x="820863" y="16396613"/>
            <a:ext cx="12931699" cy="7518523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g23f4fc96d9a_0_65"/>
          <p:cNvSpPr txBox="1"/>
          <p:nvPr/>
        </p:nvSpPr>
        <p:spPr>
          <a:xfrm>
            <a:off x="1149187" y="31045750"/>
            <a:ext cx="180918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52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Fig.</a:t>
            </a:r>
            <a:r>
              <a:rPr i="1" lang="en-US" sz="3600">
                <a:solidFill>
                  <a:schemeClr val="dk1"/>
                </a:solidFill>
              </a:rPr>
              <a:t>2</a:t>
            </a:r>
            <a:r>
              <a:rPr i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i="1" lang="en-US" sz="3600">
                <a:solidFill>
                  <a:schemeClr val="dk1"/>
                </a:solidFill>
              </a:rPr>
              <a:t>Distribution of oxygen concentration during two extreme weather events: the largest precipitation event and the strongest inundation event</a:t>
            </a:r>
            <a:r>
              <a:rPr i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(ATS-PF</a:t>
            </a:r>
            <a:r>
              <a:rPr i="1" lang="en-US" sz="3600">
                <a:solidFill>
                  <a:schemeClr val="dk1"/>
                </a:solidFill>
              </a:rPr>
              <a:t>LOTRAN)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2012-11-30T02:20:55Z</dcterms:created>
  <dc:creator>Windows User</dc:creator>
</cp:coreProperties>
</file>