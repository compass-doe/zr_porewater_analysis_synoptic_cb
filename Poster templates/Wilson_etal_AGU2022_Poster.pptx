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61" r:id="rId2"/>
  </p:sldIdLst>
  <p:sldSz cx="32918400" cy="21945600"/>
  <p:notesSz cx="7010400" cy="9296400"/>
  <p:defaultTextStyle>
    <a:defPPr>
      <a:defRPr lang="en-US"/>
    </a:defPPr>
    <a:lvl1pPr marL="0" algn="l" defTabSz="1567510" rtl="0" eaLnBrk="1" latinLnBrk="0" hangingPunct="1">
      <a:defRPr sz="3100" kern="1200">
        <a:solidFill>
          <a:schemeClr val="tx1"/>
        </a:solidFill>
        <a:latin typeface="+mn-lt"/>
        <a:ea typeface="+mn-ea"/>
        <a:cs typeface="+mn-cs"/>
      </a:defRPr>
    </a:lvl1pPr>
    <a:lvl2pPr marL="783755" algn="l" defTabSz="1567510" rtl="0" eaLnBrk="1" latinLnBrk="0" hangingPunct="1">
      <a:defRPr sz="3100" kern="1200">
        <a:solidFill>
          <a:schemeClr val="tx1"/>
        </a:solidFill>
        <a:latin typeface="+mn-lt"/>
        <a:ea typeface="+mn-ea"/>
        <a:cs typeface="+mn-cs"/>
      </a:defRPr>
    </a:lvl2pPr>
    <a:lvl3pPr marL="1567510" algn="l" defTabSz="1567510" rtl="0" eaLnBrk="1" latinLnBrk="0" hangingPunct="1">
      <a:defRPr sz="3100" kern="1200">
        <a:solidFill>
          <a:schemeClr val="tx1"/>
        </a:solidFill>
        <a:latin typeface="+mn-lt"/>
        <a:ea typeface="+mn-ea"/>
        <a:cs typeface="+mn-cs"/>
      </a:defRPr>
    </a:lvl3pPr>
    <a:lvl4pPr marL="2351266" algn="l" defTabSz="1567510" rtl="0" eaLnBrk="1" latinLnBrk="0" hangingPunct="1">
      <a:defRPr sz="3100" kern="1200">
        <a:solidFill>
          <a:schemeClr val="tx1"/>
        </a:solidFill>
        <a:latin typeface="+mn-lt"/>
        <a:ea typeface="+mn-ea"/>
        <a:cs typeface="+mn-cs"/>
      </a:defRPr>
    </a:lvl4pPr>
    <a:lvl5pPr marL="3135021" algn="l" defTabSz="1567510" rtl="0" eaLnBrk="1" latinLnBrk="0" hangingPunct="1">
      <a:defRPr sz="3100" kern="1200">
        <a:solidFill>
          <a:schemeClr val="tx1"/>
        </a:solidFill>
        <a:latin typeface="+mn-lt"/>
        <a:ea typeface="+mn-ea"/>
        <a:cs typeface="+mn-cs"/>
      </a:defRPr>
    </a:lvl5pPr>
    <a:lvl6pPr marL="3918776" algn="l" defTabSz="1567510" rtl="0" eaLnBrk="1" latinLnBrk="0" hangingPunct="1">
      <a:defRPr sz="3100" kern="1200">
        <a:solidFill>
          <a:schemeClr val="tx1"/>
        </a:solidFill>
        <a:latin typeface="+mn-lt"/>
        <a:ea typeface="+mn-ea"/>
        <a:cs typeface="+mn-cs"/>
      </a:defRPr>
    </a:lvl6pPr>
    <a:lvl7pPr marL="4702531" algn="l" defTabSz="1567510" rtl="0" eaLnBrk="1" latinLnBrk="0" hangingPunct="1">
      <a:defRPr sz="3100" kern="1200">
        <a:solidFill>
          <a:schemeClr val="tx1"/>
        </a:solidFill>
        <a:latin typeface="+mn-lt"/>
        <a:ea typeface="+mn-ea"/>
        <a:cs typeface="+mn-cs"/>
      </a:defRPr>
    </a:lvl7pPr>
    <a:lvl8pPr marL="5486286" algn="l" defTabSz="1567510" rtl="0" eaLnBrk="1" latinLnBrk="0" hangingPunct="1">
      <a:defRPr sz="3100" kern="1200">
        <a:solidFill>
          <a:schemeClr val="tx1"/>
        </a:solidFill>
        <a:latin typeface="+mn-lt"/>
        <a:ea typeface="+mn-ea"/>
        <a:cs typeface="+mn-cs"/>
      </a:defRPr>
    </a:lvl8pPr>
    <a:lvl9pPr marL="6270041" algn="l" defTabSz="1567510" rtl="0" eaLnBrk="1" latinLnBrk="0" hangingPunct="1">
      <a:defRPr sz="3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p15:clr>
            <a:srgbClr val="A4A3A4"/>
          </p15:clr>
        </p15:guide>
        <p15:guide id="2"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4A2B"/>
    <a:srgbClr val="E5F4E4"/>
    <a:srgbClr val="E1F4FD"/>
    <a:srgbClr val="000000"/>
    <a:srgbClr val="419758"/>
    <a:srgbClr val="419556"/>
    <a:srgbClr val="F0F5FA"/>
    <a:srgbClr val="DCE6F2"/>
    <a:srgbClr val="55BA4F"/>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85899" autoAdjust="0"/>
  </p:normalViewPr>
  <p:slideViewPr>
    <p:cSldViewPr>
      <p:cViewPr>
        <p:scale>
          <a:sx n="40" d="100"/>
          <a:sy n="40" d="100"/>
        </p:scale>
        <p:origin x="690" y="30"/>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0407BD97-90D8-3541-9414-B17D17D02539}" type="datetimeFigureOut">
              <a:rPr lang="en-US" smtClean="0"/>
              <a:t>12/2/2022</a:t>
            </a:fld>
            <a:endParaRPr lang="en-US"/>
          </a:p>
        </p:txBody>
      </p:sp>
      <p:sp>
        <p:nvSpPr>
          <p:cNvPr id="4" name="Slide Image Placeholder 3"/>
          <p:cNvSpPr>
            <a:spLocks noGrp="1" noRot="1" noChangeAspect="1"/>
          </p:cNvSpPr>
          <p:nvPr>
            <p:ph type="sldImg" idx="2"/>
          </p:nvPr>
        </p:nvSpPr>
        <p:spPr>
          <a:xfrm>
            <a:off x="890588" y="696913"/>
            <a:ext cx="522922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CC32DB95-ECDB-0847-8712-29974AF33C2B}" type="slidenum">
              <a:rPr lang="en-US" smtClean="0"/>
              <a:t>‹#›</a:t>
            </a:fld>
            <a:endParaRPr lang="en-US"/>
          </a:p>
        </p:txBody>
      </p:sp>
    </p:spTree>
    <p:extLst>
      <p:ext uri="{BB962C8B-B14F-4D97-AF65-F5344CB8AC3E}">
        <p14:creationId xmlns:p14="http://schemas.microsoft.com/office/powerpoint/2010/main" val="138476903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Print t</a:t>
            </a:r>
            <a:r>
              <a:rPr lang="en-US" baseline="0" dirty="0"/>
              <a:t>his p</a:t>
            </a:r>
            <a:r>
              <a:rPr lang="en-US" dirty="0"/>
              <a:t>oster file </a:t>
            </a:r>
            <a:r>
              <a:rPr lang="en-US" b="1" dirty="0"/>
              <a:t>at 200% SCALE </a:t>
            </a:r>
            <a:r>
              <a:rPr lang="en-US" dirty="0"/>
              <a:t>to result in a physical print measuring 72” wide x 48” tall.</a:t>
            </a:r>
            <a:r>
              <a:rPr lang="en-US" baseline="0" dirty="0"/>
              <a:t> All type size notations shown above are based on the final printed size of the poster.</a:t>
            </a:r>
          </a:p>
          <a:p>
            <a:r>
              <a:rPr lang="en-US" baseline="0" dirty="0"/>
              <a:t>• Contact Digital Duplicating (375-2969, http://</a:t>
            </a:r>
            <a:r>
              <a:rPr lang="en-US" baseline="0" dirty="0" err="1"/>
              <a:t>digitalduplicating.pnl.gov</a:t>
            </a:r>
            <a:r>
              <a:rPr lang="en-US" baseline="0" dirty="0"/>
              <a:t>) to order poster printing and finishing services for your completed poster design.</a:t>
            </a:r>
          </a:p>
          <a:p>
            <a:r>
              <a:rPr lang="en-US" baseline="0" dirty="0"/>
              <a:t>• Remember to have your poster cleared for public display/distribution through the ERICA Information Release system (http://</a:t>
            </a:r>
            <a:r>
              <a:rPr lang="en-US" baseline="0" dirty="0" err="1"/>
              <a:t>erica.pnl.gov</a:t>
            </a:r>
            <a:r>
              <a:rPr lang="en-US" baseline="0" dirty="0"/>
              <a:t>).</a:t>
            </a:r>
          </a:p>
          <a:p>
            <a:r>
              <a:rPr lang="en-US" baseline="0" dirty="0"/>
              <a:t>• Sidebar “About PNNL” box is considered optional, and can be removed if space is needed for technical content.</a:t>
            </a:r>
            <a:endParaRPr lang="en-US" dirty="0"/>
          </a:p>
        </p:txBody>
      </p:sp>
      <p:sp>
        <p:nvSpPr>
          <p:cNvPr id="4" name="Slide Number Placeholder 3"/>
          <p:cNvSpPr>
            <a:spLocks noGrp="1"/>
          </p:cNvSpPr>
          <p:nvPr>
            <p:ph type="sldNum" sz="quarter" idx="10"/>
          </p:nvPr>
        </p:nvSpPr>
        <p:spPr/>
        <p:txBody>
          <a:bodyPr/>
          <a:lstStyle/>
          <a:p>
            <a:fld id="{CC32DB95-ECDB-0847-8712-29974AF33C2B}" type="slidenum">
              <a:rPr lang="en-US" smtClean="0"/>
              <a:t>1</a:t>
            </a:fld>
            <a:endParaRPr lang="en-US"/>
          </a:p>
        </p:txBody>
      </p:sp>
    </p:spTree>
    <p:extLst>
      <p:ext uri="{BB962C8B-B14F-4D97-AF65-F5344CB8AC3E}">
        <p14:creationId xmlns:p14="http://schemas.microsoft.com/office/powerpoint/2010/main" val="42813165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4D0AFE-D266-7149-9388-0CB3CC5C87ED}"/>
              </a:ext>
            </a:extLst>
          </p:cNvPr>
          <p:cNvSpPr/>
          <p:nvPr userDrawn="1"/>
        </p:nvSpPr>
        <p:spPr>
          <a:xfrm>
            <a:off x="0" y="0"/>
            <a:ext cx="32918400" cy="381000"/>
          </a:xfrm>
          <a:prstGeom prst="rect">
            <a:avLst/>
          </a:prstGeom>
          <a:solidFill>
            <a:srgbClr val="4197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4">
            <a:extLst>
              <a:ext uri="{FF2B5EF4-FFF2-40B4-BE49-F238E27FC236}">
                <a16:creationId xmlns:a16="http://schemas.microsoft.com/office/drawing/2014/main" id="{03672AAF-4B6B-9046-B08E-E3EDCC2CB619}"/>
              </a:ext>
            </a:extLst>
          </p:cNvPr>
          <p:cNvSpPr>
            <a:spLocks noGrp="1"/>
          </p:cNvSpPr>
          <p:nvPr>
            <p:ph type="title"/>
          </p:nvPr>
        </p:nvSpPr>
        <p:spPr>
          <a:xfrm>
            <a:off x="990600" y="990600"/>
            <a:ext cx="24765000" cy="1600200"/>
          </a:xfrm>
          <a:prstGeom prst="rect">
            <a:avLst/>
          </a:prstGeom>
        </p:spPr>
        <p:txBody>
          <a:bodyPr vert="horz" lIns="91440" tIns="45720" rIns="91440" bIns="45720" rtlCol="0" anchor="ctr">
            <a:normAutofit/>
          </a:bodyPr>
          <a:lstStyle/>
          <a:p>
            <a:r>
              <a:rPr lang="en-US" dirty="0"/>
              <a:t>Click to edit Master title style</a:t>
            </a:r>
          </a:p>
        </p:txBody>
      </p:sp>
      <p:sp>
        <p:nvSpPr>
          <p:cNvPr id="7" name="Text Placeholder 6">
            <a:extLst>
              <a:ext uri="{FF2B5EF4-FFF2-40B4-BE49-F238E27FC236}">
                <a16:creationId xmlns:a16="http://schemas.microsoft.com/office/drawing/2014/main" id="{D5658E99-2B7E-A94A-AE07-8B6946534EF5}"/>
              </a:ext>
            </a:extLst>
          </p:cNvPr>
          <p:cNvSpPr>
            <a:spLocks noGrp="1"/>
          </p:cNvSpPr>
          <p:nvPr>
            <p:ph type="body" sz="quarter" idx="10"/>
          </p:nvPr>
        </p:nvSpPr>
        <p:spPr>
          <a:xfrm>
            <a:off x="990600" y="2667000"/>
            <a:ext cx="24716410" cy="685800"/>
          </a:xfrm>
          <a:prstGeom prst="rect">
            <a:avLst/>
          </a:prstGeom>
        </p:spPr>
        <p:txBody>
          <a:bodyPr/>
          <a:lstStyle/>
          <a:p>
            <a:pPr lvl="0"/>
            <a:r>
              <a:rPr lang="en-US" dirty="0"/>
              <a:t>Click to edit Master text styles</a:t>
            </a:r>
          </a:p>
        </p:txBody>
      </p:sp>
      <p:sp>
        <p:nvSpPr>
          <p:cNvPr id="13" name="Text Placeholder 9">
            <a:extLst>
              <a:ext uri="{FF2B5EF4-FFF2-40B4-BE49-F238E27FC236}">
                <a16:creationId xmlns:a16="http://schemas.microsoft.com/office/drawing/2014/main" id="{CBC0CC5A-BCC7-7A40-B8AC-3C8CB9773C97}"/>
              </a:ext>
            </a:extLst>
          </p:cNvPr>
          <p:cNvSpPr>
            <a:spLocks noGrp="1"/>
          </p:cNvSpPr>
          <p:nvPr>
            <p:ph type="body" sz="quarter" idx="11"/>
          </p:nvPr>
        </p:nvSpPr>
        <p:spPr>
          <a:xfrm>
            <a:off x="990600" y="3810000"/>
            <a:ext cx="9601200" cy="4038600"/>
          </a:xfrm>
          <a:prstGeom prst="rect">
            <a:avLst/>
          </a:prstGeom>
        </p:spPr>
        <p:txBody>
          <a:bodyPr/>
          <a:lstStyle>
            <a:lvl1pPr>
              <a:defRPr sz="2200">
                <a:solidFill>
                  <a:schemeClr val="tx1"/>
                </a:solidFill>
              </a:defRPr>
            </a:lvl1pPr>
          </a:lstStyle>
          <a:p>
            <a:pPr lvl="0"/>
            <a:r>
              <a:rPr lang="en-US" dirty="0"/>
              <a:t>Click to edit Master text styles</a:t>
            </a:r>
          </a:p>
        </p:txBody>
      </p:sp>
      <p:sp>
        <p:nvSpPr>
          <p:cNvPr id="14" name="Picture Placeholder 11">
            <a:extLst>
              <a:ext uri="{FF2B5EF4-FFF2-40B4-BE49-F238E27FC236}">
                <a16:creationId xmlns:a16="http://schemas.microsoft.com/office/drawing/2014/main" id="{631EFDE9-D317-6E45-88B1-57517D7BFEDD}"/>
              </a:ext>
            </a:extLst>
          </p:cNvPr>
          <p:cNvSpPr>
            <a:spLocks noGrp="1"/>
          </p:cNvSpPr>
          <p:nvPr>
            <p:ph type="pic" sz="quarter" idx="12"/>
          </p:nvPr>
        </p:nvSpPr>
        <p:spPr>
          <a:xfrm>
            <a:off x="990600" y="8077200"/>
            <a:ext cx="9601200" cy="5181600"/>
          </a:xfrm>
          <a:prstGeom prst="rect">
            <a:avLst/>
          </a:prstGeom>
        </p:spPr>
        <p:txBody>
          <a:bodyPr anchor="ctr"/>
          <a:lstStyle>
            <a:lvl1pPr algn="ctr">
              <a:defRPr/>
            </a:lvl1pPr>
          </a:lstStyle>
          <a:p>
            <a:endParaRPr lang="en-US" dirty="0"/>
          </a:p>
        </p:txBody>
      </p:sp>
      <p:sp>
        <p:nvSpPr>
          <p:cNvPr id="8" name="TextBox 7">
            <a:extLst>
              <a:ext uri="{FF2B5EF4-FFF2-40B4-BE49-F238E27FC236}">
                <a16:creationId xmlns:a16="http://schemas.microsoft.com/office/drawing/2014/main" id="{4CE4DD70-5E36-AE41-A65A-4190E3663EBC}"/>
              </a:ext>
            </a:extLst>
          </p:cNvPr>
          <p:cNvSpPr txBox="1"/>
          <p:nvPr userDrawn="1"/>
        </p:nvSpPr>
        <p:spPr>
          <a:xfrm>
            <a:off x="3733800" y="20878800"/>
            <a:ext cx="7543800" cy="584775"/>
          </a:xfrm>
          <a:prstGeom prst="rect">
            <a:avLst/>
          </a:prstGeom>
          <a:noFill/>
        </p:spPr>
        <p:txBody>
          <a:bodyPr wrap="square" rtlCol="0">
            <a:spAutoFit/>
          </a:bodyPr>
          <a:lstStyle/>
          <a:p>
            <a:r>
              <a:rPr lang="en-US" sz="1600" dirty="0">
                <a:latin typeface="Arial Narrow" panose="020B0604020202020204" pitchFamily="34" charset="0"/>
                <a:cs typeface="Arial Narrow" panose="020B0604020202020204" pitchFamily="34" charset="0"/>
              </a:rPr>
              <a:t>COMPASS is a multi-institutional program led by PNNL and funded by the Earth and Environmental Systems Sciences Division of the U.S. Department of Energy’s Office of Science.</a:t>
            </a:r>
          </a:p>
        </p:txBody>
      </p:sp>
      <p:grpSp>
        <p:nvGrpSpPr>
          <p:cNvPr id="9" name="Group 8">
            <a:extLst>
              <a:ext uri="{FF2B5EF4-FFF2-40B4-BE49-F238E27FC236}">
                <a16:creationId xmlns:a16="http://schemas.microsoft.com/office/drawing/2014/main" id="{1EA01DE9-3A02-2948-9D18-6CE85ADA8C5B}"/>
              </a:ext>
            </a:extLst>
          </p:cNvPr>
          <p:cNvGrpSpPr/>
          <p:nvPr userDrawn="1"/>
        </p:nvGrpSpPr>
        <p:grpSpPr>
          <a:xfrm>
            <a:off x="1295401" y="20802600"/>
            <a:ext cx="2205497" cy="609600"/>
            <a:chOff x="14072234" y="10312566"/>
            <a:chExt cx="4773930" cy="1319515"/>
          </a:xfrm>
        </p:grpSpPr>
        <p:sp>
          <p:nvSpPr>
            <p:cNvPr id="10" name="Freeform 9">
              <a:extLst>
                <a:ext uri="{FF2B5EF4-FFF2-40B4-BE49-F238E27FC236}">
                  <a16:creationId xmlns:a16="http://schemas.microsoft.com/office/drawing/2014/main" id="{E3E9E644-85A1-4E4C-BC86-95C61BEBEEDE}"/>
                </a:ext>
              </a:extLst>
            </p:cNvPr>
            <p:cNvSpPr/>
            <p:nvPr/>
          </p:nvSpPr>
          <p:spPr>
            <a:xfrm>
              <a:off x="14073187" y="10727352"/>
              <a:ext cx="661034" cy="890459"/>
            </a:xfrm>
            <a:custGeom>
              <a:avLst/>
              <a:gdLst>
                <a:gd name="connsiteX0" fmla="*/ 0 w 661034"/>
                <a:gd name="connsiteY0" fmla="*/ 951 h 890459"/>
                <a:gd name="connsiteX1" fmla="*/ 0 w 661034"/>
                <a:gd name="connsiteY1" fmla="*/ 890459 h 890459"/>
                <a:gd name="connsiteX2" fmla="*/ 661035 w 661034"/>
                <a:gd name="connsiteY2" fmla="*/ 890459 h 890459"/>
                <a:gd name="connsiteX3" fmla="*/ 661035 w 661034"/>
                <a:gd name="connsiteY3" fmla="*/ 684018 h 890459"/>
                <a:gd name="connsiteX4" fmla="*/ 224790 w 661034"/>
                <a:gd name="connsiteY4" fmla="*/ 684018 h 890459"/>
                <a:gd name="connsiteX5" fmla="*/ 224790 w 661034"/>
                <a:gd name="connsiteY5" fmla="*/ 527997 h 890459"/>
                <a:gd name="connsiteX6" fmla="*/ 616268 w 661034"/>
                <a:gd name="connsiteY6" fmla="*/ 527997 h 890459"/>
                <a:gd name="connsiteX7" fmla="*/ 616268 w 661034"/>
                <a:gd name="connsiteY7" fmla="*/ 321555 h 890459"/>
                <a:gd name="connsiteX8" fmla="*/ 224790 w 661034"/>
                <a:gd name="connsiteY8" fmla="*/ 321555 h 890459"/>
                <a:gd name="connsiteX9" fmla="*/ 224790 w 661034"/>
                <a:gd name="connsiteY9" fmla="*/ 206442 h 890459"/>
                <a:gd name="connsiteX10" fmla="*/ 645795 w 661034"/>
                <a:gd name="connsiteY10" fmla="*/ 206442 h 890459"/>
                <a:gd name="connsiteX11" fmla="*/ 645795 w 661034"/>
                <a:gd name="connsiteY11" fmla="*/ 0 h 890459"/>
                <a:gd name="connsiteX12" fmla="*/ 0 w 661034"/>
                <a:gd name="connsiteY12" fmla="*/ 0 h 890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1034" h="890459">
                  <a:moveTo>
                    <a:pt x="0" y="951"/>
                  </a:moveTo>
                  <a:lnTo>
                    <a:pt x="0" y="890459"/>
                  </a:lnTo>
                  <a:lnTo>
                    <a:pt x="661035" y="890459"/>
                  </a:lnTo>
                  <a:lnTo>
                    <a:pt x="661035" y="684018"/>
                  </a:lnTo>
                  <a:cubicBezTo>
                    <a:pt x="661035" y="684018"/>
                    <a:pt x="281940" y="684018"/>
                    <a:pt x="224790" y="684018"/>
                  </a:cubicBezTo>
                  <a:cubicBezTo>
                    <a:pt x="224790" y="644061"/>
                    <a:pt x="224790" y="567953"/>
                    <a:pt x="224790" y="527997"/>
                  </a:cubicBezTo>
                  <a:cubicBezTo>
                    <a:pt x="280988" y="527997"/>
                    <a:pt x="616268" y="527997"/>
                    <a:pt x="616268" y="527997"/>
                  </a:cubicBezTo>
                  <a:lnTo>
                    <a:pt x="616268" y="321555"/>
                  </a:lnTo>
                  <a:cubicBezTo>
                    <a:pt x="616268" y="321555"/>
                    <a:pt x="280988" y="321555"/>
                    <a:pt x="224790" y="321555"/>
                  </a:cubicBezTo>
                  <a:cubicBezTo>
                    <a:pt x="224790" y="287306"/>
                    <a:pt x="224790" y="240690"/>
                    <a:pt x="224790" y="206442"/>
                  </a:cubicBezTo>
                  <a:cubicBezTo>
                    <a:pt x="281940" y="206442"/>
                    <a:pt x="645795" y="206442"/>
                    <a:pt x="645795" y="206442"/>
                  </a:cubicBezTo>
                  <a:lnTo>
                    <a:pt x="645795" y="0"/>
                  </a:lnTo>
                  <a:lnTo>
                    <a:pt x="0" y="0"/>
                  </a:lnTo>
                  <a:close/>
                </a:path>
              </a:pathLst>
            </a:custGeom>
            <a:solidFill>
              <a:srgbClr val="087846"/>
            </a:solidFill>
            <a:ln w="9525"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DD9B0CB8-E52F-6D43-81D9-224D81D81211}"/>
                </a:ext>
              </a:extLst>
            </p:cNvPr>
            <p:cNvSpPr/>
            <p:nvPr/>
          </p:nvSpPr>
          <p:spPr>
            <a:xfrm>
              <a:off x="14831377" y="10728304"/>
              <a:ext cx="687704" cy="889507"/>
            </a:xfrm>
            <a:custGeom>
              <a:avLst/>
              <a:gdLst>
                <a:gd name="connsiteX0" fmla="*/ 474345 w 687704"/>
                <a:gd name="connsiteY0" fmla="*/ 0 h 889507"/>
                <a:gd name="connsiteX1" fmla="*/ 474345 w 687704"/>
                <a:gd name="connsiteY1" fmla="*/ 460451 h 889507"/>
                <a:gd name="connsiteX2" fmla="*/ 205740 w 687704"/>
                <a:gd name="connsiteY2" fmla="*/ 0 h 889507"/>
                <a:gd name="connsiteX3" fmla="*/ 0 w 687704"/>
                <a:gd name="connsiteY3" fmla="*/ 0 h 889507"/>
                <a:gd name="connsiteX4" fmla="*/ 0 w 687704"/>
                <a:gd name="connsiteY4" fmla="*/ 889508 h 889507"/>
                <a:gd name="connsiteX5" fmla="*/ 213360 w 687704"/>
                <a:gd name="connsiteY5" fmla="*/ 889508 h 889507"/>
                <a:gd name="connsiteX6" fmla="*/ 213360 w 687704"/>
                <a:gd name="connsiteY6" fmla="*/ 440473 h 889507"/>
                <a:gd name="connsiteX7" fmla="*/ 477203 w 687704"/>
                <a:gd name="connsiteY7" fmla="*/ 889508 h 889507"/>
                <a:gd name="connsiteX8" fmla="*/ 687705 w 687704"/>
                <a:gd name="connsiteY8" fmla="*/ 889508 h 889507"/>
                <a:gd name="connsiteX9" fmla="*/ 687705 w 687704"/>
                <a:gd name="connsiteY9" fmla="*/ 0 h 889507"/>
                <a:gd name="connsiteX10" fmla="*/ 474345 w 687704"/>
                <a:gd name="connsiteY10" fmla="*/ 0 h 889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7704" h="889507">
                  <a:moveTo>
                    <a:pt x="474345" y="0"/>
                  </a:moveTo>
                  <a:cubicBezTo>
                    <a:pt x="474345" y="0"/>
                    <a:pt x="474345" y="312041"/>
                    <a:pt x="474345" y="460451"/>
                  </a:cubicBezTo>
                  <a:cubicBezTo>
                    <a:pt x="393383" y="321555"/>
                    <a:pt x="205740" y="0"/>
                    <a:pt x="205740" y="0"/>
                  </a:cubicBezTo>
                  <a:lnTo>
                    <a:pt x="0" y="0"/>
                  </a:lnTo>
                  <a:lnTo>
                    <a:pt x="0" y="889508"/>
                  </a:lnTo>
                  <a:lnTo>
                    <a:pt x="213360" y="889508"/>
                  </a:lnTo>
                  <a:cubicBezTo>
                    <a:pt x="213360" y="889508"/>
                    <a:pt x="213360" y="586980"/>
                    <a:pt x="213360" y="440473"/>
                  </a:cubicBezTo>
                  <a:cubicBezTo>
                    <a:pt x="294322" y="577467"/>
                    <a:pt x="477203" y="889508"/>
                    <a:pt x="477203" y="889508"/>
                  </a:cubicBezTo>
                  <a:lnTo>
                    <a:pt x="687705" y="889508"/>
                  </a:lnTo>
                  <a:lnTo>
                    <a:pt x="687705" y="0"/>
                  </a:lnTo>
                  <a:lnTo>
                    <a:pt x="474345" y="0"/>
                  </a:lnTo>
                  <a:close/>
                </a:path>
              </a:pathLst>
            </a:custGeom>
            <a:solidFill>
              <a:srgbClr val="087846"/>
            </a:solidFill>
            <a:ln w="952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E7F6A607-628D-F640-8A7E-71316EBE361B}"/>
                </a:ext>
              </a:extLst>
            </p:cNvPr>
            <p:cNvSpPr/>
            <p:nvPr/>
          </p:nvSpPr>
          <p:spPr>
            <a:xfrm>
              <a:off x="15647669" y="10727352"/>
              <a:ext cx="661035" cy="890459"/>
            </a:xfrm>
            <a:custGeom>
              <a:avLst/>
              <a:gdLst>
                <a:gd name="connsiteX0" fmla="*/ 0 w 661035"/>
                <a:gd name="connsiteY0" fmla="*/ 951 h 890459"/>
                <a:gd name="connsiteX1" fmla="*/ 0 w 661035"/>
                <a:gd name="connsiteY1" fmla="*/ 890459 h 890459"/>
                <a:gd name="connsiteX2" fmla="*/ 661035 w 661035"/>
                <a:gd name="connsiteY2" fmla="*/ 890459 h 890459"/>
                <a:gd name="connsiteX3" fmla="*/ 661035 w 661035"/>
                <a:gd name="connsiteY3" fmla="*/ 684018 h 890459"/>
                <a:gd name="connsiteX4" fmla="*/ 224790 w 661035"/>
                <a:gd name="connsiteY4" fmla="*/ 684018 h 890459"/>
                <a:gd name="connsiteX5" fmla="*/ 224790 w 661035"/>
                <a:gd name="connsiteY5" fmla="*/ 527997 h 890459"/>
                <a:gd name="connsiteX6" fmla="*/ 616268 w 661035"/>
                <a:gd name="connsiteY6" fmla="*/ 527997 h 890459"/>
                <a:gd name="connsiteX7" fmla="*/ 616268 w 661035"/>
                <a:gd name="connsiteY7" fmla="*/ 321555 h 890459"/>
                <a:gd name="connsiteX8" fmla="*/ 224790 w 661035"/>
                <a:gd name="connsiteY8" fmla="*/ 321555 h 890459"/>
                <a:gd name="connsiteX9" fmla="*/ 224790 w 661035"/>
                <a:gd name="connsiteY9" fmla="*/ 206442 h 890459"/>
                <a:gd name="connsiteX10" fmla="*/ 645795 w 661035"/>
                <a:gd name="connsiteY10" fmla="*/ 206442 h 890459"/>
                <a:gd name="connsiteX11" fmla="*/ 645795 w 661035"/>
                <a:gd name="connsiteY11" fmla="*/ 0 h 890459"/>
                <a:gd name="connsiteX12" fmla="*/ 0 w 661035"/>
                <a:gd name="connsiteY12" fmla="*/ 0 h 890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1035" h="890459">
                  <a:moveTo>
                    <a:pt x="0" y="951"/>
                  </a:moveTo>
                  <a:lnTo>
                    <a:pt x="0" y="890459"/>
                  </a:lnTo>
                  <a:lnTo>
                    <a:pt x="661035" y="890459"/>
                  </a:lnTo>
                  <a:lnTo>
                    <a:pt x="661035" y="684018"/>
                  </a:lnTo>
                  <a:cubicBezTo>
                    <a:pt x="661035" y="684018"/>
                    <a:pt x="281940" y="684018"/>
                    <a:pt x="224790" y="684018"/>
                  </a:cubicBezTo>
                  <a:cubicBezTo>
                    <a:pt x="224790" y="644061"/>
                    <a:pt x="224790" y="567953"/>
                    <a:pt x="224790" y="527997"/>
                  </a:cubicBezTo>
                  <a:cubicBezTo>
                    <a:pt x="280988" y="527997"/>
                    <a:pt x="616268" y="527997"/>
                    <a:pt x="616268" y="527997"/>
                  </a:cubicBezTo>
                  <a:lnTo>
                    <a:pt x="616268" y="321555"/>
                  </a:lnTo>
                  <a:cubicBezTo>
                    <a:pt x="616268" y="321555"/>
                    <a:pt x="280988" y="321555"/>
                    <a:pt x="224790" y="321555"/>
                  </a:cubicBezTo>
                  <a:cubicBezTo>
                    <a:pt x="224790" y="287306"/>
                    <a:pt x="224790" y="240690"/>
                    <a:pt x="224790" y="206442"/>
                  </a:cubicBezTo>
                  <a:cubicBezTo>
                    <a:pt x="281940" y="206442"/>
                    <a:pt x="645795" y="206442"/>
                    <a:pt x="645795" y="206442"/>
                  </a:cubicBezTo>
                  <a:lnTo>
                    <a:pt x="645795" y="0"/>
                  </a:lnTo>
                  <a:lnTo>
                    <a:pt x="0" y="0"/>
                  </a:lnTo>
                  <a:close/>
                </a:path>
              </a:pathLst>
            </a:custGeom>
            <a:solidFill>
              <a:srgbClr val="087846"/>
            </a:solid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4DCE3471-EA9B-CD44-B10F-70A9F2668202}"/>
                </a:ext>
              </a:extLst>
            </p:cNvPr>
            <p:cNvSpPr/>
            <p:nvPr/>
          </p:nvSpPr>
          <p:spPr>
            <a:xfrm>
              <a:off x="16405860" y="10727352"/>
              <a:ext cx="795337" cy="890459"/>
            </a:xfrm>
            <a:custGeom>
              <a:avLst/>
              <a:gdLst>
                <a:gd name="connsiteX0" fmla="*/ 669607 w 795337"/>
                <a:gd name="connsiteY0" fmla="*/ 680212 h 890459"/>
                <a:gd name="connsiteX1" fmla="*/ 576263 w 795337"/>
                <a:gd name="connsiteY1" fmla="*/ 541316 h 890459"/>
                <a:gd name="connsiteX2" fmla="*/ 543877 w 795337"/>
                <a:gd name="connsiteY2" fmla="*/ 508970 h 890459"/>
                <a:gd name="connsiteX3" fmla="*/ 646747 w 795337"/>
                <a:gd name="connsiteY3" fmla="*/ 439522 h 890459"/>
                <a:gd name="connsiteX4" fmla="*/ 706755 w 795337"/>
                <a:gd name="connsiteY4" fmla="*/ 264474 h 890459"/>
                <a:gd name="connsiteX5" fmla="*/ 667702 w 795337"/>
                <a:gd name="connsiteY5" fmla="*/ 117967 h 890459"/>
                <a:gd name="connsiteX6" fmla="*/ 560070 w 795337"/>
                <a:gd name="connsiteY6" fmla="*/ 24735 h 890459"/>
                <a:gd name="connsiteX7" fmla="*/ 365760 w 795337"/>
                <a:gd name="connsiteY7" fmla="*/ 0 h 890459"/>
                <a:gd name="connsiteX8" fmla="*/ 0 w 795337"/>
                <a:gd name="connsiteY8" fmla="*/ 0 h 890459"/>
                <a:gd name="connsiteX9" fmla="*/ 0 w 795337"/>
                <a:gd name="connsiteY9" fmla="*/ 889508 h 890459"/>
                <a:gd name="connsiteX10" fmla="*/ 224790 w 795337"/>
                <a:gd name="connsiteY10" fmla="*/ 889508 h 890459"/>
                <a:gd name="connsiteX11" fmla="*/ 224790 w 795337"/>
                <a:gd name="connsiteY11" fmla="*/ 546072 h 890459"/>
                <a:gd name="connsiteX12" fmla="*/ 290513 w 795337"/>
                <a:gd name="connsiteY12" fmla="*/ 553683 h 890459"/>
                <a:gd name="connsiteX13" fmla="*/ 324802 w 795337"/>
                <a:gd name="connsiteY13" fmla="*/ 578418 h 890459"/>
                <a:gd name="connsiteX14" fmla="*/ 404813 w 795337"/>
                <a:gd name="connsiteY14" fmla="*/ 695433 h 890459"/>
                <a:gd name="connsiteX15" fmla="*/ 528638 w 795337"/>
                <a:gd name="connsiteY15" fmla="*/ 890459 h 890459"/>
                <a:gd name="connsiteX16" fmla="*/ 795338 w 795337"/>
                <a:gd name="connsiteY16" fmla="*/ 890459 h 890459"/>
                <a:gd name="connsiteX17" fmla="*/ 669607 w 795337"/>
                <a:gd name="connsiteY17" fmla="*/ 680212 h 890459"/>
                <a:gd name="connsiteX18" fmla="*/ 464820 w 795337"/>
                <a:gd name="connsiteY18" fmla="*/ 319652 h 890459"/>
                <a:gd name="connsiteX19" fmla="*/ 437197 w 795337"/>
                <a:gd name="connsiteY19" fmla="*/ 341533 h 890459"/>
                <a:gd name="connsiteX20" fmla="*/ 306705 w 795337"/>
                <a:gd name="connsiteY20" fmla="*/ 350095 h 890459"/>
                <a:gd name="connsiteX21" fmla="*/ 223838 w 795337"/>
                <a:gd name="connsiteY21" fmla="*/ 350095 h 890459"/>
                <a:gd name="connsiteX22" fmla="*/ 223838 w 795337"/>
                <a:gd name="connsiteY22" fmla="*/ 208345 h 890459"/>
                <a:gd name="connsiteX23" fmla="*/ 313372 w 795337"/>
                <a:gd name="connsiteY23" fmla="*/ 208345 h 890459"/>
                <a:gd name="connsiteX24" fmla="*/ 422910 w 795337"/>
                <a:gd name="connsiteY24" fmla="*/ 211199 h 890459"/>
                <a:gd name="connsiteX25" fmla="*/ 461010 w 795337"/>
                <a:gd name="connsiteY25" fmla="*/ 232128 h 890459"/>
                <a:gd name="connsiteX26" fmla="*/ 474345 w 795337"/>
                <a:gd name="connsiteY26" fmla="*/ 277793 h 890459"/>
                <a:gd name="connsiteX27" fmla="*/ 464820 w 795337"/>
                <a:gd name="connsiteY27" fmla="*/ 319652 h 890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95337" h="890459">
                  <a:moveTo>
                    <a:pt x="669607" y="680212"/>
                  </a:moveTo>
                  <a:cubicBezTo>
                    <a:pt x="630555" y="613618"/>
                    <a:pt x="600075" y="567953"/>
                    <a:pt x="576263" y="541316"/>
                  </a:cubicBezTo>
                  <a:cubicBezTo>
                    <a:pt x="566738" y="529899"/>
                    <a:pt x="555307" y="519435"/>
                    <a:pt x="543877" y="508970"/>
                  </a:cubicBezTo>
                  <a:cubicBezTo>
                    <a:pt x="586740" y="493748"/>
                    <a:pt x="621030" y="469965"/>
                    <a:pt x="646747" y="439522"/>
                  </a:cubicBezTo>
                  <a:cubicBezTo>
                    <a:pt x="686752" y="392906"/>
                    <a:pt x="706755" y="334874"/>
                    <a:pt x="706755" y="264474"/>
                  </a:cubicBezTo>
                  <a:cubicBezTo>
                    <a:pt x="706755" y="210247"/>
                    <a:pt x="693420" y="160777"/>
                    <a:pt x="667702" y="117967"/>
                  </a:cubicBezTo>
                  <a:cubicBezTo>
                    <a:pt x="641032" y="74205"/>
                    <a:pt x="604838" y="42811"/>
                    <a:pt x="560070" y="24735"/>
                  </a:cubicBezTo>
                  <a:cubicBezTo>
                    <a:pt x="518160" y="8562"/>
                    <a:pt x="454342" y="0"/>
                    <a:pt x="365760" y="0"/>
                  </a:cubicBezTo>
                  <a:lnTo>
                    <a:pt x="0" y="0"/>
                  </a:lnTo>
                  <a:lnTo>
                    <a:pt x="0" y="889508"/>
                  </a:lnTo>
                  <a:lnTo>
                    <a:pt x="224790" y="889508"/>
                  </a:lnTo>
                  <a:cubicBezTo>
                    <a:pt x="224790" y="889508"/>
                    <a:pt x="224790" y="600299"/>
                    <a:pt x="224790" y="546072"/>
                  </a:cubicBezTo>
                  <a:cubicBezTo>
                    <a:pt x="265747" y="546072"/>
                    <a:pt x="283845" y="550829"/>
                    <a:pt x="290513" y="553683"/>
                  </a:cubicBezTo>
                  <a:cubicBezTo>
                    <a:pt x="301942" y="557488"/>
                    <a:pt x="313372" y="566051"/>
                    <a:pt x="324802" y="578418"/>
                  </a:cubicBezTo>
                  <a:cubicBezTo>
                    <a:pt x="334327" y="588883"/>
                    <a:pt x="355282" y="617423"/>
                    <a:pt x="404813" y="695433"/>
                  </a:cubicBezTo>
                  <a:lnTo>
                    <a:pt x="528638" y="890459"/>
                  </a:lnTo>
                  <a:lnTo>
                    <a:pt x="795338" y="890459"/>
                  </a:lnTo>
                  <a:lnTo>
                    <a:pt x="669607" y="680212"/>
                  </a:lnTo>
                  <a:close/>
                  <a:moveTo>
                    <a:pt x="464820" y="319652"/>
                  </a:moveTo>
                  <a:cubicBezTo>
                    <a:pt x="458152" y="330117"/>
                    <a:pt x="449580" y="336776"/>
                    <a:pt x="437197" y="341533"/>
                  </a:cubicBezTo>
                  <a:cubicBezTo>
                    <a:pt x="430530" y="344387"/>
                    <a:pt x="403860" y="350095"/>
                    <a:pt x="306705" y="350095"/>
                  </a:cubicBezTo>
                  <a:cubicBezTo>
                    <a:pt x="306705" y="350095"/>
                    <a:pt x="258127" y="350095"/>
                    <a:pt x="223838" y="350095"/>
                  </a:cubicBezTo>
                  <a:cubicBezTo>
                    <a:pt x="223838" y="312041"/>
                    <a:pt x="223838" y="246399"/>
                    <a:pt x="223838" y="208345"/>
                  </a:cubicBezTo>
                  <a:cubicBezTo>
                    <a:pt x="259080" y="208345"/>
                    <a:pt x="313372" y="208345"/>
                    <a:pt x="313372" y="208345"/>
                  </a:cubicBezTo>
                  <a:cubicBezTo>
                    <a:pt x="394335" y="208345"/>
                    <a:pt x="417195" y="210247"/>
                    <a:pt x="422910" y="211199"/>
                  </a:cubicBezTo>
                  <a:cubicBezTo>
                    <a:pt x="439102" y="214053"/>
                    <a:pt x="452438" y="220712"/>
                    <a:pt x="461010" y="232128"/>
                  </a:cubicBezTo>
                  <a:cubicBezTo>
                    <a:pt x="469582" y="242593"/>
                    <a:pt x="474345" y="257815"/>
                    <a:pt x="474345" y="277793"/>
                  </a:cubicBezTo>
                  <a:cubicBezTo>
                    <a:pt x="476250" y="294917"/>
                    <a:pt x="472440" y="309187"/>
                    <a:pt x="464820" y="319652"/>
                  </a:cubicBezTo>
                  <a:close/>
                </a:path>
              </a:pathLst>
            </a:custGeom>
            <a:solidFill>
              <a:srgbClr val="087846"/>
            </a:solidFill>
            <a:ln w="952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A66E73B6-8E24-FE47-AAA0-A0443601D7FD}"/>
                </a:ext>
              </a:extLst>
            </p:cNvPr>
            <p:cNvSpPr/>
            <p:nvPr/>
          </p:nvSpPr>
          <p:spPr>
            <a:xfrm>
              <a:off x="17194530" y="10714985"/>
              <a:ext cx="799147" cy="917096"/>
            </a:xfrm>
            <a:custGeom>
              <a:avLst/>
              <a:gdLst>
                <a:gd name="connsiteX0" fmla="*/ 219075 w 799147"/>
                <a:gd name="connsiteY0" fmla="*/ 44713 h 917096"/>
                <a:gd name="connsiteX1" fmla="*/ 55245 w 799147"/>
                <a:gd name="connsiteY1" fmla="*/ 212150 h 917096"/>
                <a:gd name="connsiteX2" fmla="*/ 0 w 799147"/>
                <a:gd name="connsiteY2" fmla="*/ 455694 h 917096"/>
                <a:gd name="connsiteX3" fmla="*/ 48577 w 799147"/>
                <a:gd name="connsiteY3" fmla="*/ 688774 h 917096"/>
                <a:gd name="connsiteX4" fmla="*/ 199072 w 799147"/>
                <a:gd name="connsiteY4" fmla="*/ 858114 h 917096"/>
                <a:gd name="connsiteX5" fmla="*/ 430530 w 799147"/>
                <a:gd name="connsiteY5" fmla="*/ 917097 h 917096"/>
                <a:gd name="connsiteX6" fmla="*/ 634365 w 799147"/>
                <a:gd name="connsiteY6" fmla="*/ 876189 h 917096"/>
                <a:gd name="connsiteX7" fmla="*/ 789622 w 799147"/>
                <a:gd name="connsiteY7" fmla="*/ 780103 h 917096"/>
                <a:gd name="connsiteX8" fmla="*/ 799147 w 799147"/>
                <a:gd name="connsiteY8" fmla="*/ 770590 h 917096"/>
                <a:gd name="connsiteX9" fmla="*/ 799147 w 799147"/>
                <a:gd name="connsiteY9" fmla="*/ 395760 h 917096"/>
                <a:gd name="connsiteX10" fmla="*/ 391477 w 799147"/>
                <a:gd name="connsiteY10" fmla="*/ 395760 h 917096"/>
                <a:gd name="connsiteX11" fmla="*/ 391477 w 799147"/>
                <a:gd name="connsiteY11" fmla="*/ 602202 h 917096"/>
                <a:gd name="connsiteX12" fmla="*/ 572452 w 799147"/>
                <a:gd name="connsiteY12" fmla="*/ 602202 h 917096"/>
                <a:gd name="connsiteX13" fmla="*/ 572452 w 799147"/>
                <a:gd name="connsiteY13" fmla="*/ 654526 h 917096"/>
                <a:gd name="connsiteX14" fmla="*/ 507682 w 799147"/>
                <a:gd name="connsiteY14" fmla="*/ 690677 h 917096"/>
                <a:gd name="connsiteX15" fmla="*/ 421005 w 799147"/>
                <a:gd name="connsiteY15" fmla="*/ 708752 h 917096"/>
                <a:gd name="connsiteX16" fmla="*/ 283845 w 799147"/>
                <a:gd name="connsiteY16" fmla="*/ 647866 h 917096"/>
                <a:gd name="connsiteX17" fmla="*/ 229552 w 799147"/>
                <a:gd name="connsiteY17" fmla="*/ 449987 h 917096"/>
                <a:gd name="connsiteX18" fmla="*/ 281940 w 799147"/>
                <a:gd name="connsiteY18" fmla="*/ 267328 h 917096"/>
                <a:gd name="connsiteX19" fmla="*/ 421005 w 799147"/>
                <a:gd name="connsiteY19" fmla="*/ 209296 h 917096"/>
                <a:gd name="connsiteX20" fmla="*/ 514350 w 799147"/>
                <a:gd name="connsiteY20" fmla="*/ 236885 h 917096"/>
                <a:gd name="connsiteX21" fmla="*/ 564832 w 799147"/>
                <a:gd name="connsiteY21" fmla="*/ 314895 h 917096"/>
                <a:gd name="connsiteX22" fmla="*/ 573405 w 799147"/>
                <a:gd name="connsiteY22" fmla="*/ 345339 h 917096"/>
                <a:gd name="connsiteX23" fmla="*/ 794385 w 799147"/>
                <a:gd name="connsiteY23" fmla="*/ 301577 h 917096"/>
                <a:gd name="connsiteX24" fmla="*/ 787718 w 799147"/>
                <a:gd name="connsiteY24" fmla="*/ 268280 h 917096"/>
                <a:gd name="connsiteX25" fmla="*/ 669607 w 799147"/>
                <a:gd name="connsiteY25" fmla="*/ 71351 h 917096"/>
                <a:gd name="connsiteX26" fmla="*/ 421005 w 799147"/>
                <a:gd name="connsiteY26" fmla="*/ 0 h 917096"/>
                <a:gd name="connsiteX27" fmla="*/ 219075 w 799147"/>
                <a:gd name="connsiteY27" fmla="*/ 44713 h 917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99147" h="917096">
                  <a:moveTo>
                    <a:pt x="219075" y="44713"/>
                  </a:moveTo>
                  <a:cubicBezTo>
                    <a:pt x="147638" y="83719"/>
                    <a:pt x="92393" y="139848"/>
                    <a:pt x="55245" y="212150"/>
                  </a:cubicBezTo>
                  <a:cubicBezTo>
                    <a:pt x="19050" y="283501"/>
                    <a:pt x="0" y="365317"/>
                    <a:pt x="0" y="455694"/>
                  </a:cubicBezTo>
                  <a:cubicBezTo>
                    <a:pt x="0" y="539413"/>
                    <a:pt x="16193" y="617423"/>
                    <a:pt x="48577" y="688774"/>
                  </a:cubicBezTo>
                  <a:cubicBezTo>
                    <a:pt x="81915" y="762028"/>
                    <a:pt x="132397" y="819109"/>
                    <a:pt x="199072" y="858114"/>
                  </a:cubicBezTo>
                  <a:cubicBezTo>
                    <a:pt x="264795" y="897119"/>
                    <a:pt x="342900" y="917097"/>
                    <a:pt x="430530" y="917097"/>
                  </a:cubicBezTo>
                  <a:cubicBezTo>
                    <a:pt x="499110" y="917097"/>
                    <a:pt x="567690" y="903778"/>
                    <a:pt x="634365" y="876189"/>
                  </a:cubicBezTo>
                  <a:cubicBezTo>
                    <a:pt x="701040" y="848600"/>
                    <a:pt x="753427" y="816255"/>
                    <a:pt x="789622" y="780103"/>
                  </a:cubicBezTo>
                  <a:lnTo>
                    <a:pt x="799147" y="770590"/>
                  </a:lnTo>
                  <a:lnTo>
                    <a:pt x="799147" y="395760"/>
                  </a:lnTo>
                  <a:lnTo>
                    <a:pt x="391477" y="395760"/>
                  </a:lnTo>
                  <a:lnTo>
                    <a:pt x="391477" y="602202"/>
                  </a:lnTo>
                  <a:cubicBezTo>
                    <a:pt x="391477" y="602202"/>
                    <a:pt x="527685" y="602202"/>
                    <a:pt x="572452" y="602202"/>
                  </a:cubicBezTo>
                  <a:cubicBezTo>
                    <a:pt x="572452" y="625034"/>
                    <a:pt x="572452" y="640256"/>
                    <a:pt x="572452" y="654526"/>
                  </a:cubicBezTo>
                  <a:cubicBezTo>
                    <a:pt x="553402" y="667845"/>
                    <a:pt x="532447" y="680212"/>
                    <a:pt x="507682" y="690677"/>
                  </a:cubicBezTo>
                  <a:cubicBezTo>
                    <a:pt x="478155" y="702093"/>
                    <a:pt x="449580" y="708752"/>
                    <a:pt x="421005" y="708752"/>
                  </a:cubicBezTo>
                  <a:cubicBezTo>
                    <a:pt x="363855" y="708752"/>
                    <a:pt x="319088" y="688774"/>
                    <a:pt x="283845" y="647866"/>
                  </a:cubicBezTo>
                  <a:cubicBezTo>
                    <a:pt x="247650" y="605056"/>
                    <a:pt x="229552" y="539413"/>
                    <a:pt x="229552" y="449987"/>
                  </a:cubicBezTo>
                  <a:cubicBezTo>
                    <a:pt x="229552" y="368171"/>
                    <a:pt x="247650" y="307285"/>
                    <a:pt x="281940" y="267328"/>
                  </a:cubicBezTo>
                  <a:cubicBezTo>
                    <a:pt x="316230" y="228323"/>
                    <a:pt x="361950" y="209296"/>
                    <a:pt x="421005" y="209296"/>
                  </a:cubicBezTo>
                  <a:cubicBezTo>
                    <a:pt x="459105" y="209296"/>
                    <a:pt x="489585" y="218809"/>
                    <a:pt x="514350" y="236885"/>
                  </a:cubicBezTo>
                  <a:cubicBezTo>
                    <a:pt x="539115" y="255912"/>
                    <a:pt x="555307" y="281598"/>
                    <a:pt x="564832" y="314895"/>
                  </a:cubicBezTo>
                  <a:lnTo>
                    <a:pt x="573405" y="345339"/>
                  </a:lnTo>
                  <a:lnTo>
                    <a:pt x="794385" y="301577"/>
                  </a:lnTo>
                  <a:lnTo>
                    <a:pt x="787718" y="268280"/>
                  </a:lnTo>
                  <a:cubicBezTo>
                    <a:pt x="770572" y="185512"/>
                    <a:pt x="730568" y="118918"/>
                    <a:pt x="669607" y="71351"/>
                  </a:cubicBezTo>
                  <a:cubicBezTo>
                    <a:pt x="609600" y="23784"/>
                    <a:pt x="525780" y="0"/>
                    <a:pt x="421005" y="0"/>
                  </a:cubicBezTo>
                  <a:cubicBezTo>
                    <a:pt x="342900" y="0"/>
                    <a:pt x="274320" y="15222"/>
                    <a:pt x="219075" y="44713"/>
                  </a:cubicBezTo>
                  <a:close/>
                </a:path>
              </a:pathLst>
            </a:custGeom>
            <a:solidFill>
              <a:srgbClr val="087846"/>
            </a:solidFill>
            <a:ln w="952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14A0779D-9CC0-3946-A153-0577BD1A8992}"/>
                </a:ext>
              </a:extLst>
            </p:cNvPr>
            <p:cNvSpPr/>
            <p:nvPr/>
          </p:nvSpPr>
          <p:spPr>
            <a:xfrm>
              <a:off x="17994630" y="10728304"/>
              <a:ext cx="851534" cy="890459"/>
            </a:xfrm>
            <a:custGeom>
              <a:avLst/>
              <a:gdLst>
                <a:gd name="connsiteX0" fmla="*/ 589597 w 851534"/>
                <a:gd name="connsiteY0" fmla="*/ 0 h 890459"/>
                <a:gd name="connsiteX1" fmla="*/ 428625 w 851534"/>
                <a:gd name="connsiteY1" fmla="*/ 291112 h 890459"/>
                <a:gd name="connsiteX2" fmla="*/ 263843 w 851534"/>
                <a:gd name="connsiteY2" fmla="*/ 0 h 890459"/>
                <a:gd name="connsiteX3" fmla="*/ 0 w 851534"/>
                <a:gd name="connsiteY3" fmla="*/ 0 h 890459"/>
                <a:gd name="connsiteX4" fmla="*/ 312420 w 851534"/>
                <a:gd name="connsiteY4" fmla="*/ 519435 h 890459"/>
                <a:gd name="connsiteX5" fmla="*/ 312420 w 851534"/>
                <a:gd name="connsiteY5" fmla="*/ 890459 h 890459"/>
                <a:gd name="connsiteX6" fmla="*/ 538163 w 851534"/>
                <a:gd name="connsiteY6" fmla="*/ 890459 h 890459"/>
                <a:gd name="connsiteX7" fmla="*/ 538163 w 851534"/>
                <a:gd name="connsiteY7" fmla="*/ 521337 h 890459"/>
                <a:gd name="connsiteX8" fmla="*/ 851535 w 851534"/>
                <a:gd name="connsiteY8" fmla="*/ 951 h 890459"/>
                <a:gd name="connsiteX9" fmla="*/ 589597 w 851534"/>
                <a:gd name="connsiteY9" fmla="*/ 951 h 890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1534" h="890459">
                  <a:moveTo>
                    <a:pt x="589597" y="0"/>
                  </a:moveTo>
                  <a:cubicBezTo>
                    <a:pt x="589597" y="0"/>
                    <a:pt x="469582" y="216907"/>
                    <a:pt x="428625" y="291112"/>
                  </a:cubicBezTo>
                  <a:cubicBezTo>
                    <a:pt x="386715" y="217858"/>
                    <a:pt x="263843" y="0"/>
                    <a:pt x="263843" y="0"/>
                  </a:cubicBezTo>
                  <a:lnTo>
                    <a:pt x="0" y="0"/>
                  </a:lnTo>
                  <a:cubicBezTo>
                    <a:pt x="0" y="0"/>
                    <a:pt x="302895" y="504213"/>
                    <a:pt x="312420" y="519435"/>
                  </a:cubicBezTo>
                  <a:cubicBezTo>
                    <a:pt x="312420" y="537510"/>
                    <a:pt x="312420" y="890459"/>
                    <a:pt x="312420" y="890459"/>
                  </a:cubicBezTo>
                  <a:lnTo>
                    <a:pt x="538163" y="890459"/>
                  </a:lnTo>
                  <a:cubicBezTo>
                    <a:pt x="538163" y="890459"/>
                    <a:pt x="538163" y="538461"/>
                    <a:pt x="538163" y="521337"/>
                  </a:cubicBezTo>
                  <a:cubicBezTo>
                    <a:pt x="547688" y="506116"/>
                    <a:pt x="851535" y="951"/>
                    <a:pt x="851535" y="951"/>
                  </a:cubicBezTo>
                  <a:lnTo>
                    <a:pt x="589597" y="951"/>
                  </a:lnTo>
                  <a:close/>
                </a:path>
              </a:pathLst>
            </a:custGeom>
            <a:solidFill>
              <a:srgbClr val="087846"/>
            </a:solidFill>
            <a:ln w="952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C39975EB-C3E6-B146-BE04-B6669D31D29D}"/>
                </a:ext>
              </a:extLst>
            </p:cNvPr>
            <p:cNvSpPr/>
            <p:nvPr/>
          </p:nvSpPr>
          <p:spPr>
            <a:xfrm>
              <a:off x="14072234" y="10316371"/>
              <a:ext cx="205740" cy="245447"/>
            </a:xfrm>
            <a:custGeom>
              <a:avLst/>
              <a:gdLst>
                <a:gd name="connsiteX0" fmla="*/ 953 w 205740"/>
                <a:gd name="connsiteY0" fmla="*/ 951 h 245447"/>
                <a:gd name="connsiteX1" fmla="*/ 52388 w 205740"/>
                <a:gd name="connsiteY1" fmla="*/ 951 h 245447"/>
                <a:gd name="connsiteX2" fmla="*/ 52388 w 205740"/>
                <a:gd name="connsiteY2" fmla="*/ 131286 h 245447"/>
                <a:gd name="connsiteX3" fmla="*/ 54293 w 205740"/>
                <a:gd name="connsiteY3" fmla="*/ 171242 h 245447"/>
                <a:gd name="connsiteX4" fmla="*/ 70485 w 205740"/>
                <a:gd name="connsiteY4" fmla="*/ 195026 h 245447"/>
                <a:gd name="connsiteX5" fmla="*/ 104775 w 205740"/>
                <a:gd name="connsiteY5" fmla="*/ 203588 h 245447"/>
                <a:gd name="connsiteX6" fmla="*/ 138113 w 205740"/>
                <a:gd name="connsiteY6" fmla="*/ 195026 h 245447"/>
                <a:gd name="connsiteX7" fmla="*/ 151447 w 205740"/>
                <a:gd name="connsiteY7" fmla="*/ 174096 h 245447"/>
                <a:gd name="connsiteX8" fmla="*/ 153353 w 205740"/>
                <a:gd name="connsiteY8" fmla="*/ 133188 h 245447"/>
                <a:gd name="connsiteX9" fmla="*/ 153353 w 205740"/>
                <a:gd name="connsiteY9" fmla="*/ 0 h 245447"/>
                <a:gd name="connsiteX10" fmla="*/ 205740 w 205740"/>
                <a:gd name="connsiteY10" fmla="*/ 0 h 245447"/>
                <a:gd name="connsiteX11" fmla="*/ 205740 w 205740"/>
                <a:gd name="connsiteY11" fmla="*/ 126529 h 245447"/>
                <a:gd name="connsiteX12" fmla="*/ 200978 w 205740"/>
                <a:gd name="connsiteY12" fmla="*/ 187415 h 245447"/>
                <a:gd name="connsiteX13" fmla="*/ 185738 w 205740"/>
                <a:gd name="connsiteY13" fmla="*/ 217858 h 245447"/>
                <a:gd name="connsiteX14" fmla="*/ 155258 w 205740"/>
                <a:gd name="connsiteY14" fmla="*/ 237836 h 245447"/>
                <a:gd name="connsiteX15" fmla="*/ 105728 w 205740"/>
                <a:gd name="connsiteY15" fmla="*/ 245447 h 245447"/>
                <a:gd name="connsiteX16" fmla="*/ 49530 w 205740"/>
                <a:gd name="connsiteY16" fmla="*/ 237836 h 245447"/>
                <a:gd name="connsiteX17" fmla="*/ 19050 w 205740"/>
                <a:gd name="connsiteY17" fmla="*/ 216907 h 245447"/>
                <a:gd name="connsiteX18" fmla="*/ 4763 w 205740"/>
                <a:gd name="connsiteY18" fmla="*/ 190269 h 245447"/>
                <a:gd name="connsiteX19" fmla="*/ 0 w 205740"/>
                <a:gd name="connsiteY19" fmla="*/ 129383 h 245447"/>
                <a:gd name="connsiteX20" fmla="*/ 0 w 205740"/>
                <a:gd name="connsiteY20" fmla="*/ 951 h 245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740" h="245447">
                  <a:moveTo>
                    <a:pt x="953" y="951"/>
                  </a:moveTo>
                  <a:lnTo>
                    <a:pt x="52388" y="951"/>
                  </a:lnTo>
                  <a:lnTo>
                    <a:pt x="52388" y="131286"/>
                  </a:lnTo>
                  <a:cubicBezTo>
                    <a:pt x="52388" y="152215"/>
                    <a:pt x="53340" y="165534"/>
                    <a:pt x="54293" y="171242"/>
                  </a:cubicBezTo>
                  <a:cubicBezTo>
                    <a:pt x="56197" y="180756"/>
                    <a:pt x="61913" y="189318"/>
                    <a:pt x="70485" y="195026"/>
                  </a:cubicBezTo>
                  <a:cubicBezTo>
                    <a:pt x="79058" y="200734"/>
                    <a:pt x="90488" y="203588"/>
                    <a:pt x="104775" y="203588"/>
                  </a:cubicBezTo>
                  <a:cubicBezTo>
                    <a:pt x="119063" y="203588"/>
                    <a:pt x="130493" y="200734"/>
                    <a:pt x="138113" y="195026"/>
                  </a:cubicBezTo>
                  <a:cubicBezTo>
                    <a:pt x="145733" y="189318"/>
                    <a:pt x="150495" y="182658"/>
                    <a:pt x="151447" y="174096"/>
                  </a:cubicBezTo>
                  <a:cubicBezTo>
                    <a:pt x="153353" y="165534"/>
                    <a:pt x="153353" y="152215"/>
                    <a:pt x="153353" y="133188"/>
                  </a:cubicBezTo>
                  <a:lnTo>
                    <a:pt x="153353" y="0"/>
                  </a:lnTo>
                  <a:lnTo>
                    <a:pt x="205740" y="0"/>
                  </a:lnTo>
                  <a:lnTo>
                    <a:pt x="205740" y="126529"/>
                  </a:lnTo>
                  <a:cubicBezTo>
                    <a:pt x="205740" y="155069"/>
                    <a:pt x="203835" y="175999"/>
                    <a:pt x="200978" y="187415"/>
                  </a:cubicBezTo>
                  <a:cubicBezTo>
                    <a:pt x="198120" y="199783"/>
                    <a:pt x="193358" y="209296"/>
                    <a:pt x="185738" y="217858"/>
                  </a:cubicBezTo>
                  <a:cubicBezTo>
                    <a:pt x="178118" y="226420"/>
                    <a:pt x="168593" y="232128"/>
                    <a:pt x="155258" y="237836"/>
                  </a:cubicBezTo>
                  <a:cubicBezTo>
                    <a:pt x="142875" y="242593"/>
                    <a:pt x="125730" y="245447"/>
                    <a:pt x="105728" y="245447"/>
                  </a:cubicBezTo>
                  <a:cubicBezTo>
                    <a:pt x="80963" y="245447"/>
                    <a:pt x="62865" y="242593"/>
                    <a:pt x="49530" y="237836"/>
                  </a:cubicBezTo>
                  <a:cubicBezTo>
                    <a:pt x="37147" y="232128"/>
                    <a:pt x="26670" y="225469"/>
                    <a:pt x="19050" y="216907"/>
                  </a:cubicBezTo>
                  <a:cubicBezTo>
                    <a:pt x="11430" y="208345"/>
                    <a:pt x="6668" y="199783"/>
                    <a:pt x="4763" y="190269"/>
                  </a:cubicBezTo>
                  <a:cubicBezTo>
                    <a:pt x="953" y="176950"/>
                    <a:pt x="0" y="156021"/>
                    <a:pt x="0" y="129383"/>
                  </a:cubicBezTo>
                  <a:lnTo>
                    <a:pt x="0" y="951"/>
                  </a:lnTo>
                  <a:close/>
                </a:path>
              </a:pathLst>
            </a:custGeom>
            <a:solidFill>
              <a:srgbClr val="0C7946"/>
            </a:solidFill>
            <a:ln w="952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3889493B-9340-9A4E-8C5A-6E4697A6B712}"/>
                </a:ext>
              </a:extLst>
            </p:cNvPr>
            <p:cNvSpPr/>
            <p:nvPr/>
          </p:nvSpPr>
          <p:spPr>
            <a:xfrm>
              <a:off x="14357032" y="10511397"/>
              <a:ext cx="49530" cy="45664"/>
            </a:xfrm>
            <a:custGeom>
              <a:avLst/>
              <a:gdLst>
                <a:gd name="connsiteX0" fmla="*/ 0 w 49530"/>
                <a:gd name="connsiteY0" fmla="*/ 45665 h 45664"/>
                <a:gd name="connsiteX1" fmla="*/ 0 w 49530"/>
                <a:gd name="connsiteY1" fmla="*/ 0 h 45664"/>
                <a:gd name="connsiteX2" fmla="*/ 49530 w 49530"/>
                <a:gd name="connsiteY2" fmla="*/ 0 h 45664"/>
                <a:gd name="connsiteX3" fmla="*/ 49530 w 49530"/>
                <a:gd name="connsiteY3" fmla="*/ 45665 h 45664"/>
                <a:gd name="connsiteX4" fmla="*/ 0 w 49530"/>
                <a:gd name="connsiteY4" fmla="*/ 45665 h 4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 h="45664">
                  <a:moveTo>
                    <a:pt x="0" y="45665"/>
                  </a:moveTo>
                  <a:lnTo>
                    <a:pt x="0" y="0"/>
                  </a:lnTo>
                  <a:lnTo>
                    <a:pt x="49530" y="0"/>
                  </a:lnTo>
                  <a:lnTo>
                    <a:pt x="49530" y="45665"/>
                  </a:lnTo>
                  <a:lnTo>
                    <a:pt x="0" y="45665"/>
                  </a:lnTo>
                  <a:close/>
                </a:path>
              </a:pathLst>
            </a:custGeom>
            <a:solidFill>
              <a:srgbClr val="0C7946"/>
            </a:solidFill>
            <a:ln w="952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1BB24445-5011-5040-9620-583A9E7B4099}"/>
                </a:ext>
              </a:extLst>
            </p:cNvPr>
            <p:cNvSpPr/>
            <p:nvPr/>
          </p:nvSpPr>
          <p:spPr>
            <a:xfrm>
              <a:off x="14470380" y="10314468"/>
              <a:ext cx="210502" cy="248301"/>
            </a:xfrm>
            <a:custGeom>
              <a:avLst/>
              <a:gdLst>
                <a:gd name="connsiteX0" fmla="*/ 0 w 210502"/>
                <a:gd name="connsiteY0" fmla="*/ 164583 h 248301"/>
                <a:gd name="connsiteX1" fmla="*/ 50482 w 210502"/>
                <a:gd name="connsiteY1" fmla="*/ 159826 h 248301"/>
                <a:gd name="connsiteX2" fmla="*/ 68580 w 210502"/>
                <a:gd name="connsiteY2" fmla="*/ 195026 h 248301"/>
                <a:gd name="connsiteX3" fmla="*/ 106680 w 210502"/>
                <a:gd name="connsiteY3" fmla="*/ 206442 h 248301"/>
                <a:gd name="connsiteX4" fmla="*/ 144780 w 210502"/>
                <a:gd name="connsiteY4" fmla="*/ 196928 h 248301"/>
                <a:gd name="connsiteX5" fmla="*/ 157163 w 210502"/>
                <a:gd name="connsiteY5" fmla="*/ 174096 h 248301"/>
                <a:gd name="connsiteX6" fmla="*/ 151447 w 210502"/>
                <a:gd name="connsiteY6" fmla="*/ 159826 h 248301"/>
                <a:gd name="connsiteX7" fmla="*/ 133350 w 210502"/>
                <a:gd name="connsiteY7" fmla="*/ 149361 h 248301"/>
                <a:gd name="connsiteX8" fmla="*/ 91440 w 210502"/>
                <a:gd name="connsiteY8" fmla="*/ 138896 h 248301"/>
                <a:gd name="connsiteX9" fmla="*/ 33338 w 210502"/>
                <a:gd name="connsiteY9" fmla="*/ 115113 h 248301"/>
                <a:gd name="connsiteX10" fmla="*/ 9525 w 210502"/>
                <a:gd name="connsiteY10" fmla="*/ 66594 h 248301"/>
                <a:gd name="connsiteX11" fmla="*/ 20955 w 210502"/>
                <a:gd name="connsiteY11" fmla="*/ 32346 h 248301"/>
                <a:gd name="connsiteX12" fmla="*/ 53340 w 210502"/>
                <a:gd name="connsiteY12" fmla="*/ 8562 h 248301"/>
                <a:gd name="connsiteX13" fmla="*/ 103822 w 210502"/>
                <a:gd name="connsiteY13" fmla="*/ 0 h 248301"/>
                <a:gd name="connsiteX14" fmla="*/ 176213 w 210502"/>
                <a:gd name="connsiteY14" fmla="*/ 19978 h 248301"/>
                <a:gd name="connsiteX15" fmla="*/ 201930 w 210502"/>
                <a:gd name="connsiteY15" fmla="*/ 73254 h 248301"/>
                <a:gd name="connsiteX16" fmla="*/ 150495 w 210502"/>
                <a:gd name="connsiteY16" fmla="*/ 75156 h 248301"/>
                <a:gd name="connsiteX17" fmla="*/ 136207 w 210502"/>
                <a:gd name="connsiteY17" fmla="*/ 48519 h 248301"/>
                <a:gd name="connsiteX18" fmla="*/ 103822 w 210502"/>
                <a:gd name="connsiteY18" fmla="*/ 39956 h 248301"/>
                <a:gd name="connsiteX19" fmla="*/ 68580 w 210502"/>
                <a:gd name="connsiteY19" fmla="*/ 48519 h 248301"/>
                <a:gd name="connsiteX20" fmla="*/ 60007 w 210502"/>
                <a:gd name="connsiteY20" fmla="*/ 63740 h 248301"/>
                <a:gd name="connsiteX21" fmla="*/ 67627 w 210502"/>
                <a:gd name="connsiteY21" fmla="*/ 78010 h 248301"/>
                <a:gd name="connsiteX22" fmla="*/ 115252 w 210502"/>
                <a:gd name="connsiteY22" fmla="*/ 94183 h 248301"/>
                <a:gd name="connsiteX23" fmla="*/ 171450 w 210502"/>
                <a:gd name="connsiteY23" fmla="*/ 111307 h 248301"/>
                <a:gd name="connsiteX24" fmla="*/ 200025 w 210502"/>
                <a:gd name="connsiteY24" fmla="*/ 136042 h 248301"/>
                <a:gd name="connsiteX25" fmla="*/ 210502 w 210502"/>
                <a:gd name="connsiteY25" fmla="*/ 174096 h 248301"/>
                <a:gd name="connsiteX26" fmla="*/ 198120 w 210502"/>
                <a:gd name="connsiteY26" fmla="*/ 213101 h 248301"/>
                <a:gd name="connsiteX27" fmla="*/ 163830 w 210502"/>
                <a:gd name="connsiteY27" fmla="*/ 239739 h 248301"/>
                <a:gd name="connsiteX28" fmla="*/ 107632 w 210502"/>
                <a:gd name="connsiteY28" fmla="*/ 248301 h 248301"/>
                <a:gd name="connsiteX29" fmla="*/ 32385 w 210502"/>
                <a:gd name="connsiteY29" fmla="*/ 227372 h 248301"/>
                <a:gd name="connsiteX30" fmla="*/ 0 w 210502"/>
                <a:gd name="connsiteY30" fmla="*/ 164583 h 248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0502" h="248301">
                  <a:moveTo>
                    <a:pt x="0" y="164583"/>
                  </a:moveTo>
                  <a:lnTo>
                    <a:pt x="50482" y="159826"/>
                  </a:lnTo>
                  <a:cubicBezTo>
                    <a:pt x="53340" y="175999"/>
                    <a:pt x="60007" y="187415"/>
                    <a:pt x="68580" y="195026"/>
                  </a:cubicBezTo>
                  <a:cubicBezTo>
                    <a:pt x="78105" y="202637"/>
                    <a:pt x="90488" y="206442"/>
                    <a:pt x="106680" y="206442"/>
                  </a:cubicBezTo>
                  <a:cubicBezTo>
                    <a:pt x="123825" y="206442"/>
                    <a:pt x="136207" y="202637"/>
                    <a:pt x="144780" y="196928"/>
                  </a:cubicBezTo>
                  <a:cubicBezTo>
                    <a:pt x="153352" y="190269"/>
                    <a:pt x="157163" y="182658"/>
                    <a:pt x="157163" y="174096"/>
                  </a:cubicBezTo>
                  <a:cubicBezTo>
                    <a:pt x="157163" y="168388"/>
                    <a:pt x="155257" y="163631"/>
                    <a:pt x="151447" y="159826"/>
                  </a:cubicBezTo>
                  <a:cubicBezTo>
                    <a:pt x="147638" y="156021"/>
                    <a:pt x="141922" y="152215"/>
                    <a:pt x="133350" y="149361"/>
                  </a:cubicBezTo>
                  <a:cubicBezTo>
                    <a:pt x="127635" y="147459"/>
                    <a:pt x="113347" y="143653"/>
                    <a:pt x="91440" y="138896"/>
                  </a:cubicBezTo>
                  <a:cubicBezTo>
                    <a:pt x="63817" y="132237"/>
                    <a:pt x="43815" y="124626"/>
                    <a:pt x="33338" y="115113"/>
                  </a:cubicBezTo>
                  <a:cubicBezTo>
                    <a:pt x="17145" y="101794"/>
                    <a:pt x="9525" y="85621"/>
                    <a:pt x="9525" y="66594"/>
                  </a:cubicBezTo>
                  <a:cubicBezTo>
                    <a:pt x="9525" y="54227"/>
                    <a:pt x="13335" y="42811"/>
                    <a:pt x="20955" y="32346"/>
                  </a:cubicBezTo>
                  <a:cubicBezTo>
                    <a:pt x="28575" y="21881"/>
                    <a:pt x="39052" y="13319"/>
                    <a:pt x="53340" y="8562"/>
                  </a:cubicBezTo>
                  <a:cubicBezTo>
                    <a:pt x="67627" y="2854"/>
                    <a:pt x="83820" y="0"/>
                    <a:pt x="103822" y="0"/>
                  </a:cubicBezTo>
                  <a:cubicBezTo>
                    <a:pt x="136207" y="0"/>
                    <a:pt x="160020" y="6659"/>
                    <a:pt x="176213" y="19978"/>
                  </a:cubicBezTo>
                  <a:cubicBezTo>
                    <a:pt x="192405" y="33297"/>
                    <a:pt x="200977" y="51373"/>
                    <a:pt x="201930" y="73254"/>
                  </a:cubicBezTo>
                  <a:lnTo>
                    <a:pt x="150495" y="75156"/>
                  </a:lnTo>
                  <a:cubicBezTo>
                    <a:pt x="148590" y="62789"/>
                    <a:pt x="143827" y="54227"/>
                    <a:pt x="136207" y="48519"/>
                  </a:cubicBezTo>
                  <a:cubicBezTo>
                    <a:pt x="128588" y="42811"/>
                    <a:pt x="118110" y="39956"/>
                    <a:pt x="103822" y="39956"/>
                  </a:cubicBezTo>
                  <a:cubicBezTo>
                    <a:pt x="88582" y="39956"/>
                    <a:pt x="77152" y="42811"/>
                    <a:pt x="68580" y="48519"/>
                  </a:cubicBezTo>
                  <a:cubicBezTo>
                    <a:pt x="62865" y="52324"/>
                    <a:pt x="60007" y="57081"/>
                    <a:pt x="60007" y="63740"/>
                  </a:cubicBezTo>
                  <a:cubicBezTo>
                    <a:pt x="60007" y="69448"/>
                    <a:pt x="62865" y="74205"/>
                    <a:pt x="67627" y="78010"/>
                  </a:cubicBezTo>
                  <a:cubicBezTo>
                    <a:pt x="74295" y="82767"/>
                    <a:pt x="89535" y="88475"/>
                    <a:pt x="115252" y="94183"/>
                  </a:cubicBezTo>
                  <a:cubicBezTo>
                    <a:pt x="140017" y="99891"/>
                    <a:pt x="159067" y="105599"/>
                    <a:pt x="171450" y="111307"/>
                  </a:cubicBezTo>
                  <a:cubicBezTo>
                    <a:pt x="183832" y="117016"/>
                    <a:pt x="192405" y="125578"/>
                    <a:pt x="200025" y="136042"/>
                  </a:cubicBezTo>
                  <a:cubicBezTo>
                    <a:pt x="206692" y="146507"/>
                    <a:pt x="210502" y="158875"/>
                    <a:pt x="210502" y="174096"/>
                  </a:cubicBezTo>
                  <a:cubicBezTo>
                    <a:pt x="210502" y="187415"/>
                    <a:pt x="206692" y="200734"/>
                    <a:pt x="198120" y="213101"/>
                  </a:cubicBezTo>
                  <a:cubicBezTo>
                    <a:pt x="189547" y="225469"/>
                    <a:pt x="178117" y="234031"/>
                    <a:pt x="163830" y="239739"/>
                  </a:cubicBezTo>
                  <a:cubicBezTo>
                    <a:pt x="148590" y="245447"/>
                    <a:pt x="130492" y="248301"/>
                    <a:pt x="107632" y="248301"/>
                  </a:cubicBezTo>
                  <a:cubicBezTo>
                    <a:pt x="75247" y="248301"/>
                    <a:pt x="50482" y="241642"/>
                    <a:pt x="32385" y="227372"/>
                  </a:cubicBezTo>
                  <a:cubicBezTo>
                    <a:pt x="13335" y="212150"/>
                    <a:pt x="2857" y="191220"/>
                    <a:pt x="0" y="164583"/>
                  </a:cubicBezTo>
                  <a:close/>
                </a:path>
              </a:pathLst>
            </a:custGeom>
            <a:solidFill>
              <a:srgbClr val="0C7946"/>
            </a:solidFill>
            <a:ln w="952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DB356B02-097C-0F4A-A0FC-2E86CF244DBD}"/>
                </a:ext>
              </a:extLst>
            </p:cNvPr>
            <p:cNvSpPr/>
            <p:nvPr/>
          </p:nvSpPr>
          <p:spPr>
            <a:xfrm>
              <a:off x="14747557" y="10511397"/>
              <a:ext cx="49530" cy="45664"/>
            </a:xfrm>
            <a:custGeom>
              <a:avLst/>
              <a:gdLst>
                <a:gd name="connsiteX0" fmla="*/ 0 w 49530"/>
                <a:gd name="connsiteY0" fmla="*/ 45665 h 45664"/>
                <a:gd name="connsiteX1" fmla="*/ 0 w 49530"/>
                <a:gd name="connsiteY1" fmla="*/ 0 h 45664"/>
                <a:gd name="connsiteX2" fmla="*/ 49530 w 49530"/>
                <a:gd name="connsiteY2" fmla="*/ 0 h 45664"/>
                <a:gd name="connsiteX3" fmla="*/ 49530 w 49530"/>
                <a:gd name="connsiteY3" fmla="*/ 45665 h 45664"/>
                <a:gd name="connsiteX4" fmla="*/ 0 w 49530"/>
                <a:gd name="connsiteY4" fmla="*/ 45665 h 4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 h="45664">
                  <a:moveTo>
                    <a:pt x="0" y="45665"/>
                  </a:moveTo>
                  <a:lnTo>
                    <a:pt x="0" y="0"/>
                  </a:lnTo>
                  <a:lnTo>
                    <a:pt x="49530" y="0"/>
                  </a:lnTo>
                  <a:lnTo>
                    <a:pt x="49530" y="45665"/>
                  </a:lnTo>
                  <a:lnTo>
                    <a:pt x="0" y="45665"/>
                  </a:lnTo>
                  <a:close/>
                </a:path>
              </a:pathLst>
            </a:custGeom>
            <a:solidFill>
              <a:srgbClr val="0C7946"/>
            </a:solidFill>
            <a:ln w="952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D66D4468-E005-D14F-A46B-5A633F3BC570}"/>
                </a:ext>
              </a:extLst>
            </p:cNvPr>
            <p:cNvSpPr/>
            <p:nvPr/>
          </p:nvSpPr>
          <p:spPr>
            <a:xfrm>
              <a:off x="14999017" y="10317323"/>
              <a:ext cx="215264" cy="240690"/>
            </a:xfrm>
            <a:custGeom>
              <a:avLst/>
              <a:gdLst>
                <a:gd name="connsiteX0" fmla="*/ 0 w 215264"/>
                <a:gd name="connsiteY0" fmla="*/ 0 h 240690"/>
                <a:gd name="connsiteX1" fmla="*/ 94297 w 215264"/>
                <a:gd name="connsiteY1" fmla="*/ 0 h 240690"/>
                <a:gd name="connsiteX2" fmla="*/ 142875 w 215264"/>
                <a:gd name="connsiteY2" fmla="*/ 4757 h 240690"/>
                <a:gd name="connsiteX3" fmla="*/ 181927 w 215264"/>
                <a:gd name="connsiteY3" fmla="*/ 26638 h 240690"/>
                <a:gd name="connsiteX4" fmla="*/ 206693 w 215264"/>
                <a:gd name="connsiteY4" fmla="*/ 65643 h 240690"/>
                <a:gd name="connsiteX5" fmla="*/ 215265 w 215264"/>
                <a:gd name="connsiteY5" fmla="*/ 122724 h 240690"/>
                <a:gd name="connsiteX6" fmla="*/ 207645 w 215264"/>
                <a:gd name="connsiteY6" fmla="*/ 174096 h 240690"/>
                <a:gd name="connsiteX7" fmla="*/ 180022 w 215264"/>
                <a:gd name="connsiteY7" fmla="*/ 216907 h 240690"/>
                <a:gd name="connsiteX8" fmla="*/ 143827 w 215264"/>
                <a:gd name="connsiteY8" fmla="*/ 235934 h 240690"/>
                <a:gd name="connsiteX9" fmla="*/ 98107 w 215264"/>
                <a:gd name="connsiteY9" fmla="*/ 240690 h 240690"/>
                <a:gd name="connsiteX10" fmla="*/ 952 w 215264"/>
                <a:gd name="connsiteY10" fmla="*/ 240690 h 240690"/>
                <a:gd name="connsiteX11" fmla="*/ 952 w 215264"/>
                <a:gd name="connsiteY11" fmla="*/ 0 h 240690"/>
                <a:gd name="connsiteX12" fmla="*/ 51435 w 215264"/>
                <a:gd name="connsiteY12" fmla="*/ 40908 h 240690"/>
                <a:gd name="connsiteX13" fmla="*/ 51435 w 215264"/>
                <a:gd name="connsiteY13" fmla="*/ 198831 h 240690"/>
                <a:gd name="connsiteX14" fmla="*/ 90488 w 215264"/>
                <a:gd name="connsiteY14" fmla="*/ 198831 h 240690"/>
                <a:gd name="connsiteX15" fmla="*/ 121920 w 215264"/>
                <a:gd name="connsiteY15" fmla="*/ 196928 h 240690"/>
                <a:gd name="connsiteX16" fmla="*/ 142875 w 215264"/>
                <a:gd name="connsiteY16" fmla="*/ 187415 h 240690"/>
                <a:gd name="connsiteX17" fmla="*/ 156210 w 215264"/>
                <a:gd name="connsiteY17" fmla="*/ 164583 h 240690"/>
                <a:gd name="connsiteX18" fmla="*/ 161925 w 215264"/>
                <a:gd name="connsiteY18" fmla="*/ 120821 h 240690"/>
                <a:gd name="connsiteX19" fmla="*/ 156210 w 215264"/>
                <a:gd name="connsiteY19" fmla="*/ 78010 h 240690"/>
                <a:gd name="connsiteX20" fmla="*/ 141922 w 215264"/>
                <a:gd name="connsiteY20" fmla="*/ 55178 h 240690"/>
                <a:gd name="connsiteX21" fmla="*/ 118110 w 215264"/>
                <a:gd name="connsiteY21" fmla="*/ 43762 h 240690"/>
                <a:gd name="connsiteX22" fmla="*/ 75247 w 215264"/>
                <a:gd name="connsiteY22" fmla="*/ 41859 h 240690"/>
                <a:gd name="connsiteX23" fmla="*/ 51435 w 215264"/>
                <a:gd name="connsiteY23" fmla="*/ 41859 h 24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5264" h="240690">
                  <a:moveTo>
                    <a:pt x="0" y="0"/>
                  </a:moveTo>
                  <a:lnTo>
                    <a:pt x="94297" y="0"/>
                  </a:lnTo>
                  <a:cubicBezTo>
                    <a:pt x="115252" y="0"/>
                    <a:pt x="132397" y="1903"/>
                    <a:pt x="142875" y="4757"/>
                  </a:cubicBezTo>
                  <a:cubicBezTo>
                    <a:pt x="158115" y="8562"/>
                    <a:pt x="170497" y="16173"/>
                    <a:pt x="181927" y="26638"/>
                  </a:cubicBezTo>
                  <a:cubicBezTo>
                    <a:pt x="192405" y="37102"/>
                    <a:pt x="200977" y="50421"/>
                    <a:pt x="206693" y="65643"/>
                  </a:cubicBezTo>
                  <a:cubicBezTo>
                    <a:pt x="212407" y="80864"/>
                    <a:pt x="215265" y="99891"/>
                    <a:pt x="215265" y="122724"/>
                  </a:cubicBezTo>
                  <a:cubicBezTo>
                    <a:pt x="215265" y="142702"/>
                    <a:pt x="212407" y="159826"/>
                    <a:pt x="207645" y="174096"/>
                  </a:cubicBezTo>
                  <a:cubicBezTo>
                    <a:pt x="200977" y="191220"/>
                    <a:pt x="192405" y="205491"/>
                    <a:pt x="180022" y="216907"/>
                  </a:cubicBezTo>
                  <a:cubicBezTo>
                    <a:pt x="171450" y="225469"/>
                    <a:pt x="159068" y="231177"/>
                    <a:pt x="143827" y="235934"/>
                  </a:cubicBezTo>
                  <a:cubicBezTo>
                    <a:pt x="132397" y="239739"/>
                    <a:pt x="117157" y="240690"/>
                    <a:pt x="98107" y="240690"/>
                  </a:cubicBezTo>
                  <a:lnTo>
                    <a:pt x="952" y="240690"/>
                  </a:lnTo>
                  <a:lnTo>
                    <a:pt x="952" y="0"/>
                  </a:lnTo>
                  <a:close/>
                  <a:moveTo>
                    <a:pt x="51435" y="40908"/>
                  </a:moveTo>
                  <a:lnTo>
                    <a:pt x="51435" y="198831"/>
                  </a:lnTo>
                  <a:lnTo>
                    <a:pt x="90488" y="198831"/>
                  </a:lnTo>
                  <a:cubicBezTo>
                    <a:pt x="104775" y="198831"/>
                    <a:pt x="115252" y="197880"/>
                    <a:pt x="121920" y="196928"/>
                  </a:cubicBezTo>
                  <a:cubicBezTo>
                    <a:pt x="130493" y="195026"/>
                    <a:pt x="137160" y="191220"/>
                    <a:pt x="142875" y="187415"/>
                  </a:cubicBezTo>
                  <a:cubicBezTo>
                    <a:pt x="148590" y="182658"/>
                    <a:pt x="153352" y="175048"/>
                    <a:pt x="156210" y="164583"/>
                  </a:cubicBezTo>
                  <a:cubicBezTo>
                    <a:pt x="160020" y="154118"/>
                    <a:pt x="161925" y="138896"/>
                    <a:pt x="161925" y="120821"/>
                  </a:cubicBezTo>
                  <a:cubicBezTo>
                    <a:pt x="161925" y="102745"/>
                    <a:pt x="160020" y="88475"/>
                    <a:pt x="156210" y="78010"/>
                  </a:cubicBezTo>
                  <a:cubicBezTo>
                    <a:pt x="152400" y="68497"/>
                    <a:pt x="147638" y="59935"/>
                    <a:pt x="141922" y="55178"/>
                  </a:cubicBezTo>
                  <a:cubicBezTo>
                    <a:pt x="135255" y="49470"/>
                    <a:pt x="127635" y="45664"/>
                    <a:pt x="118110" y="43762"/>
                  </a:cubicBezTo>
                  <a:cubicBezTo>
                    <a:pt x="110490" y="41859"/>
                    <a:pt x="96202" y="41859"/>
                    <a:pt x="75247" y="41859"/>
                  </a:cubicBezTo>
                  <a:lnTo>
                    <a:pt x="51435" y="41859"/>
                  </a:lnTo>
                  <a:close/>
                </a:path>
              </a:pathLst>
            </a:custGeom>
            <a:solidFill>
              <a:srgbClr val="0C7946"/>
            </a:solidFill>
            <a:ln w="952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47943A21-FAE7-D940-BC11-01646F64EF8B}"/>
                </a:ext>
              </a:extLst>
            </p:cNvPr>
            <p:cNvSpPr/>
            <p:nvPr/>
          </p:nvSpPr>
          <p:spPr>
            <a:xfrm>
              <a:off x="15283814" y="10317323"/>
              <a:ext cx="194310" cy="240690"/>
            </a:xfrm>
            <a:custGeom>
              <a:avLst/>
              <a:gdLst>
                <a:gd name="connsiteX0" fmla="*/ 0 w 194310"/>
                <a:gd name="connsiteY0" fmla="*/ 239739 h 240690"/>
                <a:gd name="connsiteX1" fmla="*/ 0 w 194310"/>
                <a:gd name="connsiteY1" fmla="*/ 0 h 240690"/>
                <a:gd name="connsiteX2" fmla="*/ 190500 w 194310"/>
                <a:gd name="connsiteY2" fmla="*/ 0 h 240690"/>
                <a:gd name="connsiteX3" fmla="*/ 190500 w 194310"/>
                <a:gd name="connsiteY3" fmla="*/ 40908 h 240690"/>
                <a:gd name="connsiteX4" fmla="*/ 51435 w 194310"/>
                <a:gd name="connsiteY4" fmla="*/ 40908 h 240690"/>
                <a:gd name="connsiteX5" fmla="*/ 51435 w 194310"/>
                <a:gd name="connsiteY5" fmla="*/ 94183 h 240690"/>
                <a:gd name="connsiteX6" fmla="*/ 180023 w 194310"/>
                <a:gd name="connsiteY6" fmla="*/ 94183 h 240690"/>
                <a:gd name="connsiteX7" fmla="*/ 180023 w 194310"/>
                <a:gd name="connsiteY7" fmla="*/ 135091 h 240690"/>
                <a:gd name="connsiteX8" fmla="*/ 51435 w 194310"/>
                <a:gd name="connsiteY8" fmla="*/ 135091 h 240690"/>
                <a:gd name="connsiteX9" fmla="*/ 51435 w 194310"/>
                <a:gd name="connsiteY9" fmla="*/ 199783 h 240690"/>
                <a:gd name="connsiteX10" fmla="*/ 194310 w 194310"/>
                <a:gd name="connsiteY10" fmla="*/ 199783 h 240690"/>
                <a:gd name="connsiteX11" fmla="*/ 194310 w 194310"/>
                <a:gd name="connsiteY11" fmla="*/ 240690 h 240690"/>
                <a:gd name="connsiteX12" fmla="*/ 0 w 194310"/>
                <a:gd name="connsiteY12" fmla="*/ 240690 h 24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4310" h="240690">
                  <a:moveTo>
                    <a:pt x="0" y="239739"/>
                  </a:moveTo>
                  <a:lnTo>
                    <a:pt x="0" y="0"/>
                  </a:lnTo>
                  <a:lnTo>
                    <a:pt x="190500" y="0"/>
                  </a:lnTo>
                  <a:lnTo>
                    <a:pt x="190500" y="40908"/>
                  </a:lnTo>
                  <a:lnTo>
                    <a:pt x="51435" y="40908"/>
                  </a:lnTo>
                  <a:lnTo>
                    <a:pt x="51435" y="94183"/>
                  </a:lnTo>
                  <a:lnTo>
                    <a:pt x="180023" y="94183"/>
                  </a:lnTo>
                  <a:lnTo>
                    <a:pt x="180023" y="135091"/>
                  </a:lnTo>
                  <a:lnTo>
                    <a:pt x="51435" y="135091"/>
                  </a:lnTo>
                  <a:lnTo>
                    <a:pt x="51435" y="199783"/>
                  </a:lnTo>
                  <a:lnTo>
                    <a:pt x="194310" y="199783"/>
                  </a:lnTo>
                  <a:lnTo>
                    <a:pt x="194310" y="240690"/>
                  </a:lnTo>
                  <a:lnTo>
                    <a:pt x="0" y="240690"/>
                  </a:lnTo>
                  <a:close/>
                </a:path>
              </a:pathLst>
            </a:custGeom>
            <a:solidFill>
              <a:srgbClr val="0C7946"/>
            </a:solidFill>
            <a:ln w="952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4684511F-9B0B-4A45-9750-267EEA4BF855}"/>
                </a:ext>
              </a:extLst>
            </p:cNvPr>
            <p:cNvSpPr/>
            <p:nvPr/>
          </p:nvSpPr>
          <p:spPr>
            <a:xfrm>
              <a:off x="15548610" y="10317323"/>
              <a:ext cx="197167" cy="240690"/>
            </a:xfrm>
            <a:custGeom>
              <a:avLst/>
              <a:gdLst>
                <a:gd name="connsiteX0" fmla="*/ 0 w 197167"/>
                <a:gd name="connsiteY0" fmla="*/ 239739 h 240690"/>
                <a:gd name="connsiteX1" fmla="*/ 0 w 197167"/>
                <a:gd name="connsiteY1" fmla="*/ 0 h 240690"/>
                <a:gd name="connsiteX2" fmla="*/ 82867 w 197167"/>
                <a:gd name="connsiteY2" fmla="*/ 0 h 240690"/>
                <a:gd name="connsiteX3" fmla="*/ 144780 w 197167"/>
                <a:gd name="connsiteY3" fmla="*/ 3805 h 240690"/>
                <a:gd name="connsiteX4" fmla="*/ 181927 w 197167"/>
                <a:gd name="connsiteY4" fmla="*/ 27589 h 240690"/>
                <a:gd name="connsiteX5" fmla="*/ 197167 w 197167"/>
                <a:gd name="connsiteY5" fmla="*/ 74205 h 240690"/>
                <a:gd name="connsiteX6" fmla="*/ 188595 w 197167"/>
                <a:gd name="connsiteY6" fmla="*/ 111307 h 240690"/>
                <a:gd name="connsiteX7" fmla="*/ 166688 w 197167"/>
                <a:gd name="connsiteY7" fmla="*/ 135091 h 240690"/>
                <a:gd name="connsiteX8" fmla="*/ 140017 w 197167"/>
                <a:gd name="connsiteY8" fmla="*/ 146507 h 240690"/>
                <a:gd name="connsiteX9" fmla="*/ 86677 w 197167"/>
                <a:gd name="connsiteY9" fmla="*/ 150312 h 240690"/>
                <a:gd name="connsiteX10" fmla="*/ 53340 w 197167"/>
                <a:gd name="connsiteY10" fmla="*/ 150312 h 240690"/>
                <a:gd name="connsiteX11" fmla="*/ 53340 w 197167"/>
                <a:gd name="connsiteY11" fmla="*/ 240690 h 240690"/>
                <a:gd name="connsiteX12" fmla="*/ 0 w 197167"/>
                <a:gd name="connsiteY12" fmla="*/ 240690 h 240690"/>
                <a:gd name="connsiteX13" fmla="*/ 52388 w 197167"/>
                <a:gd name="connsiteY13" fmla="*/ 40908 h 240690"/>
                <a:gd name="connsiteX14" fmla="*/ 52388 w 197167"/>
                <a:gd name="connsiteY14" fmla="*/ 108453 h 240690"/>
                <a:gd name="connsiteX15" fmla="*/ 80963 w 197167"/>
                <a:gd name="connsiteY15" fmla="*/ 108453 h 240690"/>
                <a:gd name="connsiteX16" fmla="*/ 121920 w 197167"/>
                <a:gd name="connsiteY16" fmla="*/ 104648 h 240690"/>
                <a:gd name="connsiteX17" fmla="*/ 138113 w 197167"/>
                <a:gd name="connsiteY17" fmla="*/ 93232 h 240690"/>
                <a:gd name="connsiteX18" fmla="*/ 143827 w 197167"/>
                <a:gd name="connsiteY18" fmla="*/ 75156 h 240690"/>
                <a:gd name="connsiteX19" fmla="*/ 135255 w 197167"/>
                <a:gd name="connsiteY19" fmla="*/ 53275 h 240690"/>
                <a:gd name="connsiteX20" fmla="*/ 114300 w 197167"/>
                <a:gd name="connsiteY20" fmla="*/ 42811 h 240690"/>
                <a:gd name="connsiteX21" fmla="*/ 77152 w 197167"/>
                <a:gd name="connsiteY21" fmla="*/ 40908 h 240690"/>
                <a:gd name="connsiteX22" fmla="*/ 52388 w 197167"/>
                <a:gd name="connsiteY22" fmla="*/ 40908 h 24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7167" h="240690">
                  <a:moveTo>
                    <a:pt x="0" y="239739"/>
                  </a:moveTo>
                  <a:lnTo>
                    <a:pt x="0" y="0"/>
                  </a:lnTo>
                  <a:lnTo>
                    <a:pt x="82867" y="0"/>
                  </a:lnTo>
                  <a:cubicBezTo>
                    <a:pt x="114300" y="0"/>
                    <a:pt x="135255" y="951"/>
                    <a:pt x="144780" y="3805"/>
                  </a:cubicBezTo>
                  <a:cubicBezTo>
                    <a:pt x="159067" y="7611"/>
                    <a:pt x="171450" y="15221"/>
                    <a:pt x="181927" y="27589"/>
                  </a:cubicBezTo>
                  <a:cubicBezTo>
                    <a:pt x="191452" y="39956"/>
                    <a:pt x="197167" y="55178"/>
                    <a:pt x="197167" y="74205"/>
                  </a:cubicBezTo>
                  <a:cubicBezTo>
                    <a:pt x="197167" y="88475"/>
                    <a:pt x="194310" y="100843"/>
                    <a:pt x="188595" y="111307"/>
                  </a:cubicBezTo>
                  <a:cubicBezTo>
                    <a:pt x="182880" y="120821"/>
                    <a:pt x="175260" y="129383"/>
                    <a:pt x="166688" y="135091"/>
                  </a:cubicBezTo>
                  <a:cubicBezTo>
                    <a:pt x="158115" y="140799"/>
                    <a:pt x="148590" y="144604"/>
                    <a:pt x="140017" y="146507"/>
                  </a:cubicBezTo>
                  <a:cubicBezTo>
                    <a:pt x="127635" y="148410"/>
                    <a:pt x="109538" y="150312"/>
                    <a:pt x="86677" y="150312"/>
                  </a:cubicBezTo>
                  <a:lnTo>
                    <a:pt x="53340" y="150312"/>
                  </a:lnTo>
                  <a:lnTo>
                    <a:pt x="53340" y="240690"/>
                  </a:lnTo>
                  <a:lnTo>
                    <a:pt x="0" y="240690"/>
                  </a:lnTo>
                  <a:close/>
                  <a:moveTo>
                    <a:pt x="52388" y="40908"/>
                  </a:moveTo>
                  <a:lnTo>
                    <a:pt x="52388" y="108453"/>
                  </a:lnTo>
                  <a:lnTo>
                    <a:pt x="80963" y="108453"/>
                  </a:lnTo>
                  <a:cubicBezTo>
                    <a:pt x="100965" y="108453"/>
                    <a:pt x="115252" y="107502"/>
                    <a:pt x="121920" y="104648"/>
                  </a:cubicBezTo>
                  <a:cubicBezTo>
                    <a:pt x="128588" y="101794"/>
                    <a:pt x="134302" y="97988"/>
                    <a:pt x="138113" y="93232"/>
                  </a:cubicBezTo>
                  <a:cubicBezTo>
                    <a:pt x="141922" y="87524"/>
                    <a:pt x="143827" y="81816"/>
                    <a:pt x="143827" y="75156"/>
                  </a:cubicBezTo>
                  <a:cubicBezTo>
                    <a:pt x="143827" y="66594"/>
                    <a:pt x="140970" y="58983"/>
                    <a:pt x="135255" y="53275"/>
                  </a:cubicBezTo>
                  <a:cubicBezTo>
                    <a:pt x="129540" y="47567"/>
                    <a:pt x="122872" y="43762"/>
                    <a:pt x="114300" y="42811"/>
                  </a:cubicBezTo>
                  <a:cubicBezTo>
                    <a:pt x="108585" y="41859"/>
                    <a:pt x="95250" y="40908"/>
                    <a:pt x="77152" y="40908"/>
                  </a:cubicBezTo>
                  <a:lnTo>
                    <a:pt x="52388" y="40908"/>
                  </a:lnTo>
                  <a:close/>
                </a:path>
              </a:pathLst>
            </a:custGeom>
            <a:solidFill>
              <a:srgbClr val="0C7946"/>
            </a:solidFill>
            <a:ln w="952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DB93118D-E147-D24A-8168-CAF6ACF7A688}"/>
                </a:ext>
              </a:extLst>
            </p:cNvPr>
            <p:cNvSpPr/>
            <p:nvPr/>
          </p:nvSpPr>
          <p:spPr>
            <a:xfrm>
              <a:off x="15761017" y="10317323"/>
              <a:ext cx="257175" cy="239739"/>
            </a:xfrm>
            <a:custGeom>
              <a:avLst/>
              <a:gdLst>
                <a:gd name="connsiteX0" fmla="*/ 257175 w 257175"/>
                <a:gd name="connsiteY0" fmla="*/ 239739 h 239739"/>
                <a:gd name="connsiteX1" fmla="*/ 200977 w 257175"/>
                <a:gd name="connsiteY1" fmla="*/ 239739 h 239739"/>
                <a:gd name="connsiteX2" fmla="*/ 179070 w 257175"/>
                <a:gd name="connsiteY2" fmla="*/ 185512 h 239739"/>
                <a:gd name="connsiteX3" fmla="*/ 76200 w 257175"/>
                <a:gd name="connsiteY3" fmla="*/ 185512 h 239739"/>
                <a:gd name="connsiteX4" fmla="*/ 55245 w 257175"/>
                <a:gd name="connsiteY4" fmla="*/ 239739 h 239739"/>
                <a:gd name="connsiteX5" fmla="*/ 0 w 257175"/>
                <a:gd name="connsiteY5" fmla="*/ 239739 h 239739"/>
                <a:gd name="connsiteX6" fmla="*/ 100013 w 257175"/>
                <a:gd name="connsiteY6" fmla="*/ 0 h 239739"/>
                <a:gd name="connsiteX7" fmla="*/ 155257 w 257175"/>
                <a:gd name="connsiteY7" fmla="*/ 0 h 239739"/>
                <a:gd name="connsiteX8" fmla="*/ 257175 w 257175"/>
                <a:gd name="connsiteY8" fmla="*/ 239739 h 239739"/>
                <a:gd name="connsiteX9" fmla="*/ 161925 w 257175"/>
                <a:gd name="connsiteY9" fmla="*/ 144604 h 239739"/>
                <a:gd name="connsiteX10" fmla="*/ 126682 w 257175"/>
                <a:gd name="connsiteY10" fmla="*/ 56129 h 239739"/>
                <a:gd name="connsiteX11" fmla="*/ 92393 w 257175"/>
                <a:gd name="connsiteY11" fmla="*/ 144604 h 239739"/>
                <a:gd name="connsiteX12" fmla="*/ 161925 w 257175"/>
                <a:gd name="connsiteY12" fmla="*/ 144604 h 2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7175" h="239739">
                  <a:moveTo>
                    <a:pt x="257175" y="239739"/>
                  </a:moveTo>
                  <a:lnTo>
                    <a:pt x="200977" y="239739"/>
                  </a:lnTo>
                  <a:lnTo>
                    <a:pt x="179070" y="185512"/>
                  </a:lnTo>
                  <a:lnTo>
                    <a:pt x="76200" y="185512"/>
                  </a:lnTo>
                  <a:lnTo>
                    <a:pt x="55245" y="239739"/>
                  </a:lnTo>
                  <a:lnTo>
                    <a:pt x="0" y="239739"/>
                  </a:lnTo>
                  <a:lnTo>
                    <a:pt x="100013" y="0"/>
                  </a:lnTo>
                  <a:lnTo>
                    <a:pt x="155257" y="0"/>
                  </a:lnTo>
                  <a:lnTo>
                    <a:pt x="257175" y="239739"/>
                  </a:lnTo>
                  <a:close/>
                  <a:moveTo>
                    <a:pt x="161925" y="144604"/>
                  </a:moveTo>
                  <a:lnTo>
                    <a:pt x="126682" y="56129"/>
                  </a:lnTo>
                  <a:lnTo>
                    <a:pt x="92393" y="144604"/>
                  </a:lnTo>
                  <a:lnTo>
                    <a:pt x="161925" y="144604"/>
                  </a:lnTo>
                  <a:close/>
                </a:path>
              </a:pathLst>
            </a:custGeom>
            <a:solidFill>
              <a:srgbClr val="0C7946"/>
            </a:solidFill>
            <a:ln w="952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8D15B2E1-16D7-9F4C-9012-BA2573C37225}"/>
                </a:ext>
              </a:extLst>
            </p:cNvPr>
            <p:cNvSpPr/>
            <p:nvPr/>
          </p:nvSpPr>
          <p:spPr>
            <a:xfrm>
              <a:off x="16071532" y="10317323"/>
              <a:ext cx="230505" cy="239739"/>
            </a:xfrm>
            <a:custGeom>
              <a:avLst/>
              <a:gdLst>
                <a:gd name="connsiteX0" fmla="*/ 0 w 230505"/>
                <a:gd name="connsiteY0" fmla="*/ 239739 h 239739"/>
                <a:gd name="connsiteX1" fmla="*/ 0 w 230505"/>
                <a:gd name="connsiteY1" fmla="*/ 0 h 239739"/>
                <a:gd name="connsiteX2" fmla="*/ 108585 w 230505"/>
                <a:gd name="connsiteY2" fmla="*/ 0 h 239739"/>
                <a:gd name="connsiteX3" fmla="*/ 168593 w 230505"/>
                <a:gd name="connsiteY3" fmla="*/ 6659 h 239739"/>
                <a:gd name="connsiteX4" fmla="*/ 198120 w 230505"/>
                <a:gd name="connsiteY4" fmla="*/ 29492 h 239739"/>
                <a:gd name="connsiteX5" fmla="*/ 209550 w 230505"/>
                <a:gd name="connsiteY5" fmla="*/ 67545 h 239739"/>
                <a:gd name="connsiteX6" fmla="*/ 192405 w 230505"/>
                <a:gd name="connsiteY6" fmla="*/ 112259 h 239739"/>
                <a:gd name="connsiteX7" fmla="*/ 141923 w 230505"/>
                <a:gd name="connsiteY7" fmla="*/ 134140 h 239739"/>
                <a:gd name="connsiteX8" fmla="*/ 169545 w 230505"/>
                <a:gd name="connsiteY8" fmla="*/ 154118 h 239739"/>
                <a:gd name="connsiteX9" fmla="*/ 199073 w 230505"/>
                <a:gd name="connsiteY9" fmla="*/ 193123 h 239739"/>
                <a:gd name="connsiteX10" fmla="*/ 230505 w 230505"/>
                <a:gd name="connsiteY10" fmla="*/ 239739 h 239739"/>
                <a:gd name="connsiteX11" fmla="*/ 168593 w 230505"/>
                <a:gd name="connsiteY11" fmla="*/ 239739 h 239739"/>
                <a:gd name="connsiteX12" fmla="*/ 131445 w 230505"/>
                <a:gd name="connsiteY12" fmla="*/ 187415 h 239739"/>
                <a:gd name="connsiteX13" fmla="*/ 103823 w 230505"/>
                <a:gd name="connsiteY13" fmla="*/ 152215 h 239739"/>
                <a:gd name="connsiteX14" fmla="*/ 88582 w 230505"/>
                <a:gd name="connsiteY14" fmla="*/ 142702 h 239739"/>
                <a:gd name="connsiteX15" fmla="*/ 62865 w 230505"/>
                <a:gd name="connsiteY15" fmla="*/ 139848 h 239739"/>
                <a:gd name="connsiteX16" fmla="*/ 52388 w 230505"/>
                <a:gd name="connsiteY16" fmla="*/ 139848 h 239739"/>
                <a:gd name="connsiteX17" fmla="*/ 52388 w 230505"/>
                <a:gd name="connsiteY17" fmla="*/ 239739 h 239739"/>
                <a:gd name="connsiteX18" fmla="*/ 0 w 230505"/>
                <a:gd name="connsiteY18" fmla="*/ 239739 h 239739"/>
                <a:gd name="connsiteX19" fmla="*/ 52388 w 230505"/>
                <a:gd name="connsiteY19" fmla="*/ 100843 h 239739"/>
                <a:gd name="connsiteX20" fmla="*/ 90488 w 230505"/>
                <a:gd name="connsiteY20" fmla="*/ 100843 h 239739"/>
                <a:gd name="connsiteX21" fmla="*/ 137160 w 230505"/>
                <a:gd name="connsiteY21" fmla="*/ 97988 h 239739"/>
                <a:gd name="connsiteX22" fmla="*/ 151448 w 230505"/>
                <a:gd name="connsiteY22" fmla="*/ 87524 h 239739"/>
                <a:gd name="connsiteX23" fmla="*/ 157163 w 230505"/>
                <a:gd name="connsiteY23" fmla="*/ 69448 h 239739"/>
                <a:gd name="connsiteX24" fmla="*/ 150495 w 230505"/>
                <a:gd name="connsiteY24" fmla="*/ 50421 h 239739"/>
                <a:gd name="connsiteX25" fmla="*/ 130493 w 230505"/>
                <a:gd name="connsiteY25" fmla="*/ 40908 h 239739"/>
                <a:gd name="connsiteX26" fmla="*/ 92393 w 230505"/>
                <a:gd name="connsiteY26" fmla="*/ 39956 h 239739"/>
                <a:gd name="connsiteX27" fmla="*/ 52388 w 230505"/>
                <a:gd name="connsiteY27" fmla="*/ 39956 h 239739"/>
                <a:gd name="connsiteX28" fmla="*/ 52388 w 230505"/>
                <a:gd name="connsiteY28" fmla="*/ 100843 h 2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30505" h="239739">
                  <a:moveTo>
                    <a:pt x="0" y="239739"/>
                  </a:moveTo>
                  <a:lnTo>
                    <a:pt x="0" y="0"/>
                  </a:lnTo>
                  <a:lnTo>
                    <a:pt x="108585" y="0"/>
                  </a:lnTo>
                  <a:cubicBezTo>
                    <a:pt x="136207" y="0"/>
                    <a:pt x="156210" y="1903"/>
                    <a:pt x="168593" y="6659"/>
                  </a:cubicBezTo>
                  <a:cubicBezTo>
                    <a:pt x="180975" y="10465"/>
                    <a:pt x="191453" y="19027"/>
                    <a:pt x="198120" y="29492"/>
                  </a:cubicBezTo>
                  <a:cubicBezTo>
                    <a:pt x="205740" y="40908"/>
                    <a:pt x="209550" y="53275"/>
                    <a:pt x="209550" y="67545"/>
                  </a:cubicBezTo>
                  <a:cubicBezTo>
                    <a:pt x="209550" y="85621"/>
                    <a:pt x="203835" y="100843"/>
                    <a:pt x="192405" y="112259"/>
                  </a:cubicBezTo>
                  <a:cubicBezTo>
                    <a:pt x="180975" y="123675"/>
                    <a:pt x="163830" y="131286"/>
                    <a:pt x="141923" y="134140"/>
                  </a:cubicBezTo>
                  <a:cubicBezTo>
                    <a:pt x="153353" y="139848"/>
                    <a:pt x="161925" y="147459"/>
                    <a:pt x="169545" y="154118"/>
                  </a:cubicBezTo>
                  <a:cubicBezTo>
                    <a:pt x="177165" y="161729"/>
                    <a:pt x="186690" y="174096"/>
                    <a:pt x="199073" y="193123"/>
                  </a:cubicBezTo>
                  <a:lnTo>
                    <a:pt x="230505" y="239739"/>
                  </a:lnTo>
                  <a:lnTo>
                    <a:pt x="168593" y="239739"/>
                  </a:lnTo>
                  <a:lnTo>
                    <a:pt x="131445" y="187415"/>
                  </a:lnTo>
                  <a:cubicBezTo>
                    <a:pt x="118110" y="168388"/>
                    <a:pt x="108585" y="156972"/>
                    <a:pt x="103823" y="152215"/>
                  </a:cubicBezTo>
                  <a:cubicBezTo>
                    <a:pt x="99060" y="147459"/>
                    <a:pt x="93345" y="143653"/>
                    <a:pt x="88582" y="142702"/>
                  </a:cubicBezTo>
                  <a:cubicBezTo>
                    <a:pt x="82868" y="140799"/>
                    <a:pt x="74295" y="139848"/>
                    <a:pt x="62865" y="139848"/>
                  </a:cubicBezTo>
                  <a:lnTo>
                    <a:pt x="52388" y="139848"/>
                  </a:lnTo>
                  <a:lnTo>
                    <a:pt x="52388" y="239739"/>
                  </a:lnTo>
                  <a:lnTo>
                    <a:pt x="0" y="239739"/>
                  </a:lnTo>
                  <a:close/>
                  <a:moveTo>
                    <a:pt x="52388" y="100843"/>
                  </a:moveTo>
                  <a:lnTo>
                    <a:pt x="90488" y="100843"/>
                  </a:lnTo>
                  <a:cubicBezTo>
                    <a:pt x="115253" y="100843"/>
                    <a:pt x="130493" y="99891"/>
                    <a:pt x="137160" y="97988"/>
                  </a:cubicBezTo>
                  <a:cubicBezTo>
                    <a:pt x="142875" y="96086"/>
                    <a:pt x="148590" y="92280"/>
                    <a:pt x="151448" y="87524"/>
                  </a:cubicBezTo>
                  <a:cubicBezTo>
                    <a:pt x="155257" y="82767"/>
                    <a:pt x="157163" y="77059"/>
                    <a:pt x="157163" y="69448"/>
                  </a:cubicBezTo>
                  <a:cubicBezTo>
                    <a:pt x="157163" y="60886"/>
                    <a:pt x="155257" y="55178"/>
                    <a:pt x="150495" y="50421"/>
                  </a:cubicBezTo>
                  <a:cubicBezTo>
                    <a:pt x="145732" y="45664"/>
                    <a:pt x="139065" y="41859"/>
                    <a:pt x="130493" y="40908"/>
                  </a:cubicBezTo>
                  <a:cubicBezTo>
                    <a:pt x="126682" y="40908"/>
                    <a:pt x="113348" y="39956"/>
                    <a:pt x="92393" y="39956"/>
                  </a:cubicBezTo>
                  <a:lnTo>
                    <a:pt x="52388" y="39956"/>
                  </a:lnTo>
                  <a:lnTo>
                    <a:pt x="52388" y="100843"/>
                  </a:lnTo>
                  <a:close/>
                </a:path>
              </a:pathLst>
            </a:custGeom>
            <a:solidFill>
              <a:srgbClr val="0C7946"/>
            </a:solidFill>
            <a:ln w="952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93C5E73E-39AA-8745-8CAA-8A64B44C6A9D}"/>
                </a:ext>
              </a:extLst>
            </p:cNvPr>
            <p:cNvSpPr/>
            <p:nvPr/>
          </p:nvSpPr>
          <p:spPr>
            <a:xfrm>
              <a:off x="16338232" y="10317323"/>
              <a:ext cx="203835" cy="239739"/>
            </a:xfrm>
            <a:custGeom>
              <a:avLst/>
              <a:gdLst>
                <a:gd name="connsiteX0" fmla="*/ 76200 w 203835"/>
                <a:gd name="connsiteY0" fmla="*/ 239739 h 239739"/>
                <a:gd name="connsiteX1" fmla="*/ 76200 w 203835"/>
                <a:gd name="connsiteY1" fmla="*/ 40908 h 239739"/>
                <a:gd name="connsiteX2" fmla="*/ 0 w 203835"/>
                <a:gd name="connsiteY2" fmla="*/ 40908 h 239739"/>
                <a:gd name="connsiteX3" fmla="*/ 0 w 203835"/>
                <a:gd name="connsiteY3" fmla="*/ 0 h 239739"/>
                <a:gd name="connsiteX4" fmla="*/ 203835 w 203835"/>
                <a:gd name="connsiteY4" fmla="*/ 0 h 239739"/>
                <a:gd name="connsiteX5" fmla="*/ 203835 w 203835"/>
                <a:gd name="connsiteY5" fmla="*/ 40908 h 239739"/>
                <a:gd name="connsiteX6" fmla="*/ 127635 w 203835"/>
                <a:gd name="connsiteY6" fmla="*/ 40908 h 239739"/>
                <a:gd name="connsiteX7" fmla="*/ 127635 w 203835"/>
                <a:gd name="connsiteY7" fmla="*/ 239739 h 239739"/>
                <a:gd name="connsiteX8" fmla="*/ 76200 w 203835"/>
                <a:gd name="connsiteY8" fmla="*/ 239739 h 2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835" h="239739">
                  <a:moveTo>
                    <a:pt x="76200" y="239739"/>
                  </a:moveTo>
                  <a:lnTo>
                    <a:pt x="76200" y="40908"/>
                  </a:lnTo>
                  <a:lnTo>
                    <a:pt x="0" y="40908"/>
                  </a:lnTo>
                  <a:lnTo>
                    <a:pt x="0" y="0"/>
                  </a:lnTo>
                  <a:lnTo>
                    <a:pt x="203835" y="0"/>
                  </a:lnTo>
                  <a:lnTo>
                    <a:pt x="203835" y="40908"/>
                  </a:lnTo>
                  <a:lnTo>
                    <a:pt x="127635" y="40908"/>
                  </a:lnTo>
                  <a:lnTo>
                    <a:pt x="127635" y="239739"/>
                  </a:lnTo>
                  <a:lnTo>
                    <a:pt x="76200" y="239739"/>
                  </a:lnTo>
                  <a:close/>
                </a:path>
              </a:pathLst>
            </a:custGeom>
            <a:solidFill>
              <a:srgbClr val="0C7946"/>
            </a:solidFill>
            <a:ln w="952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9FCF57E8-536B-1443-80ED-A747DEC0E5B0}"/>
                </a:ext>
              </a:extLst>
            </p:cNvPr>
            <p:cNvSpPr/>
            <p:nvPr/>
          </p:nvSpPr>
          <p:spPr>
            <a:xfrm>
              <a:off x="16601122" y="10317323"/>
              <a:ext cx="247650" cy="239739"/>
            </a:xfrm>
            <a:custGeom>
              <a:avLst/>
              <a:gdLst>
                <a:gd name="connsiteX0" fmla="*/ 0 w 247650"/>
                <a:gd name="connsiteY0" fmla="*/ 239739 h 239739"/>
                <a:gd name="connsiteX1" fmla="*/ 0 w 247650"/>
                <a:gd name="connsiteY1" fmla="*/ 0 h 239739"/>
                <a:gd name="connsiteX2" fmla="*/ 77152 w 247650"/>
                <a:gd name="connsiteY2" fmla="*/ 0 h 239739"/>
                <a:gd name="connsiteX3" fmla="*/ 123825 w 247650"/>
                <a:gd name="connsiteY3" fmla="*/ 163631 h 239739"/>
                <a:gd name="connsiteX4" fmla="*/ 169545 w 247650"/>
                <a:gd name="connsiteY4" fmla="*/ 0 h 239739"/>
                <a:gd name="connsiteX5" fmla="*/ 247650 w 247650"/>
                <a:gd name="connsiteY5" fmla="*/ 0 h 239739"/>
                <a:gd name="connsiteX6" fmla="*/ 247650 w 247650"/>
                <a:gd name="connsiteY6" fmla="*/ 239739 h 239739"/>
                <a:gd name="connsiteX7" fmla="*/ 200025 w 247650"/>
                <a:gd name="connsiteY7" fmla="*/ 239739 h 239739"/>
                <a:gd name="connsiteX8" fmla="*/ 200025 w 247650"/>
                <a:gd name="connsiteY8" fmla="*/ 50421 h 239739"/>
                <a:gd name="connsiteX9" fmla="*/ 149542 w 247650"/>
                <a:gd name="connsiteY9" fmla="*/ 239739 h 239739"/>
                <a:gd name="connsiteX10" fmla="*/ 99060 w 247650"/>
                <a:gd name="connsiteY10" fmla="*/ 239739 h 239739"/>
                <a:gd name="connsiteX11" fmla="*/ 48577 w 247650"/>
                <a:gd name="connsiteY11" fmla="*/ 50421 h 239739"/>
                <a:gd name="connsiteX12" fmla="*/ 48577 w 247650"/>
                <a:gd name="connsiteY12" fmla="*/ 239739 h 239739"/>
                <a:gd name="connsiteX13" fmla="*/ 0 w 247650"/>
                <a:gd name="connsiteY13" fmla="*/ 239739 h 2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7650" h="239739">
                  <a:moveTo>
                    <a:pt x="0" y="239739"/>
                  </a:moveTo>
                  <a:lnTo>
                    <a:pt x="0" y="0"/>
                  </a:lnTo>
                  <a:lnTo>
                    <a:pt x="77152" y="0"/>
                  </a:lnTo>
                  <a:lnTo>
                    <a:pt x="123825" y="163631"/>
                  </a:lnTo>
                  <a:lnTo>
                    <a:pt x="169545" y="0"/>
                  </a:lnTo>
                  <a:lnTo>
                    <a:pt x="247650" y="0"/>
                  </a:lnTo>
                  <a:lnTo>
                    <a:pt x="247650" y="239739"/>
                  </a:lnTo>
                  <a:lnTo>
                    <a:pt x="200025" y="239739"/>
                  </a:lnTo>
                  <a:lnTo>
                    <a:pt x="200025" y="50421"/>
                  </a:lnTo>
                  <a:lnTo>
                    <a:pt x="149542" y="239739"/>
                  </a:lnTo>
                  <a:lnTo>
                    <a:pt x="99060" y="239739"/>
                  </a:lnTo>
                  <a:lnTo>
                    <a:pt x="48577" y="50421"/>
                  </a:lnTo>
                  <a:lnTo>
                    <a:pt x="48577" y="239739"/>
                  </a:lnTo>
                  <a:lnTo>
                    <a:pt x="0" y="239739"/>
                  </a:lnTo>
                  <a:close/>
                </a:path>
              </a:pathLst>
            </a:custGeom>
            <a:solidFill>
              <a:srgbClr val="0C7946"/>
            </a:solidFill>
            <a:ln w="952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41B26AD2-0B15-F44F-8CBD-1CD339A24E65}"/>
                </a:ext>
              </a:extLst>
            </p:cNvPr>
            <p:cNvSpPr/>
            <p:nvPr/>
          </p:nvSpPr>
          <p:spPr>
            <a:xfrm>
              <a:off x="16925925" y="10317323"/>
              <a:ext cx="195262" cy="240690"/>
            </a:xfrm>
            <a:custGeom>
              <a:avLst/>
              <a:gdLst>
                <a:gd name="connsiteX0" fmla="*/ 0 w 195262"/>
                <a:gd name="connsiteY0" fmla="*/ 239739 h 240690"/>
                <a:gd name="connsiteX1" fmla="*/ 0 w 195262"/>
                <a:gd name="connsiteY1" fmla="*/ 0 h 240690"/>
                <a:gd name="connsiteX2" fmla="*/ 190500 w 195262"/>
                <a:gd name="connsiteY2" fmla="*/ 0 h 240690"/>
                <a:gd name="connsiteX3" fmla="*/ 190500 w 195262"/>
                <a:gd name="connsiteY3" fmla="*/ 40908 h 240690"/>
                <a:gd name="connsiteX4" fmla="*/ 52388 w 195262"/>
                <a:gd name="connsiteY4" fmla="*/ 40908 h 240690"/>
                <a:gd name="connsiteX5" fmla="*/ 52388 w 195262"/>
                <a:gd name="connsiteY5" fmla="*/ 94183 h 240690"/>
                <a:gd name="connsiteX6" fmla="*/ 180975 w 195262"/>
                <a:gd name="connsiteY6" fmla="*/ 94183 h 240690"/>
                <a:gd name="connsiteX7" fmla="*/ 180975 w 195262"/>
                <a:gd name="connsiteY7" fmla="*/ 135091 h 240690"/>
                <a:gd name="connsiteX8" fmla="*/ 52388 w 195262"/>
                <a:gd name="connsiteY8" fmla="*/ 135091 h 240690"/>
                <a:gd name="connsiteX9" fmla="*/ 52388 w 195262"/>
                <a:gd name="connsiteY9" fmla="*/ 199783 h 240690"/>
                <a:gd name="connsiteX10" fmla="*/ 195263 w 195262"/>
                <a:gd name="connsiteY10" fmla="*/ 199783 h 240690"/>
                <a:gd name="connsiteX11" fmla="*/ 195263 w 195262"/>
                <a:gd name="connsiteY11" fmla="*/ 240690 h 240690"/>
                <a:gd name="connsiteX12" fmla="*/ 0 w 195262"/>
                <a:gd name="connsiteY12" fmla="*/ 240690 h 24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5262" h="240690">
                  <a:moveTo>
                    <a:pt x="0" y="239739"/>
                  </a:moveTo>
                  <a:lnTo>
                    <a:pt x="0" y="0"/>
                  </a:lnTo>
                  <a:lnTo>
                    <a:pt x="190500" y="0"/>
                  </a:lnTo>
                  <a:lnTo>
                    <a:pt x="190500" y="40908"/>
                  </a:lnTo>
                  <a:lnTo>
                    <a:pt x="52388" y="40908"/>
                  </a:lnTo>
                  <a:lnTo>
                    <a:pt x="52388" y="94183"/>
                  </a:lnTo>
                  <a:lnTo>
                    <a:pt x="180975" y="94183"/>
                  </a:lnTo>
                  <a:lnTo>
                    <a:pt x="180975" y="135091"/>
                  </a:lnTo>
                  <a:lnTo>
                    <a:pt x="52388" y="135091"/>
                  </a:lnTo>
                  <a:lnTo>
                    <a:pt x="52388" y="199783"/>
                  </a:lnTo>
                  <a:lnTo>
                    <a:pt x="195263" y="199783"/>
                  </a:lnTo>
                  <a:lnTo>
                    <a:pt x="195263" y="240690"/>
                  </a:lnTo>
                  <a:lnTo>
                    <a:pt x="0" y="240690"/>
                  </a:lnTo>
                  <a:close/>
                </a:path>
              </a:pathLst>
            </a:custGeom>
            <a:solidFill>
              <a:srgbClr val="0C7946"/>
            </a:solidFill>
            <a:ln w="952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B811D228-CE19-2742-A001-1AE64866A1D0}"/>
                </a:ext>
              </a:extLst>
            </p:cNvPr>
            <p:cNvSpPr/>
            <p:nvPr/>
          </p:nvSpPr>
          <p:spPr>
            <a:xfrm>
              <a:off x="17190719" y="10317323"/>
              <a:ext cx="203835" cy="239739"/>
            </a:xfrm>
            <a:custGeom>
              <a:avLst/>
              <a:gdLst>
                <a:gd name="connsiteX0" fmla="*/ 0 w 203835"/>
                <a:gd name="connsiteY0" fmla="*/ 239739 h 239739"/>
                <a:gd name="connsiteX1" fmla="*/ 0 w 203835"/>
                <a:gd name="connsiteY1" fmla="*/ 0 h 239739"/>
                <a:gd name="connsiteX2" fmla="*/ 50482 w 203835"/>
                <a:gd name="connsiteY2" fmla="*/ 0 h 239739"/>
                <a:gd name="connsiteX3" fmla="*/ 156210 w 203835"/>
                <a:gd name="connsiteY3" fmla="*/ 160777 h 239739"/>
                <a:gd name="connsiteX4" fmla="*/ 156210 w 203835"/>
                <a:gd name="connsiteY4" fmla="*/ 0 h 239739"/>
                <a:gd name="connsiteX5" fmla="*/ 203835 w 203835"/>
                <a:gd name="connsiteY5" fmla="*/ 0 h 239739"/>
                <a:gd name="connsiteX6" fmla="*/ 203835 w 203835"/>
                <a:gd name="connsiteY6" fmla="*/ 239739 h 239739"/>
                <a:gd name="connsiteX7" fmla="*/ 152400 w 203835"/>
                <a:gd name="connsiteY7" fmla="*/ 239739 h 239739"/>
                <a:gd name="connsiteX8" fmla="*/ 48578 w 203835"/>
                <a:gd name="connsiteY8" fmla="*/ 81816 h 239739"/>
                <a:gd name="connsiteX9" fmla="*/ 48578 w 203835"/>
                <a:gd name="connsiteY9" fmla="*/ 239739 h 239739"/>
                <a:gd name="connsiteX10" fmla="*/ 0 w 203835"/>
                <a:gd name="connsiteY10" fmla="*/ 239739 h 2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3835" h="239739">
                  <a:moveTo>
                    <a:pt x="0" y="239739"/>
                  </a:moveTo>
                  <a:lnTo>
                    <a:pt x="0" y="0"/>
                  </a:lnTo>
                  <a:lnTo>
                    <a:pt x="50482" y="0"/>
                  </a:lnTo>
                  <a:lnTo>
                    <a:pt x="156210" y="160777"/>
                  </a:lnTo>
                  <a:lnTo>
                    <a:pt x="156210" y="0"/>
                  </a:lnTo>
                  <a:lnTo>
                    <a:pt x="203835" y="0"/>
                  </a:lnTo>
                  <a:lnTo>
                    <a:pt x="203835" y="239739"/>
                  </a:lnTo>
                  <a:lnTo>
                    <a:pt x="152400" y="239739"/>
                  </a:lnTo>
                  <a:lnTo>
                    <a:pt x="48578" y="81816"/>
                  </a:lnTo>
                  <a:lnTo>
                    <a:pt x="48578" y="239739"/>
                  </a:lnTo>
                  <a:lnTo>
                    <a:pt x="0" y="239739"/>
                  </a:lnTo>
                  <a:close/>
                </a:path>
              </a:pathLst>
            </a:custGeom>
            <a:solidFill>
              <a:srgbClr val="0C7946"/>
            </a:solidFill>
            <a:ln w="952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F2428A55-9DB6-5A42-B210-E2F5A3876BB0}"/>
                </a:ext>
              </a:extLst>
            </p:cNvPr>
            <p:cNvSpPr/>
            <p:nvPr/>
          </p:nvSpPr>
          <p:spPr>
            <a:xfrm>
              <a:off x="17457419" y="10317323"/>
              <a:ext cx="203835" cy="239739"/>
            </a:xfrm>
            <a:custGeom>
              <a:avLst/>
              <a:gdLst>
                <a:gd name="connsiteX0" fmla="*/ 76200 w 203835"/>
                <a:gd name="connsiteY0" fmla="*/ 239739 h 239739"/>
                <a:gd name="connsiteX1" fmla="*/ 76200 w 203835"/>
                <a:gd name="connsiteY1" fmla="*/ 40908 h 239739"/>
                <a:gd name="connsiteX2" fmla="*/ 0 w 203835"/>
                <a:gd name="connsiteY2" fmla="*/ 40908 h 239739"/>
                <a:gd name="connsiteX3" fmla="*/ 0 w 203835"/>
                <a:gd name="connsiteY3" fmla="*/ 0 h 239739"/>
                <a:gd name="connsiteX4" fmla="*/ 203835 w 203835"/>
                <a:gd name="connsiteY4" fmla="*/ 0 h 239739"/>
                <a:gd name="connsiteX5" fmla="*/ 203835 w 203835"/>
                <a:gd name="connsiteY5" fmla="*/ 40908 h 239739"/>
                <a:gd name="connsiteX6" fmla="*/ 127635 w 203835"/>
                <a:gd name="connsiteY6" fmla="*/ 40908 h 239739"/>
                <a:gd name="connsiteX7" fmla="*/ 127635 w 203835"/>
                <a:gd name="connsiteY7" fmla="*/ 239739 h 239739"/>
                <a:gd name="connsiteX8" fmla="*/ 76200 w 203835"/>
                <a:gd name="connsiteY8" fmla="*/ 239739 h 2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835" h="239739">
                  <a:moveTo>
                    <a:pt x="76200" y="239739"/>
                  </a:moveTo>
                  <a:lnTo>
                    <a:pt x="76200" y="40908"/>
                  </a:lnTo>
                  <a:lnTo>
                    <a:pt x="0" y="40908"/>
                  </a:lnTo>
                  <a:lnTo>
                    <a:pt x="0" y="0"/>
                  </a:lnTo>
                  <a:lnTo>
                    <a:pt x="203835" y="0"/>
                  </a:lnTo>
                  <a:lnTo>
                    <a:pt x="203835" y="40908"/>
                  </a:lnTo>
                  <a:lnTo>
                    <a:pt x="127635" y="40908"/>
                  </a:lnTo>
                  <a:lnTo>
                    <a:pt x="127635" y="239739"/>
                  </a:lnTo>
                  <a:lnTo>
                    <a:pt x="76200" y="239739"/>
                  </a:lnTo>
                  <a:close/>
                </a:path>
              </a:pathLst>
            </a:custGeom>
            <a:solidFill>
              <a:srgbClr val="0C7946"/>
            </a:solidFill>
            <a:ln w="952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F3E76A3B-A059-494F-B418-EC260E5ED763}"/>
                </a:ext>
              </a:extLst>
            </p:cNvPr>
            <p:cNvSpPr/>
            <p:nvPr/>
          </p:nvSpPr>
          <p:spPr>
            <a:xfrm>
              <a:off x="17834610" y="10312566"/>
              <a:ext cx="248602" cy="249252"/>
            </a:xfrm>
            <a:custGeom>
              <a:avLst/>
              <a:gdLst>
                <a:gd name="connsiteX0" fmla="*/ 0 w 248602"/>
                <a:gd name="connsiteY0" fmla="*/ 126529 h 249252"/>
                <a:gd name="connsiteX1" fmla="*/ 11430 w 248602"/>
                <a:gd name="connsiteY1" fmla="*/ 64691 h 249252"/>
                <a:gd name="connsiteX2" fmla="*/ 35242 w 248602"/>
                <a:gd name="connsiteY2" fmla="*/ 31394 h 249252"/>
                <a:gd name="connsiteX3" fmla="*/ 68580 w 248602"/>
                <a:gd name="connsiteY3" fmla="*/ 9513 h 249252"/>
                <a:gd name="connsiteX4" fmla="*/ 123825 w 248602"/>
                <a:gd name="connsiteY4" fmla="*/ 0 h 249252"/>
                <a:gd name="connsiteX5" fmla="*/ 214313 w 248602"/>
                <a:gd name="connsiteY5" fmla="*/ 33297 h 249252"/>
                <a:gd name="connsiteX6" fmla="*/ 248602 w 248602"/>
                <a:gd name="connsiteY6" fmla="*/ 124626 h 249252"/>
                <a:gd name="connsiteX7" fmla="*/ 214313 w 248602"/>
                <a:gd name="connsiteY7" fmla="*/ 215955 h 249252"/>
                <a:gd name="connsiteX8" fmla="*/ 123825 w 248602"/>
                <a:gd name="connsiteY8" fmla="*/ 249252 h 249252"/>
                <a:gd name="connsiteX9" fmla="*/ 32385 w 248602"/>
                <a:gd name="connsiteY9" fmla="*/ 216907 h 249252"/>
                <a:gd name="connsiteX10" fmla="*/ 0 w 248602"/>
                <a:gd name="connsiteY10" fmla="*/ 126529 h 249252"/>
                <a:gd name="connsiteX11" fmla="*/ 53340 w 248602"/>
                <a:gd name="connsiteY11" fmla="*/ 124626 h 249252"/>
                <a:gd name="connsiteX12" fmla="*/ 73342 w 248602"/>
                <a:gd name="connsiteY12" fmla="*/ 186464 h 249252"/>
                <a:gd name="connsiteX13" fmla="*/ 124777 w 248602"/>
                <a:gd name="connsiteY13" fmla="*/ 207393 h 249252"/>
                <a:gd name="connsiteX14" fmla="*/ 176213 w 248602"/>
                <a:gd name="connsiteY14" fmla="*/ 186464 h 249252"/>
                <a:gd name="connsiteX15" fmla="*/ 196215 w 248602"/>
                <a:gd name="connsiteY15" fmla="*/ 123675 h 249252"/>
                <a:gd name="connsiteX16" fmla="*/ 177165 w 248602"/>
                <a:gd name="connsiteY16" fmla="*/ 61837 h 249252"/>
                <a:gd name="connsiteX17" fmla="*/ 125730 w 248602"/>
                <a:gd name="connsiteY17" fmla="*/ 41859 h 249252"/>
                <a:gd name="connsiteX18" fmla="*/ 74295 w 248602"/>
                <a:gd name="connsiteY18" fmla="*/ 62789 h 249252"/>
                <a:gd name="connsiteX19" fmla="*/ 53340 w 248602"/>
                <a:gd name="connsiteY19" fmla="*/ 124626 h 249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8602" h="249252">
                  <a:moveTo>
                    <a:pt x="0" y="126529"/>
                  </a:moveTo>
                  <a:cubicBezTo>
                    <a:pt x="0" y="101794"/>
                    <a:pt x="3810" y="81816"/>
                    <a:pt x="11430" y="64691"/>
                  </a:cubicBezTo>
                  <a:cubicBezTo>
                    <a:pt x="17145" y="52324"/>
                    <a:pt x="24765" y="41859"/>
                    <a:pt x="35242" y="31394"/>
                  </a:cubicBezTo>
                  <a:cubicBezTo>
                    <a:pt x="45720" y="21881"/>
                    <a:pt x="56197" y="14270"/>
                    <a:pt x="68580" y="9513"/>
                  </a:cubicBezTo>
                  <a:cubicBezTo>
                    <a:pt x="84772" y="2854"/>
                    <a:pt x="102870" y="0"/>
                    <a:pt x="123825" y="0"/>
                  </a:cubicBezTo>
                  <a:cubicBezTo>
                    <a:pt x="161925" y="0"/>
                    <a:pt x="192405" y="11416"/>
                    <a:pt x="214313" y="33297"/>
                  </a:cubicBezTo>
                  <a:cubicBezTo>
                    <a:pt x="237172" y="55178"/>
                    <a:pt x="248602" y="85621"/>
                    <a:pt x="248602" y="124626"/>
                  </a:cubicBezTo>
                  <a:cubicBezTo>
                    <a:pt x="248602" y="163631"/>
                    <a:pt x="237172" y="194074"/>
                    <a:pt x="214313" y="215955"/>
                  </a:cubicBezTo>
                  <a:cubicBezTo>
                    <a:pt x="191452" y="237836"/>
                    <a:pt x="161925" y="249252"/>
                    <a:pt x="123825" y="249252"/>
                  </a:cubicBezTo>
                  <a:cubicBezTo>
                    <a:pt x="85725" y="249252"/>
                    <a:pt x="55245" y="238788"/>
                    <a:pt x="32385" y="216907"/>
                  </a:cubicBezTo>
                  <a:cubicBezTo>
                    <a:pt x="11430" y="194074"/>
                    <a:pt x="0" y="164583"/>
                    <a:pt x="0" y="126529"/>
                  </a:cubicBezTo>
                  <a:close/>
                  <a:moveTo>
                    <a:pt x="53340" y="124626"/>
                  </a:moveTo>
                  <a:cubicBezTo>
                    <a:pt x="53340" y="152215"/>
                    <a:pt x="60007" y="172193"/>
                    <a:pt x="73342" y="186464"/>
                  </a:cubicBezTo>
                  <a:cubicBezTo>
                    <a:pt x="86677" y="200734"/>
                    <a:pt x="103822" y="207393"/>
                    <a:pt x="124777" y="207393"/>
                  </a:cubicBezTo>
                  <a:cubicBezTo>
                    <a:pt x="145732" y="207393"/>
                    <a:pt x="162877" y="200734"/>
                    <a:pt x="176213" y="186464"/>
                  </a:cubicBezTo>
                  <a:cubicBezTo>
                    <a:pt x="189547" y="172193"/>
                    <a:pt x="196215" y="151264"/>
                    <a:pt x="196215" y="123675"/>
                  </a:cubicBezTo>
                  <a:cubicBezTo>
                    <a:pt x="196215" y="96086"/>
                    <a:pt x="189547" y="75156"/>
                    <a:pt x="177165" y="61837"/>
                  </a:cubicBezTo>
                  <a:cubicBezTo>
                    <a:pt x="163830" y="48519"/>
                    <a:pt x="146685" y="41859"/>
                    <a:pt x="125730" y="41859"/>
                  </a:cubicBezTo>
                  <a:cubicBezTo>
                    <a:pt x="103822" y="41859"/>
                    <a:pt x="86677" y="48519"/>
                    <a:pt x="74295" y="62789"/>
                  </a:cubicBezTo>
                  <a:cubicBezTo>
                    <a:pt x="60007" y="76108"/>
                    <a:pt x="53340" y="97037"/>
                    <a:pt x="53340" y="124626"/>
                  </a:cubicBezTo>
                  <a:close/>
                </a:path>
              </a:pathLst>
            </a:custGeom>
            <a:solidFill>
              <a:srgbClr val="0C7946"/>
            </a:solidFill>
            <a:ln w="952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8F1A92D6-79AD-9141-8E82-12B64453AEEB}"/>
                </a:ext>
              </a:extLst>
            </p:cNvPr>
            <p:cNvSpPr/>
            <p:nvPr/>
          </p:nvSpPr>
          <p:spPr>
            <a:xfrm>
              <a:off x="18149887" y="10317323"/>
              <a:ext cx="176212" cy="239739"/>
            </a:xfrm>
            <a:custGeom>
              <a:avLst/>
              <a:gdLst>
                <a:gd name="connsiteX0" fmla="*/ 0 w 176212"/>
                <a:gd name="connsiteY0" fmla="*/ 239739 h 239739"/>
                <a:gd name="connsiteX1" fmla="*/ 0 w 176212"/>
                <a:gd name="connsiteY1" fmla="*/ 0 h 239739"/>
                <a:gd name="connsiteX2" fmla="*/ 176213 w 176212"/>
                <a:gd name="connsiteY2" fmla="*/ 0 h 239739"/>
                <a:gd name="connsiteX3" fmla="*/ 176213 w 176212"/>
                <a:gd name="connsiteY3" fmla="*/ 40908 h 239739"/>
                <a:gd name="connsiteX4" fmla="*/ 52388 w 176212"/>
                <a:gd name="connsiteY4" fmla="*/ 40908 h 239739"/>
                <a:gd name="connsiteX5" fmla="*/ 52388 w 176212"/>
                <a:gd name="connsiteY5" fmla="*/ 97037 h 239739"/>
                <a:gd name="connsiteX6" fmla="*/ 160020 w 176212"/>
                <a:gd name="connsiteY6" fmla="*/ 97037 h 239739"/>
                <a:gd name="connsiteX7" fmla="*/ 160020 w 176212"/>
                <a:gd name="connsiteY7" fmla="*/ 137945 h 239739"/>
                <a:gd name="connsiteX8" fmla="*/ 52388 w 176212"/>
                <a:gd name="connsiteY8" fmla="*/ 137945 h 239739"/>
                <a:gd name="connsiteX9" fmla="*/ 52388 w 176212"/>
                <a:gd name="connsiteY9" fmla="*/ 239739 h 239739"/>
                <a:gd name="connsiteX10" fmla="*/ 0 w 176212"/>
                <a:gd name="connsiteY10" fmla="*/ 239739 h 2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6212" h="239739">
                  <a:moveTo>
                    <a:pt x="0" y="239739"/>
                  </a:moveTo>
                  <a:lnTo>
                    <a:pt x="0" y="0"/>
                  </a:lnTo>
                  <a:lnTo>
                    <a:pt x="176213" y="0"/>
                  </a:lnTo>
                  <a:lnTo>
                    <a:pt x="176213" y="40908"/>
                  </a:lnTo>
                  <a:lnTo>
                    <a:pt x="52388" y="40908"/>
                  </a:lnTo>
                  <a:lnTo>
                    <a:pt x="52388" y="97037"/>
                  </a:lnTo>
                  <a:lnTo>
                    <a:pt x="160020" y="97037"/>
                  </a:lnTo>
                  <a:lnTo>
                    <a:pt x="160020" y="137945"/>
                  </a:lnTo>
                  <a:lnTo>
                    <a:pt x="52388" y="137945"/>
                  </a:lnTo>
                  <a:lnTo>
                    <a:pt x="52388" y="239739"/>
                  </a:lnTo>
                  <a:lnTo>
                    <a:pt x="0" y="239739"/>
                  </a:lnTo>
                  <a:close/>
                </a:path>
              </a:pathLst>
            </a:custGeom>
            <a:solidFill>
              <a:srgbClr val="0C7946"/>
            </a:solidFill>
            <a:ln w="9525" cap="flat">
              <a:noFill/>
              <a:prstDash val="solid"/>
              <a:miter/>
            </a:ln>
          </p:spPr>
          <p:txBody>
            <a:bodyPr rtlCol="0" anchor="ctr"/>
            <a:lstStyle/>
            <a:p>
              <a:endParaRPr lang="en-US"/>
            </a:p>
          </p:txBody>
        </p:sp>
      </p:grpSp>
      <p:pic>
        <p:nvPicPr>
          <p:cNvPr id="5" name="Picture 4">
            <a:extLst>
              <a:ext uri="{FF2B5EF4-FFF2-40B4-BE49-F238E27FC236}">
                <a16:creationId xmlns:a16="http://schemas.microsoft.com/office/drawing/2014/main" id="{32AE247A-04BD-BE4B-92FB-FB837DE1CD2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060400" y="838200"/>
            <a:ext cx="6216650" cy="1951820"/>
          </a:xfrm>
          <a:prstGeom prst="rect">
            <a:avLst/>
          </a:prstGeom>
        </p:spPr>
      </p:pic>
    </p:spTree>
    <p:extLst>
      <p:ext uri="{BB962C8B-B14F-4D97-AF65-F5344CB8AC3E}">
        <p14:creationId xmlns:p14="http://schemas.microsoft.com/office/powerpoint/2010/main" val="2303059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7A1BC5-04C5-424E-B098-F40040519109}"/>
              </a:ext>
            </a:extLst>
          </p:cNvPr>
          <p:cNvSpPr/>
          <p:nvPr userDrawn="1"/>
        </p:nvSpPr>
        <p:spPr>
          <a:xfrm>
            <a:off x="0" y="0"/>
            <a:ext cx="32918400" cy="381000"/>
          </a:xfrm>
          <a:prstGeom prst="rect">
            <a:avLst/>
          </a:prstGeom>
          <a:solidFill>
            <a:srgbClr val="75B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4">
            <a:extLst>
              <a:ext uri="{FF2B5EF4-FFF2-40B4-BE49-F238E27FC236}">
                <a16:creationId xmlns:a16="http://schemas.microsoft.com/office/drawing/2014/main" id="{54D62BC3-C003-A84C-B368-EA134F3F5537}"/>
              </a:ext>
            </a:extLst>
          </p:cNvPr>
          <p:cNvSpPr>
            <a:spLocks noGrp="1"/>
          </p:cNvSpPr>
          <p:nvPr>
            <p:ph type="title"/>
          </p:nvPr>
        </p:nvSpPr>
        <p:spPr>
          <a:xfrm>
            <a:off x="990600" y="990600"/>
            <a:ext cx="24765000" cy="1600200"/>
          </a:xfrm>
          <a:prstGeom prst="rect">
            <a:avLst/>
          </a:prstGeom>
        </p:spPr>
        <p:txBody>
          <a:bodyPr vert="horz" lIns="91440" tIns="45720" rIns="91440" bIns="45720" rtlCol="0" anchor="ctr">
            <a:normAutofit/>
          </a:bodyPr>
          <a:lstStyle>
            <a:lvl1pPr>
              <a:defRPr>
                <a:solidFill>
                  <a:srgbClr val="75BFE2"/>
                </a:solidFill>
              </a:defRPr>
            </a:lvl1pPr>
          </a:lstStyle>
          <a:p>
            <a:r>
              <a:rPr lang="en-US" dirty="0"/>
              <a:t>Click to edit Master title style</a:t>
            </a:r>
          </a:p>
        </p:txBody>
      </p:sp>
      <p:sp>
        <p:nvSpPr>
          <p:cNvPr id="6" name="Text Placeholder 6">
            <a:extLst>
              <a:ext uri="{FF2B5EF4-FFF2-40B4-BE49-F238E27FC236}">
                <a16:creationId xmlns:a16="http://schemas.microsoft.com/office/drawing/2014/main" id="{97D32DA8-2330-A247-A794-A1FB0E6D7813}"/>
              </a:ext>
            </a:extLst>
          </p:cNvPr>
          <p:cNvSpPr>
            <a:spLocks noGrp="1"/>
          </p:cNvSpPr>
          <p:nvPr>
            <p:ph type="body" sz="quarter" idx="10"/>
          </p:nvPr>
        </p:nvSpPr>
        <p:spPr>
          <a:xfrm>
            <a:off x="990600" y="2667000"/>
            <a:ext cx="24716410" cy="685800"/>
          </a:xfrm>
          <a:prstGeom prst="rect">
            <a:avLst/>
          </a:prstGeom>
        </p:spPr>
        <p:txBody>
          <a:bodyPr/>
          <a:lstStyle/>
          <a:p>
            <a:pPr lvl="0"/>
            <a:r>
              <a:rPr lang="en-US" dirty="0"/>
              <a:t>Click to edit Master text styles</a:t>
            </a:r>
          </a:p>
        </p:txBody>
      </p:sp>
      <p:sp>
        <p:nvSpPr>
          <p:cNvPr id="8" name="Text Placeholder 9">
            <a:extLst>
              <a:ext uri="{FF2B5EF4-FFF2-40B4-BE49-F238E27FC236}">
                <a16:creationId xmlns:a16="http://schemas.microsoft.com/office/drawing/2014/main" id="{CA885556-C088-B64F-ACA3-FF4240EFD0F6}"/>
              </a:ext>
            </a:extLst>
          </p:cNvPr>
          <p:cNvSpPr>
            <a:spLocks noGrp="1"/>
          </p:cNvSpPr>
          <p:nvPr>
            <p:ph type="body" sz="quarter" idx="11"/>
          </p:nvPr>
        </p:nvSpPr>
        <p:spPr>
          <a:xfrm>
            <a:off x="990600" y="3810000"/>
            <a:ext cx="9601200" cy="4038600"/>
          </a:xfrm>
          <a:prstGeom prst="rect">
            <a:avLst/>
          </a:prstGeom>
        </p:spPr>
        <p:txBody>
          <a:bodyPr/>
          <a:lstStyle>
            <a:lvl1pPr>
              <a:defRPr sz="2200">
                <a:solidFill>
                  <a:schemeClr val="tx1"/>
                </a:solidFill>
              </a:defRPr>
            </a:lvl1pPr>
          </a:lstStyle>
          <a:p>
            <a:pPr lvl="0"/>
            <a:r>
              <a:rPr lang="en-US" dirty="0"/>
              <a:t>Click to edit Master text styles</a:t>
            </a:r>
          </a:p>
        </p:txBody>
      </p:sp>
      <p:sp>
        <p:nvSpPr>
          <p:cNvPr id="9" name="Picture Placeholder 11">
            <a:extLst>
              <a:ext uri="{FF2B5EF4-FFF2-40B4-BE49-F238E27FC236}">
                <a16:creationId xmlns:a16="http://schemas.microsoft.com/office/drawing/2014/main" id="{6465F565-98C7-4641-9D07-BBDFC2A19212}"/>
              </a:ext>
            </a:extLst>
          </p:cNvPr>
          <p:cNvSpPr>
            <a:spLocks noGrp="1"/>
          </p:cNvSpPr>
          <p:nvPr>
            <p:ph type="pic" sz="quarter" idx="12"/>
          </p:nvPr>
        </p:nvSpPr>
        <p:spPr>
          <a:xfrm>
            <a:off x="990600" y="8077200"/>
            <a:ext cx="9601200" cy="5181600"/>
          </a:xfrm>
          <a:prstGeom prst="rect">
            <a:avLst/>
          </a:prstGeom>
        </p:spPr>
        <p:txBody>
          <a:bodyPr anchor="ctr"/>
          <a:lstStyle>
            <a:lvl1pPr algn="ctr">
              <a:defRPr/>
            </a:lvl1pPr>
          </a:lstStyle>
          <a:p>
            <a:endParaRPr lang="en-US" dirty="0"/>
          </a:p>
        </p:txBody>
      </p:sp>
      <p:sp>
        <p:nvSpPr>
          <p:cNvPr id="11" name="TextBox 10">
            <a:extLst>
              <a:ext uri="{FF2B5EF4-FFF2-40B4-BE49-F238E27FC236}">
                <a16:creationId xmlns:a16="http://schemas.microsoft.com/office/drawing/2014/main" id="{7CABB95D-9FCE-AB4C-AE8C-CBF51791F4FF}"/>
              </a:ext>
            </a:extLst>
          </p:cNvPr>
          <p:cNvSpPr txBox="1"/>
          <p:nvPr userDrawn="1"/>
        </p:nvSpPr>
        <p:spPr>
          <a:xfrm>
            <a:off x="3733800" y="20878800"/>
            <a:ext cx="7543800" cy="584775"/>
          </a:xfrm>
          <a:prstGeom prst="rect">
            <a:avLst/>
          </a:prstGeom>
          <a:noFill/>
        </p:spPr>
        <p:txBody>
          <a:bodyPr wrap="square" rtlCol="0">
            <a:spAutoFit/>
          </a:bodyPr>
          <a:lstStyle/>
          <a:p>
            <a:r>
              <a:rPr lang="en-US" sz="1600" dirty="0">
                <a:latin typeface="Arial Narrow" panose="020B0604020202020204" pitchFamily="34" charset="0"/>
                <a:cs typeface="Arial Narrow" panose="020B0604020202020204" pitchFamily="34" charset="0"/>
              </a:rPr>
              <a:t>COMPASS is a multi-institutional program led by PNNL and funded by the Earth and Environmental Systems Sciences Division of the U.S. Department of Energy’s Office of Science.</a:t>
            </a:r>
          </a:p>
        </p:txBody>
      </p:sp>
      <p:grpSp>
        <p:nvGrpSpPr>
          <p:cNvPr id="13" name="Group 12">
            <a:extLst>
              <a:ext uri="{FF2B5EF4-FFF2-40B4-BE49-F238E27FC236}">
                <a16:creationId xmlns:a16="http://schemas.microsoft.com/office/drawing/2014/main" id="{7F6D2327-E05A-E349-98F1-C26FD0DF73AF}"/>
              </a:ext>
            </a:extLst>
          </p:cNvPr>
          <p:cNvGrpSpPr/>
          <p:nvPr userDrawn="1"/>
        </p:nvGrpSpPr>
        <p:grpSpPr>
          <a:xfrm>
            <a:off x="1295401" y="20802600"/>
            <a:ext cx="2205497" cy="609600"/>
            <a:chOff x="14072234" y="10312566"/>
            <a:chExt cx="4773930" cy="1319515"/>
          </a:xfrm>
        </p:grpSpPr>
        <p:sp>
          <p:nvSpPr>
            <p:cNvPr id="14" name="Freeform 13">
              <a:extLst>
                <a:ext uri="{FF2B5EF4-FFF2-40B4-BE49-F238E27FC236}">
                  <a16:creationId xmlns:a16="http://schemas.microsoft.com/office/drawing/2014/main" id="{E3BD392E-A996-3140-950B-D758606DC90A}"/>
                </a:ext>
              </a:extLst>
            </p:cNvPr>
            <p:cNvSpPr/>
            <p:nvPr/>
          </p:nvSpPr>
          <p:spPr>
            <a:xfrm>
              <a:off x="14073187" y="10727352"/>
              <a:ext cx="661034" cy="890459"/>
            </a:xfrm>
            <a:custGeom>
              <a:avLst/>
              <a:gdLst>
                <a:gd name="connsiteX0" fmla="*/ 0 w 661034"/>
                <a:gd name="connsiteY0" fmla="*/ 951 h 890459"/>
                <a:gd name="connsiteX1" fmla="*/ 0 w 661034"/>
                <a:gd name="connsiteY1" fmla="*/ 890459 h 890459"/>
                <a:gd name="connsiteX2" fmla="*/ 661035 w 661034"/>
                <a:gd name="connsiteY2" fmla="*/ 890459 h 890459"/>
                <a:gd name="connsiteX3" fmla="*/ 661035 w 661034"/>
                <a:gd name="connsiteY3" fmla="*/ 684018 h 890459"/>
                <a:gd name="connsiteX4" fmla="*/ 224790 w 661034"/>
                <a:gd name="connsiteY4" fmla="*/ 684018 h 890459"/>
                <a:gd name="connsiteX5" fmla="*/ 224790 w 661034"/>
                <a:gd name="connsiteY5" fmla="*/ 527997 h 890459"/>
                <a:gd name="connsiteX6" fmla="*/ 616268 w 661034"/>
                <a:gd name="connsiteY6" fmla="*/ 527997 h 890459"/>
                <a:gd name="connsiteX7" fmla="*/ 616268 w 661034"/>
                <a:gd name="connsiteY7" fmla="*/ 321555 h 890459"/>
                <a:gd name="connsiteX8" fmla="*/ 224790 w 661034"/>
                <a:gd name="connsiteY8" fmla="*/ 321555 h 890459"/>
                <a:gd name="connsiteX9" fmla="*/ 224790 w 661034"/>
                <a:gd name="connsiteY9" fmla="*/ 206442 h 890459"/>
                <a:gd name="connsiteX10" fmla="*/ 645795 w 661034"/>
                <a:gd name="connsiteY10" fmla="*/ 206442 h 890459"/>
                <a:gd name="connsiteX11" fmla="*/ 645795 w 661034"/>
                <a:gd name="connsiteY11" fmla="*/ 0 h 890459"/>
                <a:gd name="connsiteX12" fmla="*/ 0 w 661034"/>
                <a:gd name="connsiteY12" fmla="*/ 0 h 890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1034" h="890459">
                  <a:moveTo>
                    <a:pt x="0" y="951"/>
                  </a:moveTo>
                  <a:lnTo>
                    <a:pt x="0" y="890459"/>
                  </a:lnTo>
                  <a:lnTo>
                    <a:pt x="661035" y="890459"/>
                  </a:lnTo>
                  <a:lnTo>
                    <a:pt x="661035" y="684018"/>
                  </a:lnTo>
                  <a:cubicBezTo>
                    <a:pt x="661035" y="684018"/>
                    <a:pt x="281940" y="684018"/>
                    <a:pt x="224790" y="684018"/>
                  </a:cubicBezTo>
                  <a:cubicBezTo>
                    <a:pt x="224790" y="644061"/>
                    <a:pt x="224790" y="567953"/>
                    <a:pt x="224790" y="527997"/>
                  </a:cubicBezTo>
                  <a:cubicBezTo>
                    <a:pt x="280988" y="527997"/>
                    <a:pt x="616268" y="527997"/>
                    <a:pt x="616268" y="527997"/>
                  </a:cubicBezTo>
                  <a:lnTo>
                    <a:pt x="616268" y="321555"/>
                  </a:lnTo>
                  <a:cubicBezTo>
                    <a:pt x="616268" y="321555"/>
                    <a:pt x="280988" y="321555"/>
                    <a:pt x="224790" y="321555"/>
                  </a:cubicBezTo>
                  <a:cubicBezTo>
                    <a:pt x="224790" y="287306"/>
                    <a:pt x="224790" y="240690"/>
                    <a:pt x="224790" y="206442"/>
                  </a:cubicBezTo>
                  <a:cubicBezTo>
                    <a:pt x="281940" y="206442"/>
                    <a:pt x="645795" y="206442"/>
                    <a:pt x="645795" y="206442"/>
                  </a:cubicBezTo>
                  <a:lnTo>
                    <a:pt x="645795" y="0"/>
                  </a:lnTo>
                  <a:lnTo>
                    <a:pt x="0" y="0"/>
                  </a:lnTo>
                  <a:close/>
                </a:path>
              </a:pathLst>
            </a:custGeom>
            <a:solidFill>
              <a:srgbClr val="087846"/>
            </a:solidFill>
            <a:ln w="952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1833B424-B522-F74D-94B7-F1B2AD4F95D7}"/>
                </a:ext>
              </a:extLst>
            </p:cNvPr>
            <p:cNvSpPr/>
            <p:nvPr/>
          </p:nvSpPr>
          <p:spPr>
            <a:xfrm>
              <a:off x="14831377" y="10728304"/>
              <a:ext cx="687704" cy="889507"/>
            </a:xfrm>
            <a:custGeom>
              <a:avLst/>
              <a:gdLst>
                <a:gd name="connsiteX0" fmla="*/ 474345 w 687704"/>
                <a:gd name="connsiteY0" fmla="*/ 0 h 889507"/>
                <a:gd name="connsiteX1" fmla="*/ 474345 w 687704"/>
                <a:gd name="connsiteY1" fmla="*/ 460451 h 889507"/>
                <a:gd name="connsiteX2" fmla="*/ 205740 w 687704"/>
                <a:gd name="connsiteY2" fmla="*/ 0 h 889507"/>
                <a:gd name="connsiteX3" fmla="*/ 0 w 687704"/>
                <a:gd name="connsiteY3" fmla="*/ 0 h 889507"/>
                <a:gd name="connsiteX4" fmla="*/ 0 w 687704"/>
                <a:gd name="connsiteY4" fmla="*/ 889508 h 889507"/>
                <a:gd name="connsiteX5" fmla="*/ 213360 w 687704"/>
                <a:gd name="connsiteY5" fmla="*/ 889508 h 889507"/>
                <a:gd name="connsiteX6" fmla="*/ 213360 w 687704"/>
                <a:gd name="connsiteY6" fmla="*/ 440473 h 889507"/>
                <a:gd name="connsiteX7" fmla="*/ 477203 w 687704"/>
                <a:gd name="connsiteY7" fmla="*/ 889508 h 889507"/>
                <a:gd name="connsiteX8" fmla="*/ 687705 w 687704"/>
                <a:gd name="connsiteY8" fmla="*/ 889508 h 889507"/>
                <a:gd name="connsiteX9" fmla="*/ 687705 w 687704"/>
                <a:gd name="connsiteY9" fmla="*/ 0 h 889507"/>
                <a:gd name="connsiteX10" fmla="*/ 474345 w 687704"/>
                <a:gd name="connsiteY10" fmla="*/ 0 h 889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7704" h="889507">
                  <a:moveTo>
                    <a:pt x="474345" y="0"/>
                  </a:moveTo>
                  <a:cubicBezTo>
                    <a:pt x="474345" y="0"/>
                    <a:pt x="474345" y="312041"/>
                    <a:pt x="474345" y="460451"/>
                  </a:cubicBezTo>
                  <a:cubicBezTo>
                    <a:pt x="393383" y="321555"/>
                    <a:pt x="205740" y="0"/>
                    <a:pt x="205740" y="0"/>
                  </a:cubicBezTo>
                  <a:lnTo>
                    <a:pt x="0" y="0"/>
                  </a:lnTo>
                  <a:lnTo>
                    <a:pt x="0" y="889508"/>
                  </a:lnTo>
                  <a:lnTo>
                    <a:pt x="213360" y="889508"/>
                  </a:lnTo>
                  <a:cubicBezTo>
                    <a:pt x="213360" y="889508"/>
                    <a:pt x="213360" y="586980"/>
                    <a:pt x="213360" y="440473"/>
                  </a:cubicBezTo>
                  <a:cubicBezTo>
                    <a:pt x="294322" y="577467"/>
                    <a:pt x="477203" y="889508"/>
                    <a:pt x="477203" y="889508"/>
                  </a:cubicBezTo>
                  <a:lnTo>
                    <a:pt x="687705" y="889508"/>
                  </a:lnTo>
                  <a:lnTo>
                    <a:pt x="687705" y="0"/>
                  </a:lnTo>
                  <a:lnTo>
                    <a:pt x="474345" y="0"/>
                  </a:lnTo>
                  <a:close/>
                </a:path>
              </a:pathLst>
            </a:custGeom>
            <a:solidFill>
              <a:srgbClr val="087846"/>
            </a:solid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1E7FE5EF-13DE-004A-8111-928679A80C92}"/>
                </a:ext>
              </a:extLst>
            </p:cNvPr>
            <p:cNvSpPr/>
            <p:nvPr/>
          </p:nvSpPr>
          <p:spPr>
            <a:xfrm>
              <a:off x="15647669" y="10727352"/>
              <a:ext cx="661035" cy="890459"/>
            </a:xfrm>
            <a:custGeom>
              <a:avLst/>
              <a:gdLst>
                <a:gd name="connsiteX0" fmla="*/ 0 w 661035"/>
                <a:gd name="connsiteY0" fmla="*/ 951 h 890459"/>
                <a:gd name="connsiteX1" fmla="*/ 0 w 661035"/>
                <a:gd name="connsiteY1" fmla="*/ 890459 h 890459"/>
                <a:gd name="connsiteX2" fmla="*/ 661035 w 661035"/>
                <a:gd name="connsiteY2" fmla="*/ 890459 h 890459"/>
                <a:gd name="connsiteX3" fmla="*/ 661035 w 661035"/>
                <a:gd name="connsiteY3" fmla="*/ 684018 h 890459"/>
                <a:gd name="connsiteX4" fmla="*/ 224790 w 661035"/>
                <a:gd name="connsiteY4" fmla="*/ 684018 h 890459"/>
                <a:gd name="connsiteX5" fmla="*/ 224790 w 661035"/>
                <a:gd name="connsiteY5" fmla="*/ 527997 h 890459"/>
                <a:gd name="connsiteX6" fmla="*/ 616268 w 661035"/>
                <a:gd name="connsiteY6" fmla="*/ 527997 h 890459"/>
                <a:gd name="connsiteX7" fmla="*/ 616268 w 661035"/>
                <a:gd name="connsiteY7" fmla="*/ 321555 h 890459"/>
                <a:gd name="connsiteX8" fmla="*/ 224790 w 661035"/>
                <a:gd name="connsiteY8" fmla="*/ 321555 h 890459"/>
                <a:gd name="connsiteX9" fmla="*/ 224790 w 661035"/>
                <a:gd name="connsiteY9" fmla="*/ 206442 h 890459"/>
                <a:gd name="connsiteX10" fmla="*/ 645795 w 661035"/>
                <a:gd name="connsiteY10" fmla="*/ 206442 h 890459"/>
                <a:gd name="connsiteX11" fmla="*/ 645795 w 661035"/>
                <a:gd name="connsiteY11" fmla="*/ 0 h 890459"/>
                <a:gd name="connsiteX12" fmla="*/ 0 w 661035"/>
                <a:gd name="connsiteY12" fmla="*/ 0 h 890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1035" h="890459">
                  <a:moveTo>
                    <a:pt x="0" y="951"/>
                  </a:moveTo>
                  <a:lnTo>
                    <a:pt x="0" y="890459"/>
                  </a:lnTo>
                  <a:lnTo>
                    <a:pt x="661035" y="890459"/>
                  </a:lnTo>
                  <a:lnTo>
                    <a:pt x="661035" y="684018"/>
                  </a:lnTo>
                  <a:cubicBezTo>
                    <a:pt x="661035" y="684018"/>
                    <a:pt x="281940" y="684018"/>
                    <a:pt x="224790" y="684018"/>
                  </a:cubicBezTo>
                  <a:cubicBezTo>
                    <a:pt x="224790" y="644061"/>
                    <a:pt x="224790" y="567953"/>
                    <a:pt x="224790" y="527997"/>
                  </a:cubicBezTo>
                  <a:cubicBezTo>
                    <a:pt x="280988" y="527997"/>
                    <a:pt x="616268" y="527997"/>
                    <a:pt x="616268" y="527997"/>
                  </a:cubicBezTo>
                  <a:lnTo>
                    <a:pt x="616268" y="321555"/>
                  </a:lnTo>
                  <a:cubicBezTo>
                    <a:pt x="616268" y="321555"/>
                    <a:pt x="280988" y="321555"/>
                    <a:pt x="224790" y="321555"/>
                  </a:cubicBezTo>
                  <a:cubicBezTo>
                    <a:pt x="224790" y="287306"/>
                    <a:pt x="224790" y="240690"/>
                    <a:pt x="224790" y="206442"/>
                  </a:cubicBezTo>
                  <a:cubicBezTo>
                    <a:pt x="281940" y="206442"/>
                    <a:pt x="645795" y="206442"/>
                    <a:pt x="645795" y="206442"/>
                  </a:cubicBezTo>
                  <a:lnTo>
                    <a:pt x="645795" y="0"/>
                  </a:lnTo>
                  <a:lnTo>
                    <a:pt x="0" y="0"/>
                  </a:lnTo>
                  <a:close/>
                </a:path>
              </a:pathLst>
            </a:custGeom>
            <a:solidFill>
              <a:srgbClr val="087846"/>
            </a:solidFill>
            <a:ln w="952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F88A2F21-B6C5-1E4A-8307-2C1329A4728B}"/>
                </a:ext>
              </a:extLst>
            </p:cNvPr>
            <p:cNvSpPr/>
            <p:nvPr/>
          </p:nvSpPr>
          <p:spPr>
            <a:xfrm>
              <a:off x="16405860" y="10727352"/>
              <a:ext cx="795337" cy="890459"/>
            </a:xfrm>
            <a:custGeom>
              <a:avLst/>
              <a:gdLst>
                <a:gd name="connsiteX0" fmla="*/ 669607 w 795337"/>
                <a:gd name="connsiteY0" fmla="*/ 680212 h 890459"/>
                <a:gd name="connsiteX1" fmla="*/ 576263 w 795337"/>
                <a:gd name="connsiteY1" fmla="*/ 541316 h 890459"/>
                <a:gd name="connsiteX2" fmla="*/ 543877 w 795337"/>
                <a:gd name="connsiteY2" fmla="*/ 508970 h 890459"/>
                <a:gd name="connsiteX3" fmla="*/ 646747 w 795337"/>
                <a:gd name="connsiteY3" fmla="*/ 439522 h 890459"/>
                <a:gd name="connsiteX4" fmla="*/ 706755 w 795337"/>
                <a:gd name="connsiteY4" fmla="*/ 264474 h 890459"/>
                <a:gd name="connsiteX5" fmla="*/ 667702 w 795337"/>
                <a:gd name="connsiteY5" fmla="*/ 117967 h 890459"/>
                <a:gd name="connsiteX6" fmla="*/ 560070 w 795337"/>
                <a:gd name="connsiteY6" fmla="*/ 24735 h 890459"/>
                <a:gd name="connsiteX7" fmla="*/ 365760 w 795337"/>
                <a:gd name="connsiteY7" fmla="*/ 0 h 890459"/>
                <a:gd name="connsiteX8" fmla="*/ 0 w 795337"/>
                <a:gd name="connsiteY8" fmla="*/ 0 h 890459"/>
                <a:gd name="connsiteX9" fmla="*/ 0 w 795337"/>
                <a:gd name="connsiteY9" fmla="*/ 889508 h 890459"/>
                <a:gd name="connsiteX10" fmla="*/ 224790 w 795337"/>
                <a:gd name="connsiteY10" fmla="*/ 889508 h 890459"/>
                <a:gd name="connsiteX11" fmla="*/ 224790 w 795337"/>
                <a:gd name="connsiteY11" fmla="*/ 546072 h 890459"/>
                <a:gd name="connsiteX12" fmla="*/ 290513 w 795337"/>
                <a:gd name="connsiteY12" fmla="*/ 553683 h 890459"/>
                <a:gd name="connsiteX13" fmla="*/ 324802 w 795337"/>
                <a:gd name="connsiteY13" fmla="*/ 578418 h 890459"/>
                <a:gd name="connsiteX14" fmla="*/ 404813 w 795337"/>
                <a:gd name="connsiteY14" fmla="*/ 695433 h 890459"/>
                <a:gd name="connsiteX15" fmla="*/ 528638 w 795337"/>
                <a:gd name="connsiteY15" fmla="*/ 890459 h 890459"/>
                <a:gd name="connsiteX16" fmla="*/ 795338 w 795337"/>
                <a:gd name="connsiteY16" fmla="*/ 890459 h 890459"/>
                <a:gd name="connsiteX17" fmla="*/ 669607 w 795337"/>
                <a:gd name="connsiteY17" fmla="*/ 680212 h 890459"/>
                <a:gd name="connsiteX18" fmla="*/ 464820 w 795337"/>
                <a:gd name="connsiteY18" fmla="*/ 319652 h 890459"/>
                <a:gd name="connsiteX19" fmla="*/ 437197 w 795337"/>
                <a:gd name="connsiteY19" fmla="*/ 341533 h 890459"/>
                <a:gd name="connsiteX20" fmla="*/ 306705 w 795337"/>
                <a:gd name="connsiteY20" fmla="*/ 350095 h 890459"/>
                <a:gd name="connsiteX21" fmla="*/ 223838 w 795337"/>
                <a:gd name="connsiteY21" fmla="*/ 350095 h 890459"/>
                <a:gd name="connsiteX22" fmla="*/ 223838 w 795337"/>
                <a:gd name="connsiteY22" fmla="*/ 208345 h 890459"/>
                <a:gd name="connsiteX23" fmla="*/ 313372 w 795337"/>
                <a:gd name="connsiteY23" fmla="*/ 208345 h 890459"/>
                <a:gd name="connsiteX24" fmla="*/ 422910 w 795337"/>
                <a:gd name="connsiteY24" fmla="*/ 211199 h 890459"/>
                <a:gd name="connsiteX25" fmla="*/ 461010 w 795337"/>
                <a:gd name="connsiteY25" fmla="*/ 232128 h 890459"/>
                <a:gd name="connsiteX26" fmla="*/ 474345 w 795337"/>
                <a:gd name="connsiteY26" fmla="*/ 277793 h 890459"/>
                <a:gd name="connsiteX27" fmla="*/ 464820 w 795337"/>
                <a:gd name="connsiteY27" fmla="*/ 319652 h 890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95337" h="890459">
                  <a:moveTo>
                    <a:pt x="669607" y="680212"/>
                  </a:moveTo>
                  <a:cubicBezTo>
                    <a:pt x="630555" y="613618"/>
                    <a:pt x="600075" y="567953"/>
                    <a:pt x="576263" y="541316"/>
                  </a:cubicBezTo>
                  <a:cubicBezTo>
                    <a:pt x="566738" y="529899"/>
                    <a:pt x="555307" y="519435"/>
                    <a:pt x="543877" y="508970"/>
                  </a:cubicBezTo>
                  <a:cubicBezTo>
                    <a:pt x="586740" y="493748"/>
                    <a:pt x="621030" y="469965"/>
                    <a:pt x="646747" y="439522"/>
                  </a:cubicBezTo>
                  <a:cubicBezTo>
                    <a:pt x="686752" y="392906"/>
                    <a:pt x="706755" y="334874"/>
                    <a:pt x="706755" y="264474"/>
                  </a:cubicBezTo>
                  <a:cubicBezTo>
                    <a:pt x="706755" y="210247"/>
                    <a:pt x="693420" y="160777"/>
                    <a:pt x="667702" y="117967"/>
                  </a:cubicBezTo>
                  <a:cubicBezTo>
                    <a:pt x="641032" y="74205"/>
                    <a:pt x="604838" y="42811"/>
                    <a:pt x="560070" y="24735"/>
                  </a:cubicBezTo>
                  <a:cubicBezTo>
                    <a:pt x="518160" y="8562"/>
                    <a:pt x="454342" y="0"/>
                    <a:pt x="365760" y="0"/>
                  </a:cubicBezTo>
                  <a:lnTo>
                    <a:pt x="0" y="0"/>
                  </a:lnTo>
                  <a:lnTo>
                    <a:pt x="0" y="889508"/>
                  </a:lnTo>
                  <a:lnTo>
                    <a:pt x="224790" y="889508"/>
                  </a:lnTo>
                  <a:cubicBezTo>
                    <a:pt x="224790" y="889508"/>
                    <a:pt x="224790" y="600299"/>
                    <a:pt x="224790" y="546072"/>
                  </a:cubicBezTo>
                  <a:cubicBezTo>
                    <a:pt x="265747" y="546072"/>
                    <a:pt x="283845" y="550829"/>
                    <a:pt x="290513" y="553683"/>
                  </a:cubicBezTo>
                  <a:cubicBezTo>
                    <a:pt x="301942" y="557488"/>
                    <a:pt x="313372" y="566051"/>
                    <a:pt x="324802" y="578418"/>
                  </a:cubicBezTo>
                  <a:cubicBezTo>
                    <a:pt x="334327" y="588883"/>
                    <a:pt x="355282" y="617423"/>
                    <a:pt x="404813" y="695433"/>
                  </a:cubicBezTo>
                  <a:lnTo>
                    <a:pt x="528638" y="890459"/>
                  </a:lnTo>
                  <a:lnTo>
                    <a:pt x="795338" y="890459"/>
                  </a:lnTo>
                  <a:lnTo>
                    <a:pt x="669607" y="680212"/>
                  </a:lnTo>
                  <a:close/>
                  <a:moveTo>
                    <a:pt x="464820" y="319652"/>
                  </a:moveTo>
                  <a:cubicBezTo>
                    <a:pt x="458152" y="330117"/>
                    <a:pt x="449580" y="336776"/>
                    <a:pt x="437197" y="341533"/>
                  </a:cubicBezTo>
                  <a:cubicBezTo>
                    <a:pt x="430530" y="344387"/>
                    <a:pt x="403860" y="350095"/>
                    <a:pt x="306705" y="350095"/>
                  </a:cubicBezTo>
                  <a:cubicBezTo>
                    <a:pt x="306705" y="350095"/>
                    <a:pt x="258127" y="350095"/>
                    <a:pt x="223838" y="350095"/>
                  </a:cubicBezTo>
                  <a:cubicBezTo>
                    <a:pt x="223838" y="312041"/>
                    <a:pt x="223838" y="246399"/>
                    <a:pt x="223838" y="208345"/>
                  </a:cubicBezTo>
                  <a:cubicBezTo>
                    <a:pt x="259080" y="208345"/>
                    <a:pt x="313372" y="208345"/>
                    <a:pt x="313372" y="208345"/>
                  </a:cubicBezTo>
                  <a:cubicBezTo>
                    <a:pt x="394335" y="208345"/>
                    <a:pt x="417195" y="210247"/>
                    <a:pt x="422910" y="211199"/>
                  </a:cubicBezTo>
                  <a:cubicBezTo>
                    <a:pt x="439102" y="214053"/>
                    <a:pt x="452438" y="220712"/>
                    <a:pt x="461010" y="232128"/>
                  </a:cubicBezTo>
                  <a:cubicBezTo>
                    <a:pt x="469582" y="242593"/>
                    <a:pt x="474345" y="257815"/>
                    <a:pt x="474345" y="277793"/>
                  </a:cubicBezTo>
                  <a:cubicBezTo>
                    <a:pt x="476250" y="294917"/>
                    <a:pt x="472440" y="309187"/>
                    <a:pt x="464820" y="319652"/>
                  </a:cubicBezTo>
                  <a:close/>
                </a:path>
              </a:pathLst>
            </a:custGeom>
            <a:solidFill>
              <a:srgbClr val="087846"/>
            </a:solidFill>
            <a:ln w="952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73751ACC-396F-9D44-9680-FF125996F6E9}"/>
                </a:ext>
              </a:extLst>
            </p:cNvPr>
            <p:cNvSpPr/>
            <p:nvPr/>
          </p:nvSpPr>
          <p:spPr>
            <a:xfrm>
              <a:off x="17194530" y="10714985"/>
              <a:ext cx="799147" cy="917096"/>
            </a:xfrm>
            <a:custGeom>
              <a:avLst/>
              <a:gdLst>
                <a:gd name="connsiteX0" fmla="*/ 219075 w 799147"/>
                <a:gd name="connsiteY0" fmla="*/ 44713 h 917096"/>
                <a:gd name="connsiteX1" fmla="*/ 55245 w 799147"/>
                <a:gd name="connsiteY1" fmla="*/ 212150 h 917096"/>
                <a:gd name="connsiteX2" fmla="*/ 0 w 799147"/>
                <a:gd name="connsiteY2" fmla="*/ 455694 h 917096"/>
                <a:gd name="connsiteX3" fmla="*/ 48577 w 799147"/>
                <a:gd name="connsiteY3" fmla="*/ 688774 h 917096"/>
                <a:gd name="connsiteX4" fmla="*/ 199072 w 799147"/>
                <a:gd name="connsiteY4" fmla="*/ 858114 h 917096"/>
                <a:gd name="connsiteX5" fmla="*/ 430530 w 799147"/>
                <a:gd name="connsiteY5" fmla="*/ 917097 h 917096"/>
                <a:gd name="connsiteX6" fmla="*/ 634365 w 799147"/>
                <a:gd name="connsiteY6" fmla="*/ 876189 h 917096"/>
                <a:gd name="connsiteX7" fmla="*/ 789622 w 799147"/>
                <a:gd name="connsiteY7" fmla="*/ 780103 h 917096"/>
                <a:gd name="connsiteX8" fmla="*/ 799147 w 799147"/>
                <a:gd name="connsiteY8" fmla="*/ 770590 h 917096"/>
                <a:gd name="connsiteX9" fmla="*/ 799147 w 799147"/>
                <a:gd name="connsiteY9" fmla="*/ 395760 h 917096"/>
                <a:gd name="connsiteX10" fmla="*/ 391477 w 799147"/>
                <a:gd name="connsiteY10" fmla="*/ 395760 h 917096"/>
                <a:gd name="connsiteX11" fmla="*/ 391477 w 799147"/>
                <a:gd name="connsiteY11" fmla="*/ 602202 h 917096"/>
                <a:gd name="connsiteX12" fmla="*/ 572452 w 799147"/>
                <a:gd name="connsiteY12" fmla="*/ 602202 h 917096"/>
                <a:gd name="connsiteX13" fmla="*/ 572452 w 799147"/>
                <a:gd name="connsiteY13" fmla="*/ 654526 h 917096"/>
                <a:gd name="connsiteX14" fmla="*/ 507682 w 799147"/>
                <a:gd name="connsiteY14" fmla="*/ 690677 h 917096"/>
                <a:gd name="connsiteX15" fmla="*/ 421005 w 799147"/>
                <a:gd name="connsiteY15" fmla="*/ 708752 h 917096"/>
                <a:gd name="connsiteX16" fmla="*/ 283845 w 799147"/>
                <a:gd name="connsiteY16" fmla="*/ 647866 h 917096"/>
                <a:gd name="connsiteX17" fmla="*/ 229552 w 799147"/>
                <a:gd name="connsiteY17" fmla="*/ 449987 h 917096"/>
                <a:gd name="connsiteX18" fmla="*/ 281940 w 799147"/>
                <a:gd name="connsiteY18" fmla="*/ 267328 h 917096"/>
                <a:gd name="connsiteX19" fmla="*/ 421005 w 799147"/>
                <a:gd name="connsiteY19" fmla="*/ 209296 h 917096"/>
                <a:gd name="connsiteX20" fmla="*/ 514350 w 799147"/>
                <a:gd name="connsiteY20" fmla="*/ 236885 h 917096"/>
                <a:gd name="connsiteX21" fmla="*/ 564832 w 799147"/>
                <a:gd name="connsiteY21" fmla="*/ 314895 h 917096"/>
                <a:gd name="connsiteX22" fmla="*/ 573405 w 799147"/>
                <a:gd name="connsiteY22" fmla="*/ 345339 h 917096"/>
                <a:gd name="connsiteX23" fmla="*/ 794385 w 799147"/>
                <a:gd name="connsiteY23" fmla="*/ 301577 h 917096"/>
                <a:gd name="connsiteX24" fmla="*/ 787718 w 799147"/>
                <a:gd name="connsiteY24" fmla="*/ 268280 h 917096"/>
                <a:gd name="connsiteX25" fmla="*/ 669607 w 799147"/>
                <a:gd name="connsiteY25" fmla="*/ 71351 h 917096"/>
                <a:gd name="connsiteX26" fmla="*/ 421005 w 799147"/>
                <a:gd name="connsiteY26" fmla="*/ 0 h 917096"/>
                <a:gd name="connsiteX27" fmla="*/ 219075 w 799147"/>
                <a:gd name="connsiteY27" fmla="*/ 44713 h 917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99147" h="917096">
                  <a:moveTo>
                    <a:pt x="219075" y="44713"/>
                  </a:moveTo>
                  <a:cubicBezTo>
                    <a:pt x="147638" y="83719"/>
                    <a:pt x="92393" y="139848"/>
                    <a:pt x="55245" y="212150"/>
                  </a:cubicBezTo>
                  <a:cubicBezTo>
                    <a:pt x="19050" y="283501"/>
                    <a:pt x="0" y="365317"/>
                    <a:pt x="0" y="455694"/>
                  </a:cubicBezTo>
                  <a:cubicBezTo>
                    <a:pt x="0" y="539413"/>
                    <a:pt x="16193" y="617423"/>
                    <a:pt x="48577" y="688774"/>
                  </a:cubicBezTo>
                  <a:cubicBezTo>
                    <a:pt x="81915" y="762028"/>
                    <a:pt x="132397" y="819109"/>
                    <a:pt x="199072" y="858114"/>
                  </a:cubicBezTo>
                  <a:cubicBezTo>
                    <a:pt x="264795" y="897119"/>
                    <a:pt x="342900" y="917097"/>
                    <a:pt x="430530" y="917097"/>
                  </a:cubicBezTo>
                  <a:cubicBezTo>
                    <a:pt x="499110" y="917097"/>
                    <a:pt x="567690" y="903778"/>
                    <a:pt x="634365" y="876189"/>
                  </a:cubicBezTo>
                  <a:cubicBezTo>
                    <a:pt x="701040" y="848600"/>
                    <a:pt x="753427" y="816255"/>
                    <a:pt x="789622" y="780103"/>
                  </a:cubicBezTo>
                  <a:lnTo>
                    <a:pt x="799147" y="770590"/>
                  </a:lnTo>
                  <a:lnTo>
                    <a:pt x="799147" y="395760"/>
                  </a:lnTo>
                  <a:lnTo>
                    <a:pt x="391477" y="395760"/>
                  </a:lnTo>
                  <a:lnTo>
                    <a:pt x="391477" y="602202"/>
                  </a:lnTo>
                  <a:cubicBezTo>
                    <a:pt x="391477" y="602202"/>
                    <a:pt x="527685" y="602202"/>
                    <a:pt x="572452" y="602202"/>
                  </a:cubicBezTo>
                  <a:cubicBezTo>
                    <a:pt x="572452" y="625034"/>
                    <a:pt x="572452" y="640256"/>
                    <a:pt x="572452" y="654526"/>
                  </a:cubicBezTo>
                  <a:cubicBezTo>
                    <a:pt x="553402" y="667845"/>
                    <a:pt x="532447" y="680212"/>
                    <a:pt x="507682" y="690677"/>
                  </a:cubicBezTo>
                  <a:cubicBezTo>
                    <a:pt x="478155" y="702093"/>
                    <a:pt x="449580" y="708752"/>
                    <a:pt x="421005" y="708752"/>
                  </a:cubicBezTo>
                  <a:cubicBezTo>
                    <a:pt x="363855" y="708752"/>
                    <a:pt x="319088" y="688774"/>
                    <a:pt x="283845" y="647866"/>
                  </a:cubicBezTo>
                  <a:cubicBezTo>
                    <a:pt x="247650" y="605056"/>
                    <a:pt x="229552" y="539413"/>
                    <a:pt x="229552" y="449987"/>
                  </a:cubicBezTo>
                  <a:cubicBezTo>
                    <a:pt x="229552" y="368171"/>
                    <a:pt x="247650" y="307285"/>
                    <a:pt x="281940" y="267328"/>
                  </a:cubicBezTo>
                  <a:cubicBezTo>
                    <a:pt x="316230" y="228323"/>
                    <a:pt x="361950" y="209296"/>
                    <a:pt x="421005" y="209296"/>
                  </a:cubicBezTo>
                  <a:cubicBezTo>
                    <a:pt x="459105" y="209296"/>
                    <a:pt x="489585" y="218809"/>
                    <a:pt x="514350" y="236885"/>
                  </a:cubicBezTo>
                  <a:cubicBezTo>
                    <a:pt x="539115" y="255912"/>
                    <a:pt x="555307" y="281598"/>
                    <a:pt x="564832" y="314895"/>
                  </a:cubicBezTo>
                  <a:lnTo>
                    <a:pt x="573405" y="345339"/>
                  </a:lnTo>
                  <a:lnTo>
                    <a:pt x="794385" y="301577"/>
                  </a:lnTo>
                  <a:lnTo>
                    <a:pt x="787718" y="268280"/>
                  </a:lnTo>
                  <a:cubicBezTo>
                    <a:pt x="770572" y="185512"/>
                    <a:pt x="730568" y="118918"/>
                    <a:pt x="669607" y="71351"/>
                  </a:cubicBezTo>
                  <a:cubicBezTo>
                    <a:pt x="609600" y="23784"/>
                    <a:pt x="525780" y="0"/>
                    <a:pt x="421005" y="0"/>
                  </a:cubicBezTo>
                  <a:cubicBezTo>
                    <a:pt x="342900" y="0"/>
                    <a:pt x="274320" y="15222"/>
                    <a:pt x="219075" y="44713"/>
                  </a:cubicBezTo>
                  <a:close/>
                </a:path>
              </a:pathLst>
            </a:custGeom>
            <a:solidFill>
              <a:srgbClr val="087846"/>
            </a:solidFill>
            <a:ln w="952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1AC94D2F-7B97-3648-B19C-46F671B89913}"/>
                </a:ext>
              </a:extLst>
            </p:cNvPr>
            <p:cNvSpPr/>
            <p:nvPr/>
          </p:nvSpPr>
          <p:spPr>
            <a:xfrm>
              <a:off x="17994630" y="10728304"/>
              <a:ext cx="851534" cy="890459"/>
            </a:xfrm>
            <a:custGeom>
              <a:avLst/>
              <a:gdLst>
                <a:gd name="connsiteX0" fmla="*/ 589597 w 851534"/>
                <a:gd name="connsiteY0" fmla="*/ 0 h 890459"/>
                <a:gd name="connsiteX1" fmla="*/ 428625 w 851534"/>
                <a:gd name="connsiteY1" fmla="*/ 291112 h 890459"/>
                <a:gd name="connsiteX2" fmla="*/ 263843 w 851534"/>
                <a:gd name="connsiteY2" fmla="*/ 0 h 890459"/>
                <a:gd name="connsiteX3" fmla="*/ 0 w 851534"/>
                <a:gd name="connsiteY3" fmla="*/ 0 h 890459"/>
                <a:gd name="connsiteX4" fmla="*/ 312420 w 851534"/>
                <a:gd name="connsiteY4" fmla="*/ 519435 h 890459"/>
                <a:gd name="connsiteX5" fmla="*/ 312420 w 851534"/>
                <a:gd name="connsiteY5" fmla="*/ 890459 h 890459"/>
                <a:gd name="connsiteX6" fmla="*/ 538163 w 851534"/>
                <a:gd name="connsiteY6" fmla="*/ 890459 h 890459"/>
                <a:gd name="connsiteX7" fmla="*/ 538163 w 851534"/>
                <a:gd name="connsiteY7" fmla="*/ 521337 h 890459"/>
                <a:gd name="connsiteX8" fmla="*/ 851535 w 851534"/>
                <a:gd name="connsiteY8" fmla="*/ 951 h 890459"/>
                <a:gd name="connsiteX9" fmla="*/ 589597 w 851534"/>
                <a:gd name="connsiteY9" fmla="*/ 951 h 890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1534" h="890459">
                  <a:moveTo>
                    <a:pt x="589597" y="0"/>
                  </a:moveTo>
                  <a:cubicBezTo>
                    <a:pt x="589597" y="0"/>
                    <a:pt x="469582" y="216907"/>
                    <a:pt x="428625" y="291112"/>
                  </a:cubicBezTo>
                  <a:cubicBezTo>
                    <a:pt x="386715" y="217858"/>
                    <a:pt x="263843" y="0"/>
                    <a:pt x="263843" y="0"/>
                  </a:cubicBezTo>
                  <a:lnTo>
                    <a:pt x="0" y="0"/>
                  </a:lnTo>
                  <a:cubicBezTo>
                    <a:pt x="0" y="0"/>
                    <a:pt x="302895" y="504213"/>
                    <a:pt x="312420" y="519435"/>
                  </a:cubicBezTo>
                  <a:cubicBezTo>
                    <a:pt x="312420" y="537510"/>
                    <a:pt x="312420" y="890459"/>
                    <a:pt x="312420" y="890459"/>
                  </a:cubicBezTo>
                  <a:lnTo>
                    <a:pt x="538163" y="890459"/>
                  </a:lnTo>
                  <a:cubicBezTo>
                    <a:pt x="538163" y="890459"/>
                    <a:pt x="538163" y="538461"/>
                    <a:pt x="538163" y="521337"/>
                  </a:cubicBezTo>
                  <a:cubicBezTo>
                    <a:pt x="547688" y="506116"/>
                    <a:pt x="851535" y="951"/>
                    <a:pt x="851535" y="951"/>
                  </a:cubicBezTo>
                  <a:lnTo>
                    <a:pt x="589597" y="951"/>
                  </a:lnTo>
                  <a:close/>
                </a:path>
              </a:pathLst>
            </a:custGeom>
            <a:solidFill>
              <a:srgbClr val="087846"/>
            </a:solidFill>
            <a:ln w="952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873E1D9D-26AA-3D41-A16D-8F8193EBDA10}"/>
                </a:ext>
              </a:extLst>
            </p:cNvPr>
            <p:cNvSpPr/>
            <p:nvPr/>
          </p:nvSpPr>
          <p:spPr>
            <a:xfrm>
              <a:off x="14072234" y="10316371"/>
              <a:ext cx="205740" cy="245447"/>
            </a:xfrm>
            <a:custGeom>
              <a:avLst/>
              <a:gdLst>
                <a:gd name="connsiteX0" fmla="*/ 953 w 205740"/>
                <a:gd name="connsiteY0" fmla="*/ 951 h 245447"/>
                <a:gd name="connsiteX1" fmla="*/ 52388 w 205740"/>
                <a:gd name="connsiteY1" fmla="*/ 951 h 245447"/>
                <a:gd name="connsiteX2" fmla="*/ 52388 w 205740"/>
                <a:gd name="connsiteY2" fmla="*/ 131286 h 245447"/>
                <a:gd name="connsiteX3" fmla="*/ 54293 w 205740"/>
                <a:gd name="connsiteY3" fmla="*/ 171242 h 245447"/>
                <a:gd name="connsiteX4" fmla="*/ 70485 w 205740"/>
                <a:gd name="connsiteY4" fmla="*/ 195026 h 245447"/>
                <a:gd name="connsiteX5" fmla="*/ 104775 w 205740"/>
                <a:gd name="connsiteY5" fmla="*/ 203588 h 245447"/>
                <a:gd name="connsiteX6" fmla="*/ 138113 w 205740"/>
                <a:gd name="connsiteY6" fmla="*/ 195026 h 245447"/>
                <a:gd name="connsiteX7" fmla="*/ 151447 w 205740"/>
                <a:gd name="connsiteY7" fmla="*/ 174096 h 245447"/>
                <a:gd name="connsiteX8" fmla="*/ 153353 w 205740"/>
                <a:gd name="connsiteY8" fmla="*/ 133188 h 245447"/>
                <a:gd name="connsiteX9" fmla="*/ 153353 w 205740"/>
                <a:gd name="connsiteY9" fmla="*/ 0 h 245447"/>
                <a:gd name="connsiteX10" fmla="*/ 205740 w 205740"/>
                <a:gd name="connsiteY10" fmla="*/ 0 h 245447"/>
                <a:gd name="connsiteX11" fmla="*/ 205740 w 205740"/>
                <a:gd name="connsiteY11" fmla="*/ 126529 h 245447"/>
                <a:gd name="connsiteX12" fmla="*/ 200978 w 205740"/>
                <a:gd name="connsiteY12" fmla="*/ 187415 h 245447"/>
                <a:gd name="connsiteX13" fmla="*/ 185738 w 205740"/>
                <a:gd name="connsiteY13" fmla="*/ 217858 h 245447"/>
                <a:gd name="connsiteX14" fmla="*/ 155258 w 205740"/>
                <a:gd name="connsiteY14" fmla="*/ 237836 h 245447"/>
                <a:gd name="connsiteX15" fmla="*/ 105728 w 205740"/>
                <a:gd name="connsiteY15" fmla="*/ 245447 h 245447"/>
                <a:gd name="connsiteX16" fmla="*/ 49530 w 205740"/>
                <a:gd name="connsiteY16" fmla="*/ 237836 h 245447"/>
                <a:gd name="connsiteX17" fmla="*/ 19050 w 205740"/>
                <a:gd name="connsiteY17" fmla="*/ 216907 h 245447"/>
                <a:gd name="connsiteX18" fmla="*/ 4763 w 205740"/>
                <a:gd name="connsiteY18" fmla="*/ 190269 h 245447"/>
                <a:gd name="connsiteX19" fmla="*/ 0 w 205740"/>
                <a:gd name="connsiteY19" fmla="*/ 129383 h 245447"/>
                <a:gd name="connsiteX20" fmla="*/ 0 w 205740"/>
                <a:gd name="connsiteY20" fmla="*/ 951 h 245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740" h="245447">
                  <a:moveTo>
                    <a:pt x="953" y="951"/>
                  </a:moveTo>
                  <a:lnTo>
                    <a:pt x="52388" y="951"/>
                  </a:lnTo>
                  <a:lnTo>
                    <a:pt x="52388" y="131286"/>
                  </a:lnTo>
                  <a:cubicBezTo>
                    <a:pt x="52388" y="152215"/>
                    <a:pt x="53340" y="165534"/>
                    <a:pt x="54293" y="171242"/>
                  </a:cubicBezTo>
                  <a:cubicBezTo>
                    <a:pt x="56197" y="180756"/>
                    <a:pt x="61913" y="189318"/>
                    <a:pt x="70485" y="195026"/>
                  </a:cubicBezTo>
                  <a:cubicBezTo>
                    <a:pt x="79058" y="200734"/>
                    <a:pt x="90488" y="203588"/>
                    <a:pt x="104775" y="203588"/>
                  </a:cubicBezTo>
                  <a:cubicBezTo>
                    <a:pt x="119063" y="203588"/>
                    <a:pt x="130493" y="200734"/>
                    <a:pt x="138113" y="195026"/>
                  </a:cubicBezTo>
                  <a:cubicBezTo>
                    <a:pt x="145733" y="189318"/>
                    <a:pt x="150495" y="182658"/>
                    <a:pt x="151447" y="174096"/>
                  </a:cubicBezTo>
                  <a:cubicBezTo>
                    <a:pt x="153353" y="165534"/>
                    <a:pt x="153353" y="152215"/>
                    <a:pt x="153353" y="133188"/>
                  </a:cubicBezTo>
                  <a:lnTo>
                    <a:pt x="153353" y="0"/>
                  </a:lnTo>
                  <a:lnTo>
                    <a:pt x="205740" y="0"/>
                  </a:lnTo>
                  <a:lnTo>
                    <a:pt x="205740" y="126529"/>
                  </a:lnTo>
                  <a:cubicBezTo>
                    <a:pt x="205740" y="155069"/>
                    <a:pt x="203835" y="175999"/>
                    <a:pt x="200978" y="187415"/>
                  </a:cubicBezTo>
                  <a:cubicBezTo>
                    <a:pt x="198120" y="199783"/>
                    <a:pt x="193358" y="209296"/>
                    <a:pt x="185738" y="217858"/>
                  </a:cubicBezTo>
                  <a:cubicBezTo>
                    <a:pt x="178118" y="226420"/>
                    <a:pt x="168593" y="232128"/>
                    <a:pt x="155258" y="237836"/>
                  </a:cubicBezTo>
                  <a:cubicBezTo>
                    <a:pt x="142875" y="242593"/>
                    <a:pt x="125730" y="245447"/>
                    <a:pt x="105728" y="245447"/>
                  </a:cubicBezTo>
                  <a:cubicBezTo>
                    <a:pt x="80963" y="245447"/>
                    <a:pt x="62865" y="242593"/>
                    <a:pt x="49530" y="237836"/>
                  </a:cubicBezTo>
                  <a:cubicBezTo>
                    <a:pt x="37147" y="232128"/>
                    <a:pt x="26670" y="225469"/>
                    <a:pt x="19050" y="216907"/>
                  </a:cubicBezTo>
                  <a:cubicBezTo>
                    <a:pt x="11430" y="208345"/>
                    <a:pt x="6668" y="199783"/>
                    <a:pt x="4763" y="190269"/>
                  </a:cubicBezTo>
                  <a:cubicBezTo>
                    <a:pt x="953" y="176950"/>
                    <a:pt x="0" y="156021"/>
                    <a:pt x="0" y="129383"/>
                  </a:cubicBezTo>
                  <a:lnTo>
                    <a:pt x="0" y="951"/>
                  </a:lnTo>
                  <a:close/>
                </a:path>
              </a:pathLst>
            </a:custGeom>
            <a:solidFill>
              <a:srgbClr val="0C7946"/>
            </a:solidFill>
            <a:ln w="952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969EBF82-6CC3-424A-91C4-9C413AAC424D}"/>
                </a:ext>
              </a:extLst>
            </p:cNvPr>
            <p:cNvSpPr/>
            <p:nvPr/>
          </p:nvSpPr>
          <p:spPr>
            <a:xfrm>
              <a:off x="14357032" y="10511397"/>
              <a:ext cx="49530" cy="45664"/>
            </a:xfrm>
            <a:custGeom>
              <a:avLst/>
              <a:gdLst>
                <a:gd name="connsiteX0" fmla="*/ 0 w 49530"/>
                <a:gd name="connsiteY0" fmla="*/ 45665 h 45664"/>
                <a:gd name="connsiteX1" fmla="*/ 0 w 49530"/>
                <a:gd name="connsiteY1" fmla="*/ 0 h 45664"/>
                <a:gd name="connsiteX2" fmla="*/ 49530 w 49530"/>
                <a:gd name="connsiteY2" fmla="*/ 0 h 45664"/>
                <a:gd name="connsiteX3" fmla="*/ 49530 w 49530"/>
                <a:gd name="connsiteY3" fmla="*/ 45665 h 45664"/>
                <a:gd name="connsiteX4" fmla="*/ 0 w 49530"/>
                <a:gd name="connsiteY4" fmla="*/ 45665 h 4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 h="45664">
                  <a:moveTo>
                    <a:pt x="0" y="45665"/>
                  </a:moveTo>
                  <a:lnTo>
                    <a:pt x="0" y="0"/>
                  </a:lnTo>
                  <a:lnTo>
                    <a:pt x="49530" y="0"/>
                  </a:lnTo>
                  <a:lnTo>
                    <a:pt x="49530" y="45665"/>
                  </a:lnTo>
                  <a:lnTo>
                    <a:pt x="0" y="45665"/>
                  </a:lnTo>
                  <a:close/>
                </a:path>
              </a:pathLst>
            </a:custGeom>
            <a:solidFill>
              <a:srgbClr val="0C7946"/>
            </a:solidFill>
            <a:ln w="952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6F23B1E8-48B6-CB40-851E-F252BD1FCB45}"/>
                </a:ext>
              </a:extLst>
            </p:cNvPr>
            <p:cNvSpPr/>
            <p:nvPr/>
          </p:nvSpPr>
          <p:spPr>
            <a:xfrm>
              <a:off x="14470380" y="10314468"/>
              <a:ext cx="210502" cy="248301"/>
            </a:xfrm>
            <a:custGeom>
              <a:avLst/>
              <a:gdLst>
                <a:gd name="connsiteX0" fmla="*/ 0 w 210502"/>
                <a:gd name="connsiteY0" fmla="*/ 164583 h 248301"/>
                <a:gd name="connsiteX1" fmla="*/ 50482 w 210502"/>
                <a:gd name="connsiteY1" fmla="*/ 159826 h 248301"/>
                <a:gd name="connsiteX2" fmla="*/ 68580 w 210502"/>
                <a:gd name="connsiteY2" fmla="*/ 195026 h 248301"/>
                <a:gd name="connsiteX3" fmla="*/ 106680 w 210502"/>
                <a:gd name="connsiteY3" fmla="*/ 206442 h 248301"/>
                <a:gd name="connsiteX4" fmla="*/ 144780 w 210502"/>
                <a:gd name="connsiteY4" fmla="*/ 196928 h 248301"/>
                <a:gd name="connsiteX5" fmla="*/ 157163 w 210502"/>
                <a:gd name="connsiteY5" fmla="*/ 174096 h 248301"/>
                <a:gd name="connsiteX6" fmla="*/ 151447 w 210502"/>
                <a:gd name="connsiteY6" fmla="*/ 159826 h 248301"/>
                <a:gd name="connsiteX7" fmla="*/ 133350 w 210502"/>
                <a:gd name="connsiteY7" fmla="*/ 149361 h 248301"/>
                <a:gd name="connsiteX8" fmla="*/ 91440 w 210502"/>
                <a:gd name="connsiteY8" fmla="*/ 138896 h 248301"/>
                <a:gd name="connsiteX9" fmla="*/ 33338 w 210502"/>
                <a:gd name="connsiteY9" fmla="*/ 115113 h 248301"/>
                <a:gd name="connsiteX10" fmla="*/ 9525 w 210502"/>
                <a:gd name="connsiteY10" fmla="*/ 66594 h 248301"/>
                <a:gd name="connsiteX11" fmla="*/ 20955 w 210502"/>
                <a:gd name="connsiteY11" fmla="*/ 32346 h 248301"/>
                <a:gd name="connsiteX12" fmla="*/ 53340 w 210502"/>
                <a:gd name="connsiteY12" fmla="*/ 8562 h 248301"/>
                <a:gd name="connsiteX13" fmla="*/ 103822 w 210502"/>
                <a:gd name="connsiteY13" fmla="*/ 0 h 248301"/>
                <a:gd name="connsiteX14" fmla="*/ 176213 w 210502"/>
                <a:gd name="connsiteY14" fmla="*/ 19978 h 248301"/>
                <a:gd name="connsiteX15" fmla="*/ 201930 w 210502"/>
                <a:gd name="connsiteY15" fmla="*/ 73254 h 248301"/>
                <a:gd name="connsiteX16" fmla="*/ 150495 w 210502"/>
                <a:gd name="connsiteY16" fmla="*/ 75156 h 248301"/>
                <a:gd name="connsiteX17" fmla="*/ 136207 w 210502"/>
                <a:gd name="connsiteY17" fmla="*/ 48519 h 248301"/>
                <a:gd name="connsiteX18" fmla="*/ 103822 w 210502"/>
                <a:gd name="connsiteY18" fmla="*/ 39956 h 248301"/>
                <a:gd name="connsiteX19" fmla="*/ 68580 w 210502"/>
                <a:gd name="connsiteY19" fmla="*/ 48519 h 248301"/>
                <a:gd name="connsiteX20" fmla="*/ 60007 w 210502"/>
                <a:gd name="connsiteY20" fmla="*/ 63740 h 248301"/>
                <a:gd name="connsiteX21" fmla="*/ 67627 w 210502"/>
                <a:gd name="connsiteY21" fmla="*/ 78010 h 248301"/>
                <a:gd name="connsiteX22" fmla="*/ 115252 w 210502"/>
                <a:gd name="connsiteY22" fmla="*/ 94183 h 248301"/>
                <a:gd name="connsiteX23" fmla="*/ 171450 w 210502"/>
                <a:gd name="connsiteY23" fmla="*/ 111307 h 248301"/>
                <a:gd name="connsiteX24" fmla="*/ 200025 w 210502"/>
                <a:gd name="connsiteY24" fmla="*/ 136042 h 248301"/>
                <a:gd name="connsiteX25" fmla="*/ 210502 w 210502"/>
                <a:gd name="connsiteY25" fmla="*/ 174096 h 248301"/>
                <a:gd name="connsiteX26" fmla="*/ 198120 w 210502"/>
                <a:gd name="connsiteY26" fmla="*/ 213101 h 248301"/>
                <a:gd name="connsiteX27" fmla="*/ 163830 w 210502"/>
                <a:gd name="connsiteY27" fmla="*/ 239739 h 248301"/>
                <a:gd name="connsiteX28" fmla="*/ 107632 w 210502"/>
                <a:gd name="connsiteY28" fmla="*/ 248301 h 248301"/>
                <a:gd name="connsiteX29" fmla="*/ 32385 w 210502"/>
                <a:gd name="connsiteY29" fmla="*/ 227372 h 248301"/>
                <a:gd name="connsiteX30" fmla="*/ 0 w 210502"/>
                <a:gd name="connsiteY30" fmla="*/ 164583 h 248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0502" h="248301">
                  <a:moveTo>
                    <a:pt x="0" y="164583"/>
                  </a:moveTo>
                  <a:lnTo>
                    <a:pt x="50482" y="159826"/>
                  </a:lnTo>
                  <a:cubicBezTo>
                    <a:pt x="53340" y="175999"/>
                    <a:pt x="60007" y="187415"/>
                    <a:pt x="68580" y="195026"/>
                  </a:cubicBezTo>
                  <a:cubicBezTo>
                    <a:pt x="78105" y="202637"/>
                    <a:pt x="90488" y="206442"/>
                    <a:pt x="106680" y="206442"/>
                  </a:cubicBezTo>
                  <a:cubicBezTo>
                    <a:pt x="123825" y="206442"/>
                    <a:pt x="136207" y="202637"/>
                    <a:pt x="144780" y="196928"/>
                  </a:cubicBezTo>
                  <a:cubicBezTo>
                    <a:pt x="153352" y="190269"/>
                    <a:pt x="157163" y="182658"/>
                    <a:pt x="157163" y="174096"/>
                  </a:cubicBezTo>
                  <a:cubicBezTo>
                    <a:pt x="157163" y="168388"/>
                    <a:pt x="155257" y="163631"/>
                    <a:pt x="151447" y="159826"/>
                  </a:cubicBezTo>
                  <a:cubicBezTo>
                    <a:pt x="147638" y="156021"/>
                    <a:pt x="141922" y="152215"/>
                    <a:pt x="133350" y="149361"/>
                  </a:cubicBezTo>
                  <a:cubicBezTo>
                    <a:pt x="127635" y="147459"/>
                    <a:pt x="113347" y="143653"/>
                    <a:pt x="91440" y="138896"/>
                  </a:cubicBezTo>
                  <a:cubicBezTo>
                    <a:pt x="63817" y="132237"/>
                    <a:pt x="43815" y="124626"/>
                    <a:pt x="33338" y="115113"/>
                  </a:cubicBezTo>
                  <a:cubicBezTo>
                    <a:pt x="17145" y="101794"/>
                    <a:pt x="9525" y="85621"/>
                    <a:pt x="9525" y="66594"/>
                  </a:cubicBezTo>
                  <a:cubicBezTo>
                    <a:pt x="9525" y="54227"/>
                    <a:pt x="13335" y="42811"/>
                    <a:pt x="20955" y="32346"/>
                  </a:cubicBezTo>
                  <a:cubicBezTo>
                    <a:pt x="28575" y="21881"/>
                    <a:pt x="39052" y="13319"/>
                    <a:pt x="53340" y="8562"/>
                  </a:cubicBezTo>
                  <a:cubicBezTo>
                    <a:pt x="67627" y="2854"/>
                    <a:pt x="83820" y="0"/>
                    <a:pt x="103822" y="0"/>
                  </a:cubicBezTo>
                  <a:cubicBezTo>
                    <a:pt x="136207" y="0"/>
                    <a:pt x="160020" y="6659"/>
                    <a:pt x="176213" y="19978"/>
                  </a:cubicBezTo>
                  <a:cubicBezTo>
                    <a:pt x="192405" y="33297"/>
                    <a:pt x="200977" y="51373"/>
                    <a:pt x="201930" y="73254"/>
                  </a:cubicBezTo>
                  <a:lnTo>
                    <a:pt x="150495" y="75156"/>
                  </a:lnTo>
                  <a:cubicBezTo>
                    <a:pt x="148590" y="62789"/>
                    <a:pt x="143827" y="54227"/>
                    <a:pt x="136207" y="48519"/>
                  </a:cubicBezTo>
                  <a:cubicBezTo>
                    <a:pt x="128588" y="42811"/>
                    <a:pt x="118110" y="39956"/>
                    <a:pt x="103822" y="39956"/>
                  </a:cubicBezTo>
                  <a:cubicBezTo>
                    <a:pt x="88582" y="39956"/>
                    <a:pt x="77152" y="42811"/>
                    <a:pt x="68580" y="48519"/>
                  </a:cubicBezTo>
                  <a:cubicBezTo>
                    <a:pt x="62865" y="52324"/>
                    <a:pt x="60007" y="57081"/>
                    <a:pt x="60007" y="63740"/>
                  </a:cubicBezTo>
                  <a:cubicBezTo>
                    <a:pt x="60007" y="69448"/>
                    <a:pt x="62865" y="74205"/>
                    <a:pt x="67627" y="78010"/>
                  </a:cubicBezTo>
                  <a:cubicBezTo>
                    <a:pt x="74295" y="82767"/>
                    <a:pt x="89535" y="88475"/>
                    <a:pt x="115252" y="94183"/>
                  </a:cubicBezTo>
                  <a:cubicBezTo>
                    <a:pt x="140017" y="99891"/>
                    <a:pt x="159067" y="105599"/>
                    <a:pt x="171450" y="111307"/>
                  </a:cubicBezTo>
                  <a:cubicBezTo>
                    <a:pt x="183832" y="117016"/>
                    <a:pt x="192405" y="125578"/>
                    <a:pt x="200025" y="136042"/>
                  </a:cubicBezTo>
                  <a:cubicBezTo>
                    <a:pt x="206692" y="146507"/>
                    <a:pt x="210502" y="158875"/>
                    <a:pt x="210502" y="174096"/>
                  </a:cubicBezTo>
                  <a:cubicBezTo>
                    <a:pt x="210502" y="187415"/>
                    <a:pt x="206692" y="200734"/>
                    <a:pt x="198120" y="213101"/>
                  </a:cubicBezTo>
                  <a:cubicBezTo>
                    <a:pt x="189547" y="225469"/>
                    <a:pt x="178117" y="234031"/>
                    <a:pt x="163830" y="239739"/>
                  </a:cubicBezTo>
                  <a:cubicBezTo>
                    <a:pt x="148590" y="245447"/>
                    <a:pt x="130492" y="248301"/>
                    <a:pt x="107632" y="248301"/>
                  </a:cubicBezTo>
                  <a:cubicBezTo>
                    <a:pt x="75247" y="248301"/>
                    <a:pt x="50482" y="241642"/>
                    <a:pt x="32385" y="227372"/>
                  </a:cubicBezTo>
                  <a:cubicBezTo>
                    <a:pt x="13335" y="212150"/>
                    <a:pt x="2857" y="191220"/>
                    <a:pt x="0" y="164583"/>
                  </a:cubicBezTo>
                  <a:close/>
                </a:path>
              </a:pathLst>
            </a:custGeom>
            <a:solidFill>
              <a:srgbClr val="0C7946"/>
            </a:solidFill>
            <a:ln w="952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1CA0B90F-39E1-2048-9850-F57604E62268}"/>
                </a:ext>
              </a:extLst>
            </p:cNvPr>
            <p:cNvSpPr/>
            <p:nvPr/>
          </p:nvSpPr>
          <p:spPr>
            <a:xfrm>
              <a:off x="14747557" y="10511397"/>
              <a:ext cx="49530" cy="45664"/>
            </a:xfrm>
            <a:custGeom>
              <a:avLst/>
              <a:gdLst>
                <a:gd name="connsiteX0" fmla="*/ 0 w 49530"/>
                <a:gd name="connsiteY0" fmla="*/ 45665 h 45664"/>
                <a:gd name="connsiteX1" fmla="*/ 0 w 49530"/>
                <a:gd name="connsiteY1" fmla="*/ 0 h 45664"/>
                <a:gd name="connsiteX2" fmla="*/ 49530 w 49530"/>
                <a:gd name="connsiteY2" fmla="*/ 0 h 45664"/>
                <a:gd name="connsiteX3" fmla="*/ 49530 w 49530"/>
                <a:gd name="connsiteY3" fmla="*/ 45665 h 45664"/>
                <a:gd name="connsiteX4" fmla="*/ 0 w 49530"/>
                <a:gd name="connsiteY4" fmla="*/ 45665 h 4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 h="45664">
                  <a:moveTo>
                    <a:pt x="0" y="45665"/>
                  </a:moveTo>
                  <a:lnTo>
                    <a:pt x="0" y="0"/>
                  </a:lnTo>
                  <a:lnTo>
                    <a:pt x="49530" y="0"/>
                  </a:lnTo>
                  <a:lnTo>
                    <a:pt x="49530" y="45665"/>
                  </a:lnTo>
                  <a:lnTo>
                    <a:pt x="0" y="45665"/>
                  </a:lnTo>
                  <a:close/>
                </a:path>
              </a:pathLst>
            </a:custGeom>
            <a:solidFill>
              <a:srgbClr val="0C7946"/>
            </a:solidFill>
            <a:ln w="952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B38E149F-A17D-8E4A-B3AC-AF8D32C5C2A5}"/>
                </a:ext>
              </a:extLst>
            </p:cNvPr>
            <p:cNvSpPr/>
            <p:nvPr/>
          </p:nvSpPr>
          <p:spPr>
            <a:xfrm>
              <a:off x="14999017" y="10317323"/>
              <a:ext cx="215264" cy="240690"/>
            </a:xfrm>
            <a:custGeom>
              <a:avLst/>
              <a:gdLst>
                <a:gd name="connsiteX0" fmla="*/ 0 w 215264"/>
                <a:gd name="connsiteY0" fmla="*/ 0 h 240690"/>
                <a:gd name="connsiteX1" fmla="*/ 94297 w 215264"/>
                <a:gd name="connsiteY1" fmla="*/ 0 h 240690"/>
                <a:gd name="connsiteX2" fmla="*/ 142875 w 215264"/>
                <a:gd name="connsiteY2" fmla="*/ 4757 h 240690"/>
                <a:gd name="connsiteX3" fmla="*/ 181927 w 215264"/>
                <a:gd name="connsiteY3" fmla="*/ 26638 h 240690"/>
                <a:gd name="connsiteX4" fmla="*/ 206693 w 215264"/>
                <a:gd name="connsiteY4" fmla="*/ 65643 h 240690"/>
                <a:gd name="connsiteX5" fmla="*/ 215265 w 215264"/>
                <a:gd name="connsiteY5" fmla="*/ 122724 h 240690"/>
                <a:gd name="connsiteX6" fmla="*/ 207645 w 215264"/>
                <a:gd name="connsiteY6" fmla="*/ 174096 h 240690"/>
                <a:gd name="connsiteX7" fmla="*/ 180022 w 215264"/>
                <a:gd name="connsiteY7" fmla="*/ 216907 h 240690"/>
                <a:gd name="connsiteX8" fmla="*/ 143827 w 215264"/>
                <a:gd name="connsiteY8" fmla="*/ 235934 h 240690"/>
                <a:gd name="connsiteX9" fmla="*/ 98107 w 215264"/>
                <a:gd name="connsiteY9" fmla="*/ 240690 h 240690"/>
                <a:gd name="connsiteX10" fmla="*/ 952 w 215264"/>
                <a:gd name="connsiteY10" fmla="*/ 240690 h 240690"/>
                <a:gd name="connsiteX11" fmla="*/ 952 w 215264"/>
                <a:gd name="connsiteY11" fmla="*/ 0 h 240690"/>
                <a:gd name="connsiteX12" fmla="*/ 51435 w 215264"/>
                <a:gd name="connsiteY12" fmla="*/ 40908 h 240690"/>
                <a:gd name="connsiteX13" fmla="*/ 51435 w 215264"/>
                <a:gd name="connsiteY13" fmla="*/ 198831 h 240690"/>
                <a:gd name="connsiteX14" fmla="*/ 90488 w 215264"/>
                <a:gd name="connsiteY14" fmla="*/ 198831 h 240690"/>
                <a:gd name="connsiteX15" fmla="*/ 121920 w 215264"/>
                <a:gd name="connsiteY15" fmla="*/ 196928 h 240690"/>
                <a:gd name="connsiteX16" fmla="*/ 142875 w 215264"/>
                <a:gd name="connsiteY16" fmla="*/ 187415 h 240690"/>
                <a:gd name="connsiteX17" fmla="*/ 156210 w 215264"/>
                <a:gd name="connsiteY17" fmla="*/ 164583 h 240690"/>
                <a:gd name="connsiteX18" fmla="*/ 161925 w 215264"/>
                <a:gd name="connsiteY18" fmla="*/ 120821 h 240690"/>
                <a:gd name="connsiteX19" fmla="*/ 156210 w 215264"/>
                <a:gd name="connsiteY19" fmla="*/ 78010 h 240690"/>
                <a:gd name="connsiteX20" fmla="*/ 141922 w 215264"/>
                <a:gd name="connsiteY20" fmla="*/ 55178 h 240690"/>
                <a:gd name="connsiteX21" fmla="*/ 118110 w 215264"/>
                <a:gd name="connsiteY21" fmla="*/ 43762 h 240690"/>
                <a:gd name="connsiteX22" fmla="*/ 75247 w 215264"/>
                <a:gd name="connsiteY22" fmla="*/ 41859 h 240690"/>
                <a:gd name="connsiteX23" fmla="*/ 51435 w 215264"/>
                <a:gd name="connsiteY23" fmla="*/ 41859 h 24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5264" h="240690">
                  <a:moveTo>
                    <a:pt x="0" y="0"/>
                  </a:moveTo>
                  <a:lnTo>
                    <a:pt x="94297" y="0"/>
                  </a:lnTo>
                  <a:cubicBezTo>
                    <a:pt x="115252" y="0"/>
                    <a:pt x="132397" y="1903"/>
                    <a:pt x="142875" y="4757"/>
                  </a:cubicBezTo>
                  <a:cubicBezTo>
                    <a:pt x="158115" y="8562"/>
                    <a:pt x="170497" y="16173"/>
                    <a:pt x="181927" y="26638"/>
                  </a:cubicBezTo>
                  <a:cubicBezTo>
                    <a:pt x="192405" y="37102"/>
                    <a:pt x="200977" y="50421"/>
                    <a:pt x="206693" y="65643"/>
                  </a:cubicBezTo>
                  <a:cubicBezTo>
                    <a:pt x="212407" y="80864"/>
                    <a:pt x="215265" y="99891"/>
                    <a:pt x="215265" y="122724"/>
                  </a:cubicBezTo>
                  <a:cubicBezTo>
                    <a:pt x="215265" y="142702"/>
                    <a:pt x="212407" y="159826"/>
                    <a:pt x="207645" y="174096"/>
                  </a:cubicBezTo>
                  <a:cubicBezTo>
                    <a:pt x="200977" y="191220"/>
                    <a:pt x="192405" y="205491"/>
                    <a:pt x="180022" y="216907"/>
                  </a:cubicBezTo>
                  <a:cubicBezTo>
                    <a:pt x="171450" y="225469"/>
                    <a:pt x="159068" y="231177"/>
                    <a:pt x="143827" y="235934"/>
                  </a:cubicBezTo>
                  <a:cubicBezTo>
                    <a:pt x="132397" y="239739"/>
                    <a:pt x="117157" y="240690"/>
                    <a:pt x="98107" y="240690"/>
                  </a:cubicBezTo>
                  <a:lnTo>
                    <a:pt x="952" y="240690"/>
                  </a:lnTo>
                  <a:lnTo>
                    <a:pt x="952" y="0"/>
                  </a:lnTo>
                  <a:close/>
                  <a:moveTo>
                    <a:pt x="51435" y="40908"/>
                  </a:moveTo>
                  <a:lnTo>
                    <a:pt x="51435" y="198831"/>
                  </a:lnTo>
                  <a:lnTo>
                    <a:pt x="90488" y="198831"/>
                  </a:lnTo>
                  <a:cubicBezTo>
                    <a:pt x="104775" y="198831"/>
                    <a:pt x="115252" y="197880"/>
                    <a:pt x="121920" y="196928"/>
                  </a:cubicBezTo>
                  <a:cubicBezTo>
                    <a:pt x="130493" y="195026"/>
                    <a:pt x="137160" y="191220"/>
                    <a:pt x="142875" y="187415"/>
                  </a:cubicBezTo>
                  <a:cubicBezTo>
                    <a:pt x="148590" y="182658"/>
                    <a:pt x="153352" y="175048"/>
                    <a:pt x="156210" y="164583"/>
                  </a:cubicBezTo>
                  <a:cubicBezTo>
                    <a:pt x="160020" y="154118"/>
                    <a:pt x="161925" y="138896"/>
                    <a:pt x="161925" y="120821"/>
                  </a:cubicBezTo>
                  <a:cubicBezTo>
                    <a:pt x="161925" y="102745"/>
                    <a:pt x="160020" y="88475"/>
                    <a:pt x="156210" y="78010"/>
                  </a:cubicBezTo>
                  <a:cubicBezTo>
                    <a:pt x="152400" y="68497"/>
                    <a:pt x="147638" y="59935"/>
                    <a:pt x="141922" y="55178"/>
                  </a:cubicBezTo>
                  <a:cubicBezTo>
                    <a:pt x="135255" y="49470"/>
                    <a:pt x="127635" y="45664"/>
                    <a:pt x="118110" y="43762"/>
                  </a:cubicBezTo>
                  <a:cubicBezTo>
                    <a:pt x="110490" y="41859"/>
                    <a:pt x="96202" y="41859"/>
                    <a:pt x="75247" y="41859"/>
                  </a:cubicBezTo>
                  <a:lnTo>
                    <a:pt x="51435" y="41859"/>
                  </a:lnTo>
                  <a:close/>
                </a:path>
              </a:pathLst>
            </a:custGeom>
            <a:solidFill>
              <a:srgbClr val="0C7946"/>
            </a:solidFill>
            <a:ln w="952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07721CBB-55A2-5E40-941F-657DE4F063E6}"/>
                </a:ext>
              </a:extLst>
            </p:cNvPr>
            <p:cNvSpPr/>
            <p:nvPr/>
          </p:nvSpPr>
          <p:spPr>
            <a:xfrm>
              <a:off x="15283814" y="10317323"/>
              <a:ext cx="194310" cy="240690"/>
            </a:xfrm>
            <a:custGeom>
              <a:avLst/>
              <a:gdLst>
                <a:gd name="connsiteX0" fmla="*/ 0 w 194310"/>
                <a:gd name="connsiteY0" fmla="*/ 239739 h 240690"/>
                <a:gd name="connsiteX1" fmla="*/ 0 w 194310"/>
                <a:gd name="connsiteY1" fmla="*/ 0 h 240690"/>
                <a:gd name="connsiteX2" fmla="*/ 190500 w 194310"/>
                <a:gd name="connsiteY2" fmla="*/ 0 h 240690"/>
                <a:gd name="connsiteX3" fmla="*/ 190500 w 194310"/>
                <a:gd name="connsiteY3" fmla="*/ 40908 h 240690"/>
                <a:gd name="connsiteX4" fmla="*/ 51435 w 194310"/>
                <a:gd name="connsiteY4" fmla="*/ 40908 h 240690"/>
                <a:gd name="connsiteX5" fmla="*/ 51435 w 194310"/>
                <a:gd name="connsiteY5" fmla="*/ 94183 h 240690"/>
                <a:gd name="connsiteX6" fmla="*/ 180023 w 194310"/>
                <a:gd name="connsiteY6" fmla="*/ 94183 h 240690"/>
                <a:gd name="connsiteX7" fmla="*/ 180023 w 194310"/>
                <a:gd name="connsiteY7" fmla="*/ 135091 h 240690"/>
                <a:gd name="connsiteX8" fmla="*/ 51435 w 194310"/>
                <a:gd name="connsiteY8" fmla="*/ 135091 h 240690"/>
                <a:gd name="connsiteX9" fmla="*/ 51435 w 194310"/>
                <a:gd name="connsiteY9" fmla="*/ 199783 h 240690"/>
                <a:gd name="connsiteX10" fmla="*/ 194310 w 194310"/>
                <a:gd name="connsiteY10" fmla="*/ 199783 h 240690"/>
                <a:gd name="connsiteX11" fmla="*/ 194310 w 194310"/>
                <a:gd name="connsiteY11" fmla="*/ 240690 h 240690"/>
                <a:gd name="connsiteX12" fmla="*/ 0 w 194310"/>
                <a:gd name="connsiteY12" fmla="*/ 240690 h 24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4310" h="240690">
                  <a:moveTo>
                    <a:pt x="0" y="239739"/>
                  </a:moveTo>
                  <a:lnTo>
                    <a:pt x="0" y="0"/>
                  </a:lnTo>
                  <a:lnTo>
                    <a:pt x="190500" y="0"/>
                  </a:lnTo>
                  <a:lnTo>
                    <a:pt x="190500" y="40908"/>
                  </a:lnTo>
                  <a:lnTo>
                    <a:pt x="51435" y="40908"/>
                  </a:lnTo>
                  <a:lnTo>
                    <a:pt x="51435" y="94183"/>
                  </a:lnTo>
                  <a:lnTo>
                    <a:pt x="180023" y="94183"/>
                  </a:lnTo>
                  <a:lnTo>
                    <a:pt x="180023" y="135091"/>
                  </a:lnTo>
                  <a:lnTo>
                    <a:pt x="51435" y="135091"/>
                  </a:lnTo>
                  <a:lnTo>
                    <a:pt x="51435" y="199783"/>
                  </a:lnTo>
                  <a:lnTo>
                    <a:pt x="194310" y="199783"/>
                  </a:lnTo>
                  <a:lnTo>
                    <a:pt x="194310" y="240690"/>
                  </a:lnTo>
                  <a:lnTo>
                    <a:pt x="0" y="240690"/>
                  </a:lnTo>
                  <a:close/>
                </a:path>
              </a:pathLst>
            </a:custGeom>
            <a:solidFill>
              <a:srgbClr val="0C7946"/>
            </a:solidFill>
            <a:ln w="952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4BD9BF01-98F6-394C-8CF2-CE2A6E41ED9D}"/>
                </a:ext>
              </a:extLst>
            </p:cNvPr>
            <p:cNvSpPr/>
            <p:nvPr/>
          </p:nvSpPr>
          <p:spPr>
            <a:xfrm>
              <a:off x="15548610" y="10317323"/>
              <a:ext cx="197167" cy="240690"/>
            </a:xfrm>
            <a:custGeom>
              <a:avLst/>
              <a:gdLst>
                <a:gd name="connsiteX0" fmla="*/ 0 w 197167"/>
                <a:gd name="connsiteY0" fmla="*/ 239739 h 240690"/>
                <a:gd name="connsiteX1" fmla="*/ 0 w 197167"/>
                <a:gd name="connsiteY1" fmla="*/ 0 h 240690"/>
                <a:gd name="connsiteX2" fmla="*/ 82867 w 197167"/>
                <a:gd name="connsiteY2" fmla="*/ 0 h 240690"/>
                <a:gd name="connsiteX3" fmla="*/ 144780 w 197167"/>
                <a:gd name="connsiteY3" fmla="*/ 3805 h 240690"/>
                <a:gd name="connsiteX4" fmla="*/ 181927 w 197167"/>
                <a:gd name="connsiteY4" fmla="*/ 27589 h 240690"/>
                <a:gd name="connsiteX5" fmla="*/ 197167 w 197167"/>
                <a:gd name="connsiteY5" fmla="*/ 74205 h 240690"/>
                <a:gd name="connsiteX6" fmla="*/ 188595 w 197167"/>
                <a:gd name="connsiteY6" fmla="*/ 111307 h 240690"/>
                <a:gd name="connsiteX7" fmla="*/ 166688 w 197167"/>
                <a:gd name="connsiteY7" fmla="*/ 135091 h 240690"/>
                <a:gd name="connsiteX8" fmla="*/ 140017 w 197167"/>
                <a:gd name="connsiteY8" fmla="*/ 146507 h 240690"/>
                <a:gd name="connsiteX9" fmla="*/ 86677 w 197167"/>
                <a:gd name="connsiteY9" fmla="*/ 150312 h 240690"/>
                <a:gd name="connsiteX10" fmla="*/ 53340 w 197167"/>
                <a:gd name="connsiteY10" fmla="*/ 150312 h 240690"/>
                <a:gd name="connsiteX11" fmla="*/ 53340 w 197167"/>
                <a:gd name="connsiteY11" fmla="*/ 240690 h 240690"/>
                <a:gd name="connsiteX12" fmla="*/ 0 w 197167"/>
                <a:gd name="connsiteY12" fmla="*/ 240690 h 240690"/>
                <a:gd name="connsiteX13" fmla="*/ 52388 w 197167"/>
                <a:gd name="connsiteY13" fmla="*/ 40908 h 240690"/>
                <a:gd name="connsiteX14" fmla="*/ 52388 w 197167"/>
                <a:gd name="connsiteY14" fmla="*/ 108453 h 240690"/>
                <a:gd name="connsiteX15" fmla="*/ 80963 w 197167"/>
                <a:gd name="connsiteY15" fmla="*/ 108453 h 240690"/>
                <a:gd name="connsiteX16" fmla="*/ 121920 w 197167"/>
                <a:gd name="connsiteY16" fmla="*/ 104648 h 240690"/>
                <a:gd name="connsiteX17" fmla="*/ 138113 w 197167"/>
                <a:gd name="connsiteY17" fmla="*/ 93232 h 240690"/>
                <a:gd name="connsiteX18" fmla="*/ 143827 w 197167"/>
                <a:gd name="connsiteY18" fmla="*/ 75156 h 240690"/>
                <a:gd name="connsiteX19" fmla="*/ 135255 w 197167"/>
                <a:gd name="connsiteY19" fmla="*/ 53275 h 240690"/>
                <a:gd name="connsiteX20" fmla="*/ 114300 w 197167"/>
                <a:gd name="connsiteY20" fmla="*/ 42811 h 240690"/>
                <a:gd name="connsiteX21" fmla="*/ 77152 w 197167"/>
                <a:gd name="connsiteY21" fmla="*/ 40908 h 240690"/>
                <a:gd name="connsiteX22" fmla="*/ 52388 w 197167"/>
                <a:gd name="connsiteY22" fmla="*/ 40908 h 24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7167" h="240690">
                  <a:moveTo>
                    <a:pt x="0" y="239739"/>
                  </a:moveTo>
                  <a:lnTo>
                    <a:pt x="0" y="0"/>
                  </a:lnTo>
                  <a:lnTo>
                    <a:pt x="82867" y="0"/>
                  </a:lnTo>
                  <a:cubicBezTo>
                    <a:pt x="114300" y="0"/>
                    <a:pt x="135255" y="951"/>
                    <a:pt x="144780" y="3805"/>
                  </a:cubicBezTo>
                  <a:cubicBezTo>
                    <a:pt x="159067" y="7611"/>
                    <a:pt x="171450" y="15221"/>
                    <a:pt x="181927" y="27589"/>
                  </a:cubicBezTo>
                  <a:cubicBezTo>
                    <a:pt x="191452" y="39956"/>
                    <a:pt x="197167" y="55178"/>
                    <a:pt x="197167" y="74205"/>
                  </a:cubicBezTo>
                  <a:cubicBezTo>
                    <a:pt x="197167" y="88475"/>
                    <a:pt x="194310" y="100843"/>
                    <a:pt x="188595" y="111307"/>
                  </a:cubicBezTo>
                  <a:cubicBezTo>
                    <a:pt x="182880" y="120821"/>
                    <a:pt x="175260" y="129383"/>
                    <a:pt x="166688" y="135091"/>
                  </a:cubicBezTo>
                  <a:cubicBezTo>
                    <a:pt x="158115" y="140799"/>
                    <a:pt x="148590" y="144604"/>
                    <a:pt x="140017" y="146507"/>
                  </a:cubicBezTo>
                  <a:cubicBezTo>
                    <a:pt x="127635" y="148410"/>
                    <a:pt x="109538" y="150312"/>
                    <a:pt x="86677" y="150312"/>
                  </a:cubicBezTo>
                  <a:lnTo>
                    <a:pt x="53340" y="150312"/>
                  </a:lnTo>
                  <a:lnTo>
                    <a:pt x="53340" y="240690"/>
                  </a:lnTo>
                  <a:lnTo>
                    <a:pt x="0" y="240690"/>
                  </a:lnTo>
                  <a:close/>
                  <a:moveTo>
                    <a:pt x="52388" y="40908"/>
                  </a:moveTo>
                  <a:lnTo>
                    <a:pt x="52388" y="108453"/>
                  </a:lnTo>
                  <a:lnTo>
                    <a:pt x="80963" y="108453"/>
                  </a:lnTo>
                  <a:cubicBezTo>
                    <a:pt x="100965" y="108453"/>
                    <a:pt x="115252" y="107502"/>
                    <a:pt x="121920" y="104648"/>
                  </a:cubicBezTo>
                  <a:cubicBezTo>
                    <a:pt x="128588" y="101794"/>
                    <a:pt x="134302" y="97988"/>
                    <a:pt x="138113" y="93232"/>
                  </a:cubicBezTo>
                  <a:cubicBezTo>
                    <a:pt x="141922" y="87524"/>
                    <a:pt x="143827" y="81816"/>
                    <a:pt x="143827" y="75156"/>
                  </a:cubicBezTo>
                  <a:cubicBezTo>
                    <a:pt x="143827" y="66594"/>
                    <a:pt x="140970" y="58983"/>
                    <a:pt x="135255" y="53275"/>
                  </a:cubicBezTo>
                  <a:cubicBezTo>
                    <a:pt x="129540" y="47567"/>
                    <a:pt x="122872" y="43762"/>
                    <a:pt x="114300" y="42811"/>
                  </a:cubicBezTo>
                  <a:cubicBezTo>
                    <a:pt x="108585" y="41859"/>
                    <a:pt x="95250" y="40908"/>
                    <a:pt x="77152" y="40908"/>
                  </a:cubicBezTo>
                  <a:lnTo>
                    <a:pt x="52388" y="40908"/>
                  </a:lnTo>
                  <a:close/>
                </a:path>
              </a:pathLst>
            </a:custGeom>
            <a:solidFill>
              <a:srgbClr val="0C7946"/>
            </a:solidFill>
            <a:ln w="952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50F3265B-FAB2-F14D-9E14-AED0B4B7FE9F}"/>
                </a:ext>
              </a:extLst>
            </p:cNvPr>
            <p:cNvSpPr/>
            <p:nvPr/>
          </p:nvSpPr>
          <p:spPr>
            <a:xfrm>
              <a:off x="15761017" y="10317323"/>
              <a:ext cx="257175" cy="239739"/>
            </a:xfrm>
            <a:custGeom>
              <a:avLst/>
              <a:gdLst>
                <a:gd name="connsiteX0" fmla="*/ 257175 w 257175"/>
                <a:gd name="connsiteY0" fmla="*/ 239739 h 239739"/>
                <a:gd name="connsiteX1" fmla="*/ 200977 w 257175"/>
                <a:gd name="connsiteY1" fmla="*/ 239739 h 239739"/>
                <a:gd name="connsiteX2" fmla="*/ 179070 w 257175"/>
                <a:gd name="connsiteY2" fmla="*/ 185512 h 239739"/>
                <a:gd name="connsiteX3" fmla="*/ 76200 w 257175"/>
                <a:gd name="connsiteY3" fmla="*/ 185512 h 239739"/>
                <a:gd name="connsiteX4" fmla="*/ 55245 w 257175"/>
                <a:gd name="connsiteY4" fmla="*/ 239739 h 239739"/>
                <a:gd name="connsiteX5" fmla="*/ 0 w 257175"/>
                <a:gd name="connsiteY5" fmla="*/ 239739 h 239739"/>
                <a:gd name="connsiteX6" fmla="*/ 100013 w 257175"/>
                <a:gd name="connsiteY6" fmla="*/ 0 h 239739"/>
                <a:gd name="connsiteX7" fmla="*/ 155257 w 257175"/>
                <a:gd name="connsiteY7" fmla="*/ 0 h 239739"/>
                <a:gd name="connsiteX8" fmla="*/ 257175 w 257175"/>
                <a:gd name="connsiteY8" fmla="*/ 239739 h 239739"/>
                <a:gd name="connsiteX9" fmla="*/ 161925 w 257175"/>
                <a:gd name="connsiteY9" fmla="*/ 144604 h 239739"/>
                <a:gd name="connsiteX10" fmla="*/ 126682 w 257175"/>
                <a:gd name="connsiteY10" fmla="*/ 56129 h 239739"/>
                <a:gd name="connsiteX11" fmla="*/ 92393 w 257175"/>
                <a:gd name="connsiteY11" fmla="*/ 144604 h 239739"/>
                <a:gd name="connsiteX12" fmla="*/ 161925 w 257175"/>
                <a:gd name="connsiteY12" fmla="*/ 144604 h 2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7175" h="239739">
                  <a:moveTo>
                    <a:pt x="257175" y="239739"/>
                  </a:moveTo>
                  <a:lnTo>
                    <a:pt x="200977" y="239739"/>
                  </a:lnTo>
                  <a:lnTo>
                    <a:pt x="179070" y="185512"/>
                  </a:lnTo>
                  <a:lnTo>
                    <a:pt x="76200" y="185512"/>
                  </a:lnTo>
                  <a:lnTo>
                    <a:pt x="55245" y="239739"/>
                  </a:lnTo>
                  <a:lnTo>
                    <a:pt x="0" y="239739"/>
                  </a:lnTo>
                  <a:lnTo>
                    <a:pt x="100013" y="0"/>
                  </a:lnTo>
                  <a:lnTo>
                    <a:pt x="155257" y="0"/>
                  </a:lnTo>
                  <a:lnTo>
                    <a:pt x="257175" y="239739"/>
                  </a:lnTo>
                  <a:close/>
                  <a:moveTo>
                    <a:pt x="161925" y="144604"/>
                  </a:moveTo>
                  <a:lnTo>
                    <a:pt x="126682" y="56129"/>
                  </a:lnTo>
                  <a:lnTo>
                    <a:pt x="92393" y="144604"/>
                  </a:lnTo>
                  <a:lnTo>
                    <a:pt x="161925" y="144604"/>
                  </a:lnTo>
                  <a:close/>
                </a:path>
              </a:pathLst>
            </a:custGeom>
            <a:solidFill>
              <a:srgbClr val="0C7946"/>
            </a:solidFill>
            <a:ln w="952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6CB9A807-DA61-B743-970A-A5F245CAC2F2}"/>
                </a:ext>
              </a:extLst>
            </p:cNvPr>
            <p:cNvSpPr/>
            <p:nvPr/>
          </p:nvSpPr>
          <p:spPr>
            <a:xfrm>
              <a:off x="16071532" y="10317323"/>
              <a:ext cx="230505" cy="239739"/>
            </a:xfrm>
            <a:custGeom>
              <a:avLst/>
              <a:gdLst>
                <a:gd name="connsiteX0" fmla="*/ 0 w 230505"/>
                <a:gd name="connsiteY0" fmla="*/ 239739 h 239739"/>
                <a:gd name="connsiteX1" fmla="*/ 0 w 230505"/>
                <a:gd name="connsiteY1" fmla="*/ 0 h 239739"/>
                <a:gd name="connsiteX2" fmla="*/ 108585 w 230505"/>
                <a:gd name="connsiteY2" fmla="*/ 0 h 239739"/>
                <a:gd name="connsiteX3" fmla="*/ 168593 w 230505"/>
                <a:gd name="connsiteY3" fmla="*/ 6659 h 239739"/>
                <a:gd name="connsiteX4" fmla="*/ 198120 w 230505"/>
                <a:gd name="connsiteY4" fmla="*/ 29492 h 239739"/>
                <a:gd name="connsiteX5" fmla="*/ 209550 w 230505"/>
                <a:gd name="connsiteY5" fmla="*/ 67545 h 239739"/>
                <a:gd name="connsiteX6" fmla="*/ 192405 w 230505"/>
                <a:gd name="connsiteY6" fmla="*/ 112259 h 239739"/>
                <a:gd name="connsiteX7" fmla="*/ 141923 w 230505"/>
                <a:gd name="connsiteY7" fmla="*/ 134140 h 239739"/>
                <a:gd name="connsiteX8" fmla="*/ 169545 w 230505"/>
                <a:gd name="connsiteY8" fmla="*/ 154118 h 239739"/>
                <a:gd name="connsiteX9" fmla="*/ 199073 w 230505"/>
                <a:gd name="connsiteY9" fmla="*/ 193123 h 239739"/>
                <a:gd name="connsiteX10" fmla="*/ 230505 w 230505"/>
                <a:gd name="connsiteY10" fmla="*/ 239739 h 239739"/>
                <a:gd name="connsiteX11" fmla="*/ 168593 w 230505"/>
                <a:gd name="connsiteY11" fmla="*/ 239739 h 239739"/>
                <a:gd name="connsiteX12" fmla="*/ 131445 w 230505"/>
                <a:gd name="connsiteY12" fmla="*/ 187415 h 239739"/>
                <a:gd name="connsiteX13" fmla="*/ 103823 w 230505"/>
                <a:gd name="connsiteY13" fmla="*/ 152215 h 239739"/>
                <a:gd name="connsiteX14" fmla="*/ 88582 w 230505"/>
                <a:gd name="connsiteY14" fmla="*/ 142702 h 239739"/>
                <a:gd name="connsiteX15" fmla="*/ 62865 w 230505"/>
                <a:gd name="connsiteY15" fmla="*/ 139848 h 239739"/>
                <a:gd name="connsiteX16" fmla="*/ 52388 w 230505"/>
                <a:gd name="connsiteY16" fmla="*/ 139848 h 239739"/>
                <a:gd name="connsiteX17" fmla="*/ 52388 w 230505"/>
                <a:gd name="connsiteY17" fmla="*/ 239739 h 239739"/>
                <a:gd name="connsiteX18" fmla="*/ 0 w 230505"/>
                <a:gd name="connsiteY18" fmla="*/ 239739 h 239739"/>
                <a:gd name="connsiteX19" fmla="*/ 52388 w 230505"/>
                <a:gd name="connsiteY19" fmla="*/ 100843 h 239739"/>
                <a:gd name="connsiteX20" fmla="*/ 90488 w 230505"/>
                <a:gd name="connsiteY20" fmla="*/ 100843 h 239739"/>
                <a:gd name="connsiteX21" fmla="*/ 137160 w 230505"/>
                <a:gd name="connsiteY21" fmla="*/ 97988 h 239739"/>
                <a:gd name="connsiteX22" fmla="*/ 151448 w 230505"/>
                <a:gd name="connsiteY22" fmla="*/ 87524 h 239739"/>
                <a:gd name="connsiteX23" fmla="*/ 157163 w 230505"/>
                <a:gd name="connsiteY23" fmla="*/ 69448 h 239739"/>
                <a:gd name="connsiteX24" fmla="*/ 150495 w 230505"/>
                <a:gd name="connsiteY24" fmla="*/ 50421 h 239739"/>
                <a:gd name="connsiteX25" fmla="*/ 130493 w 230505"/>
                <a:gd name="connsiteY25" fmla="*/ 40908 h 239739"/>
                <a:gd name="connsiteX26" fmla="*/ 92393 w 230505"/>
                <a:gd name="connsiteY26" fmla="*/ 39956 h 239739"/>
                <a:gd name="connsiteX27" fmla="*/ 52388 w 230505"/>
                <a:gd name="connsiteY27" fmla="*/ 39956 h 239739"/>
                <a:gd name="connsiteX28" fmla="*/ 52388 w 230505"/>
                <a:gd name="connsiteY28" fmla="*/ 100843 h 2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30505" h="239739">
                  <a:moveTo>
                    <a:pt x="0" y="239739"/>
                  </a:moveTo>
                  <a:lnTo>
                    <a:pt x="0" y="0"/>
                  </a:lnTo>
                  <a:lnTo>
                    <a:pt x="108585" y="0"/>
                  </a:lnTo>
                  <a:cubicBezTo>
                    <a:pt x="136207" y="0"/>
                    <a:pt x="156210" y="1903"/>
                    <a:pt x="168593" y="6659"/>
                  </a:cubicBezTo>
                  <a:cubicBezTo>
                    <a:pt x="180975" y="10465"/>
                    <a:pt x="191453" y="19027"/>
                    <a:pt x="198120" y="29492"/>
                  </a:cubicBezTo>
                  <a:cubicBezTo>
                    <a:pt x="205740" y="40908"/>
                    <a:pt x="209550" y="53275"/>
                    <a:pt x="209550" y="67545"/>
                  </a:cubicBezTo>
                  <a:cubicBezTo>
                    <a:pt x="209550" y="85621"/>
                    <a:pt x="203835" y="100843"/>
                    <a:pt x="192405" y="112259"/>
                  </a:cubicBezTo>
                  <a:cubicBezTo>
                    <a:pt x="180975" y="123675"/>
                    <a:pt x="163830" y="131286"/>
                    <a:pt x="141923" y="134140"/>
                  </a:cubicBezTo>
                  <a:cubicBezTo>
                    <a:pt x="153353" y="139848"/>
                    <a:pt x="161925" y="147459"/>
                    <a:pt x="169545" y="154118"/>
                  </a:cubicBezTo>
                  <a:cubicBezTo>
                    <a:pt x="177165" y="161729"/>
                    <a:pt x="186690" y="174096"/>
                    <a:pt x="199073" y="193123"/>
                  </a:cubicBezTo>
                  <a:lnTo>
                    <a:pt x="230505" y="239739"/>
                  </a:lnTo>
                  <a:lnTo>
                    <a:pt x="168593" y="239739"/>
                  </a:lnTo>
                  <a:lnTo>
                    <a:pt x="131445" y="187415"/>
                  </a:lnTo>
                  <a:cubicBezTo>
                    <a:pt x="118110" y="168388"/>
                    <a:pt x="108585" y="156972"/>
                    <a:pt x="103823" y="152215"/>
                  </a:cubicBezTo>
                  <a:cubicBezTo>
                    <a:pt x="99060" y="147459"/>
                    <a:pt x="93345" y="143653"/>
                    <a:pt x="88582" y="142702"/>
                  </a:cubicBezTo>
                  <a:cubicBezTo>
                    <a:pt x="82868" y="140799"/>
                    <a:pt x="74295" y="139848"/>
                    <a:pt x="62865" y="139848"/>
                  </a:cubicBezTo>
                  <a:lnTo>
                    <a:pt x="52388" y="139848"/>
                  </a:lnTo>
                  <a:lnTo>
                    <a:pt x="52388" y="239739"/>
                  </a:lnTo>
                  <a:lnTo>
                    <a:pt x="0" y="239739"/>
                  </a:lnTo>
                  <a:close/>
                  <a:moveTo>
                    <a:pt x="52388" y="100843"/>
                  </a:moveTo>
                  <a:lnTo>
                    <a:pt x="90488" y="100843"/>
                  </a:lnTo>
                  <a:cubicBezTo>
                    <a:pt x="115253" y="100843"/>
                    <a:pt x="130493" y="99891"/>
                    <a:pt x="137160" y="97988"/>
                  </a:cubicBezTo>
                  <a:cubicBezTo>
                    <a:pt x="142875" y="96086"/>
                    <a:pt x="148590" y="92280"/>
                    <a:pt x="151448" y="87524"/>
                  </a:cubicBezTo>
                  <a:cubicBezTo>
                    <a:pt x="155257" y="82767"/>
                    <a:pt x="157163" y="77059"/>
                    <a:pt x="157163" y="69448"/>
                  </a:cubicBezTo>
                  <a:cubicBezTo>
                    <a:pt x="157163" y="60886"/>
                    <a:pt x="155257" y="55178"/>
                    <a:pt x="150495" y="50421"/>
                  </a:cubicBezTo>
                  <a:cubicBezTo>
                    <a:pt x="145732" y="45664"/>
                    <a:pt x="139065" y="41859"/>
                    <a:pt x="130493" y="40908"/>
                  </a:cubicBezTo>
                  <a:cubicBezTo>
                    <a:pt x="126682" y="40908"/>
                    <a:pt x="113348" y="39956"/>
                    <a:pt x="92393" y="39956"/>
                  </a:cubicBezTo>
                  <a:lnTo>
                    <a:pt x="52388" y="39956"/>
                  </a:lnTo>
                  <a:lnTo>
                    <a:pt x="52388" y="100843"/>
                  </a:lnTo>
                  <a:close/>
                </a:path>
              </a:pathLst>
            </a:custGeom>
            <a:solidFill>
              <a:srgbClr val="0C7946"/>
            </a:solidFill>
            <a:ln w="952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E4235F30-C629-D644-9381-796DBE40C769}"/>
                </a:ext>
              </a:extLst>
            </p:cNvPr>
            <p:cNvSpPr/>
            <p:nvPr/>
          </p:nvSpPr>
          <p:spPr>
            <a:xfrm>
              <a:off x="16338232" y="10317323"/>
              <a:ext cx="203835" cy="239739"/>
            </a:xfrm>
            <a:custGeom>
              <a:avLst/>
              <a:gdLst>
                <a:gd name="connsiteX0" fmla="*/ 76200 w 203835"/>
                <a:gd name="connsiteY0" fmla="*/ 239739 h 239739"/>
                <a:gd name="connsiteX1" fmla="*/ 76200 w 203835"/>
                <a:gd name="connsiteY1" fmla="*/ 40908 h 239739"/>
                <a:gd name="connsiteX2" fmla="*/ 0 w 203835"/>
                <a:gd name="connsiteY2" fmla="*/ 40908 h 239739"/>
                <a:gd name="connsiteX3" fmla="*/ 0 w 203835"/>
                <a:gd name="connsiteY3" fmla="*/ 0 h 239739"/>
                <a:gd name="connsiteX4" fmla="*/ 203835 w 203835"/>
                <a:gd name="connsiteY4" fmla="*/ 0 h 239739"/>
                <a:gd name="connsiteX5" fmla="*/ 203835 w 203835"/>
                <a:gd name="connsiteY5" fmla="*/ 40908 h 239739"/>
                <a:gd name="connsiteX6" fmla="*/ 127635 w 203835"/>
                <a:gd name="connsiteY6" fmla="*/ 40908 h 239739"/>
                <a:gd name="connsiteX7" fmla="*/ 127635 w 203835"/>
                <a:gd name="connsiteY7" fmla="*/ 239739 h 239739"/>
                <a:gd name="connsiteX8" fmla="*/ 76200 w 203835"/>
                <a:gd name="connsiteY8" fmla="*/ 239739 h 2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835" h="239739">
                  <a:moveTo>
                    <a:pt x="76200" y="239739"/>
                  </a:moveTo>
                  <a:lnTo>
                    <a:pt x="76200" y="40908"/>
                  </a:lnTo>
                  <a:lnTo>
                    <a:pt x="0" y="40908"/>
                  </a:lnTo>
                  <a:lnTo>
                    <a:pt x="0" y="0"/>
                  </a:lnTo>
                  <a:lnTo>
                    <a:pt x="203835" y="0"/>
                  </a:lnTo>
                  <a:lnTo>
                    <a:pt x="203835" y="40908"/>
                  </a:lnTo>
                  <a:lnTo>
                    <a:pt x="127635" y="40908"/>
                  </a:lnTo>
                  <a:lnTo>
                    <a:pt x="127635" y="239739"/>
                  </a:lnTo>
                  <a:lnTo>
                    <a:pt x="76200" y="239739"/>
                  </a:lnTo>
                  <a:close/>
                </a:path>
              </a:pathLst>
            </a:custGeom>
            <a:solidFill>
              <a:srgbClr val="0C7946"/>
            </a:solidFill>
            <a:ln w="952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FC0CB820-4699-EF45-8138-59D967C24E0C}"/>
                </a:ext>
              </a:extLst>
            </p:cNvPr>
            <p:cNvSpPr/>
            <p:nvPr/>
          </p:nvSpPr>
          <p:spPr>
            <a:xfrm>
              <a:off x="16601122" y="10317323"/>
              <a:ext cx="247650" cy="239739"/>
            </a:xfrm>
            <a:custGeom>
              <a:avLst/>
              <a:gdLst>
                <a:gd name="connsiteX0" fmla="*/ 0 w 247650"/>
                <a:gd name="connsiteY0" fmla="*/ 239739 h 239739"/>
                <a:gd name="connsiteX1" fmla="*/ 0 w 247650"/>
                <a:gd name="connsiteY1" fmla="*/ 0 h 239739"/>
                <a:gd name="connsiteX2" fmla="*/ 77152 w 247650"/>
                <a:gd name="connsiteY2" fmla="*/ 0 h 239739"/>
                <a:gd name="connsiteX3" fmla="*/ 123825 w 247650"/>
                <a:gd name="connsiteY3" fmla="*/ 163631 h 239739"/>
                <a:gd name="connsiteX4" fmla="*/ 169545 w 247650"/>
                <a:gd name="connsiteY4" fmla="*/ 0 h 239739"/>
                <a:gd name="connsiteX5" fmla="*/ 247650 w 247650"/>
                <a:gd name="connsiteY5" fmla="*/ 0 h 239739"/>
                <a:gd name="connsiteX6" fmla="*/ 247650 w 247650"/>
                <a:gd name="connsiteY6" fmla="*/ 239739 h 239739"/>
                <a:gd name="connsiteX7" fmla="*/ 200025 w 247650"/>
                <a:gd name="connsiteY7" fmla="*/ 239739 h 239739"/>
                <a:gd name="connsiteX8" fmla="*/ 200025 w 247650"/>
                <a:gd name="connsiteY8" fmla="*/ 50421 h 239739"/>
                <a:gd name="connsiteX9" fmla="*/ 149542 w 247650"/>
                <a:gd name="connsiteY9" fmla="*/ 239739 h 239739"/>
                <a:gd name="connsiteX10" fmla="*/ 99060 w 247650"/>
                <a:gd name="connsiteY10" fmla="*/ 239739 h 239739"/>
                <a:gd name="connsiteX11" fmla="*/ 48577 w 247650"/>
                <a:gd name="connsiteY11" fmla="*/ 50421 h 239739"/>
                <a:gd name="connsiteX12" fmla="*/ 48577 w 247650"/>
                <a:gd name="connsiteY12" fmla="*/ 239739 h 239739"/>
                <a:gd name="connsiteX13" fmla="*/ 0 w 247650"/>
                <a:gd name="connsiteY13" fmla="*/ 239739 h 2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7650" h="239739">
                  <a:moveTo>
                    <a:pt x="0" y="239739"/>
                  </a:moveTo>
                  <a:lnTo>
                    <a:pt x="0" y="0"/>
                  </a:lnTo>
                  <a:lnTo>
                    <a:pt x="77152" y="0"/>
                  </a:lnTo>
                  <a:lnTo>
                    <a:pt x="123825" y="163631"/>
                  </a:lnTo>
                  <a:lnTo>
                    <a:pt x="169545" y="0"/>
                  </a:lnTo>
                  <a:lnTo>
                    <a:pt x="247650" y="0"/>
                  </a:lnTo>
                  <a:lnTo>
                    <a:pt x="247650" y="239739"/>
                  </a:lnTo>
                  <a:lnTo>
                    <a:pt x="200025" y="239739"/>
                  </a:lnTo>
                  <a:lnTo>
                    <a:pt x="200025" y="50421"/>
                  </a:lnTo>
                  <a:lnTo>
                    <a:pt x="149542" y="239739"/>
                  </a:lnTo>
                  <a:lnTo>
                    <a:pt x="99060" y="239739"/>
                  </a:lnTo>
                  <a:lnTo>
                    <a:pt x="48577" y="50421"/>
                  </a:lnTo>
                  <a:lnTo>
                    <a:pt x="48577" y="239739"/>
                  </a:lnTo>
                  <a:lnTo>
                    <a:pt x="0" y="239739"/>
                  </a:lnTo>
                  <a:close/>
                </a:path>
              </a:pathLst>
            </a:custGeom>
            <a:solidFill>
              <a:srgbClr val="0C7946"/>
            </a:solidFill>
            <a:ln w="952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352E67F9-BC7C-8542-BA84-3B5329C483BF}"/>
                </a:ext>
              </a:extLst>
            </p:cNvPr>
            <p:cNvSpPr/>
            <p:nvPr/>
          </p:nvSpPr>
          <p:spPr>
            <a:xfrm>
              <a:off x="16925925" y="10317323"/>
              <a:ext cx="195262" cy="240690"/>
            </a:xfrm>
            <a:custGeom>
              <a:avLst/>
              <a:gdLst>
                <a:gd name="connsiteX0" fmla="*/ 0 w 195262"/>
                <a:gd name="connsiteY0" fmla="*/ 239739 h 240690"/>
                <a:gd name="connsiteX1" fmla="*/ 0 w 195262"/>
                <a:gd name="connsiteY1" fmla="*/ 0 h 240690"/>
                <a:gd name="connsiteX2" fmla="*/ 190500 w 195262"/>
                <a:gd name="connsiteY2" fmla="*/ 0 h 240690"/>
                <a:gd name="connsiteX3" fmla="*/ 190500 w 195262"/>
                <a:gd name="connsiteY3" fmla="*/ 40908 h 240690"/>
                <a:gd name="connsiteX4" fmla="*/ 52388 w 195262"/>
                <a:gd name="connsiteY4" fmla="*/ 40908 h 240690"/>
                <a:gd name="connsiteX5" fmla="*/ 52388 w 195262"/>
                <a:gd name="connsiteY5" fmla="*/ 94183 h 240690"/>
                <a:gd name="connsiteX6" fmla="*/ 180975 w 195262"/>
                <a:gd name="connsiteY6" fmla="*/ 94183 h 240690"/>
                <a:gd name="connsiteX7" fmla="*/ 180975 w 195262"/>
                <a:gd name="connsiteY7" fmla="*/ 135091 h 240690"/>
                <a:gd name="connsiteX8" fmla="*/ 52388 w 195262"/>
                <a:gd name="connsiteY8" fmla="*/ 135091 h 240690"/>
                <a:gd name="connsiteX9" fmla="*/ 52388 w 195262"/>
                <a:gd name="connsiteY9" fmla="*/ 199783 h 240690"/>
                <a:gd name="connsiteX10" fmla="*/ 195263 w 195262"/>
                <a:gd name="connsiteY10" fmla="*/ 199783 h 240690"/>
                <a:gd name="connsiteX11" fmla="*/ 195263 w 195262"/>
                <a:gd name="connsiteY11" fmla="*/ 240690 h 240690"/>
                <a:gd name="connsiteX12" fmla="*/ 0 w 195262"/>
                <a:gd name="connsiteY12" fmla="*/ 240690 h 24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5262" h="240690">
                  <a:moveTo>
                    <a:pt x="0" y="239739"/>
                  </a:moveTo>
                  <a:lnTo>
                    <a:pt x="0" y="0"/>
                  </a:lnTo>
                  <a:lnTo>
                    <a:pt x="190500" y="0"/>
                  </a:lnTo>
                  <a:lnTo>
                    <a:pt x="190500" y="40908"/>
                  </a:lnTo>
                  <a:lnTo>
                    <a:pt x="52388" y="40908"/>
                  </a:lnTo>
                  <a:lnTo>
                    <a:pt x="52388" y="94183"/>
                  </a:lnTo>
                  <a:lnTo>
                    <a:pt x="180975" y="94183"/>
                  </a:lnTo>
                  <a:lnTo>
                    <a:pt x="180975" y="135091"/>
                  </a:lnTo>
                  <a:lnTo>
                    <a:pt x="52388" y="135091"/>
                  </a:lnTo>
                  <a:lnTo>
                    <a:pt x="52388" y="199783"/>
                  </a:lnTo>
                  <a:lnTo>
                    <a:pt x="195263" y="199783"/>
                  </a:lnTo>
                  <a:lnTo>
                    <a:pt x="195263" y="240690"/>
                  </a:lnTo>
                  <a:lnTo>
                    <a:pt x="0" y="240690"/>
                  </a:lnTo>
                  <a:close/>
                </a:path>
              </a:pathLst>
            </a:custGeom>
            <a:solidFill>
              <a:srgbClr val="0C7946"/>
            </a:solidFill>
            <a:ln w="952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13EBD86D-0EE0-0246-B573-6DFFBA7A1C13}"/>
                </a:ext>
              </a:extLst>
            </p:cNvPr>
            <p:cNvSpPr/>
            <p:nvPr/>
          </p:nvSpPr>
          <p:spPr>
            <a:xfrm>
              <a:off x="17190719" y="10317323"/>
              <a:ext cx="203835" cy="239739"/>
            </a:xfrm>
            <a:custGeom>
              <a:avLst/>
              <a:gdLst>
                <a:gd name="connsiteX0" fmla="*/ 0 w 203835"/>
                <a:gd name="connsiteY0" fmla="*/ 239739 h 239739"/>
                <a:gd name="connsiteX1" fmla="*/ 0 w 203835"/>
                <a:gd name="connsiteY1" fmla="*/ 0 h 239739"/>
                <a:gd name="connsiteX2" fmla="*/ 50482 w 203835"/>
                <a:gd name="connsiteY2" fmla="*/ 0 h 239739"/>
                <a:gd name="connsiteX3" fmla="*/ 156210 w 203835"/>
                <a:gd name="connsiteY3" fmla="*/ 160777 h 239739"/>
                <a:gd name="connsiteX4" fmla="*/ 156210 w 203835"/>
                <a:gd name="connsiteY4" fmla="*/ 0 h 239739"/>
                <a:gd name="connsiteX5" fmla="*/ 203835 w 203835"/>
                <a:gd name="connsiteY5" fmla="*/ 0 h 239739"/>
                <a:gd name="connsiteX6" fmla="*/ 203835 w 203835"/>
                <a:gd name="connsiteY6" fmla="*/ 239739 h 239739"/>
                <a:gd name="connsiteX7" fmla="*/ 152400 w 203835"/>
                <a:gd name="connsiteY7" fmla="*/ 239739 h 239739"/>
                <a:gd name="connsiteX8" fmla="*/ 48578 w 203835"/>
                <a:gd name="connsiteY8" fmla="*/ 81816 h 239739"/>
                <a:gd name="connsiteX9" fmla="*/ 48578 w 203835"/>
                <a:gd name="connsiteY9" fmla="*/ 239739 h 239739"/>
                <a:gd name="connsiteX10" fmla="*/ 0 w 203835"/>
                <a:gd name="connsiteY10" fmla="*/ 239739 h 2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3835" h="239739">
                  <a:moveTo>
                    <a:pt x="0" y="239739"/>
                  </a:moveTo>
                  <a:lnTo>
                    <a:pt x="0" y="0"/>
                  </a:lnTo>
                  <a:lnTo>
                    <a:pt x="50482" y="0"/>
                  </a:lnTo>
                  <a:lnTo>
                    <a:pt x="156210" y="160777"/>
                  </a:lnTo>
                  <a:lnTo>
                    <a:pt x="156210" y="0"/>
                  </a:lnTo>
                  <a:lnTo>
                    <a:pt x="203835" y="0"/>
                  </a:lnTo>
                  <a:lnTo>
                    <a:pt x="203835" y="239739"/>
                  </a:lnTo>
                  <a:lnTo>
                    <a:pt x="152400" y="239739"/>
                  </a:lnTo>
                  <a:lnTo>
                    <a:pt x="48578" y="81816"/>
                  </a:lnTo>
                  <a:lnTo>
                    <a:pt x="48578" y="239739"/>
                  </a:lnTo>
                  <a:lnTo>
                    <a:pt x="0" y="239739"/>
                  </a:lnTo>
                  <a:close/>
                </a:path>
              </a:pathLst>
            </a:custGeom>
            <a:solidFill>
              <a:srgbClr val="0C7946"/>
            </a:solidFill>
            <a:ln w="952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48A4AF4F-419F-564C-AB9B-65FA3BB83929}"/>
                </a:ext>
              </a:extLst>
            </p:cNvPr>
            <p:cNvSpPr/>
            <p:nvPr/>
          </p:nvSpPr>
          <p:spPr>
            <a:xfrm>
              <a:off x="17457419" y="10317323"/>
              <a:ext cx="203835" cy="239739"/>
            </a:xfrm>
            <a:custGeom>
              <a:avLst/>
              <a:gdLst>
                <a:gd name="connsiteX0" fmla="*/ 76200 w 203835"/>
                <a:gd name="connsiteY0" fmla="*/ 239739 h 239739"/>
                <a:gd name="connsiteX1" fmla="*/ 76200 w 203835"/>
                <a:gd name="connsiteY1" fmla="*/ 40908 h 239739"/>
                <a:gd name="connsiteX2" fmla="*/ 0 w 203835"/>
                <a:gd name="connsiteY2" fmla="*/ 40908 h 239739"/>
                <a:gd name="connsiteX3" fmla="*/ 0 w 203835"/>
                <a:gd name="connsiteY3" fmla="*/ 0 h 239739"/>
                <a:gd name="connsiteX4" fmla="*/ 203835 w 203835"/>
                <a:gd name="connsiteY4" fmla="*/ 0 h 239739"/>
                <a:gd name="connsiteX5" fmla="*/ 203835 w 203835"/>
                <a:gd name="connsiteY5" fmla="*/ 40908 h 239739"/>
                <a:gd name="connsiteX6" fmla="*/ 127635 w 203835"/>
                <a:gd name="connsiteY6" fmla="*/ 40908 h 239739"/>
                <a:gd name="connsiteX7" fmla="*/ 127635 w 203835"/>
                <a:gd name="connsiteY7" fmla="*/ 239739 h 239739"/>
                <a:gd name="connsiteX8" fmla="*/ 76200 w 203835"/>
                <a:gd name="connsiteY8" fmla="*/ 239739 h 2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835" h="239739">
                  <a:moveTo>
                    <a:pt x="76200" y="239739"/>
                  </a:moveTo>
                  <a:lnTo>
                    <a:pt x="76200" y="40908"/>
                  </a:lnTo>
                  <a:lnTo>
                    <a:pt x="0" y="40908"/>
                  </a:lnTo>
                  <a:lnTo>
                    <a:pt x="0" y="0"/>
                  </a:lnTo>
                  <a:lnTo>
                    <a:pt x="203835" y="0"/>
                  </a:lnTo>
                  <a:lnTo>
                    <a:pt x="203835" y="40908"/>
                  </a:lnTo>
                  <a:lnTo>
                    <a:pt x="127635" y="40908"/>
                  </a:lnTo>
                  <a:lnTo>
                    <a:pt x="127635" y="239739"/>
                  </a:lnTo>
                  <a:lnTo>
                    <a:pt x="76200" y="239739"/>
                  </a:lnTo>
                  <a:close/>
                </a:path>
              </a:pathLst>
            </a:custGeom>
            <a:solidFill>
              <a:srgbClr val="0C7946"/>
            </a:solidFill>
            <a:ln w="952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6C89DEC6-2BA0-9846-BA0B-AD3E416785EE}"/>
                </a:ext>
              </a:extLst>
            </p:cNvPr>
            <p:cNvSpPr/>
            <p:nvPr/>
          </p:nvSpPr>
          <p:spPr>
            <a:xfrm>
              <a:off x="17834610" y="10312566"/>
              <a:ext cx="248602" cy="249252"/>
            </a:xfrm>
            <a:custGeom>
              <a:avLst/>
              <a:gdLst>
                <a:gd name="connsiteX0" fmla="*/ 0 w 248602"/>
                <a:gd name="connsiteY0" fmla="*/ 126529 h 249252"/>
                <a:gd name="connsiteX1" fmla="*/ 11430 w 248602"/>
                <a:gd name="connsiteY1" fmla="*/ 64691 h 249252"/>
                <a:gd name="connsiteX2" fmla="*/ 35242 w 248602"/>
                <a:gd name="connsiteY2" fmla="*/ 31394 h 249252"/>
                <a:gd name="connsiteX3" fmla="*/ 68580 w 248602"/>
                <a:gd name="connsiteY3" fmla="*/ 9513 h 249252"/>
                <a:gd name="connsiteX4" fmla="*/ 123825 w 248602"/>
                <a:gd name="connsiteY4" fmla="*/ 0 h 249252"/>
                <a:gd name="connsiteX5" fmla="*/ 214313 w 248602"/>
                <a:gd name="connsiteY5" fmla="*/ 33297 h 249252"/>
                <a:gd name="connsiteX6" fmla="*/ 248602 w 248602"/>
                <a:gd name="connsiteY6" fmla="*/ 124626 h 249252"/>
                <a:gd name="connsiteX7" fmla="*/ 214313 w 248602"/>
                <a:gd name="connsiteY7" fmla="*/ 215955 h 249252"/>
                <a:gd name="connsiteX8" fmla="*/ 123825 w 248602"/>
                <a:gd name="connsiteY8" fmla="*/ 249252 h 249252"/>
                <a:gd name="connsiteX9" fmla="*/ 32385 w 248602"/>
                <a:gd name="connsiteY9" fmla="*/ 216907 h 249252"/>
                <a:gd name="connsiteX10" fmla="*/ 0 w 248602"/>
                <a:gd name="connsiteY10" fmla="*/ 126529 h 249252"/>
                <a:gd name="connsiteX11" fmla="*/ 53340 w 248602"/>
                <a:gd name="connsiteY11" fmla="*/ 124626 h 249252"/>
                <a:gd name="connsiteX12" fmla="*/ 73342 w 248602"/>
                <a:gd name="connsiteY12" fmla="*/ 186464 h 249252"/>
                <a:gd name="connsiteX13" fmla="*/ 124777 w 248602"/>
                <a:gd name="connsiteY13" fmla="*/ 207393 h 249252"/>
                <a:gd name="connsiteX14" fmla="*/ 176213 w 248602"/>
                <a:gd name="connsiteY14" fmla="*/ 186464 h 249252"/>
                <a:gd name="connsiteX15" fmla="*/ 196215 w 248602"/>
                <a:gd name="connsiteY15" fmla="*/ 123675 h 249252"/>
                <a:gd name="connsiteX16" fmla="*/ 177165 w 248602"/>
                <a:gd name="connsiteY16" fmla="*/ 61837 h 249252"/>
                <a:gd name="connsiteX17" fmla="*/ 125730 w 248602"/>
                <a:gd name="connsiteY17" fmla="*/ 41859 h 249252"/>
                <a:gd name="connsiteX18" fmla="*/ 74295 w 248602"/>
                <a:gd name="connsiteY18" fmla="*/ 62789 h 249252"/>
                <a:gd name="connsiteX19" fmla="*/ 53340 w 248602"/>
                <a:gd name="connsiteY19" fmla="*/ 124626 h 249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8602" h="249252">
                  <a:moveTo>
                    <a:pt x="0" y="126529"/>
                  </a:moveTo>
                  <a:cubicBezTo>
                    <a:pt x="0" y="101794"/>
                    <a:pt x="3810" y="81816"/>
                    <a:pt x="11430" y="64691"/>
                  </a:cubicBezTo>
                  <a:cubicBezTo>
                    <a:pt x="17145" y="52324"/>
                    <a:pt x="24765" y="41859"/>
                    <a:pt x="35242" y="31394"/>
                  </a:cubicBezTo>
                  <a:cubicBezTo>
                    <a:pt x="45720" y="21881"/>
                    <a:pt x="56197" y="14270"/>
                    <a:pt x="68580" y="9513"/>
                  </a:cubicBezTo>
                  <a:cubicBezTo>
                    <a:pt x="84772" y="2854"/>
                    <a:pt x="102870" y="0"/>
                    <a:pt x="123825" y="0"/>
                  </a:cubicBezTo>
                  <a:cubicBezTo>
                    <a:pt x="161925" y="0"/>
                    <a:pt x="192405" y="11416"/>
                    <a:pt x="214313" y="33297"/>
                  </a:cubicBezTo>
                  <a:cubicBezTo>
                    <a:pt x="237172" y="55178"/>
                    <a:pt x="248602" y="85621"/>
                    <a:pt x="248602" y="124626"/>
                  </a:cubicBezTo>
                  <a:cubicBezTo>
                    <a:pt x="248602" y="163631"/>
                    <a:pt x="237172" y="194074"/>
                    <a:pt x="214313" y="215955"/>
                  </a:cubicBezTo>
                  <a:cubicBezTo>
                    <a:pt x="191452" y="237836"/>
                    <a:pt x="161925" y="249252"/>
                    <a:pt x="123825" y="249252"/>
                  </a:cubicBezTo>
                  <a:cubicBezTo>
                    <a:pt x="85725" y="249252"/>
                    <a:pt x="55245" y="238788"/>
                    <a:pt x="32385" y="216907"/>
                  </a:cubicBezTo>
                  <a:cubicBezTo>
                    <a:pt x="11430" y="194074"/>
                    <a:pt x="0" y="164583"/>
                    <a:pt x="0" y="126529"/>
                  </a:cubicBezTo>
                  <a:close/>
                  <a:moveTo>
                    <a:pt x="53340" y="124626"/>
                  </a:moveTo>
                  <a:cubicBezTo>
                    <a:pt x="53340" y="152215"/>
                    <a:pt x="60007" y="172193"/>
                    <a:pt x="73342" y="186464"/>
                  </a:cubicBezTo>
                  <a:cubicBezTo>
                    <a:pt x="86677" y="200734"/>
                    <a:pt x="103822" y="207393"/>
                    <a:pt x="124777" y="207393"/>
                  </a:cubicBezTo>
                  <a:cubicBezTo>
                    <a:pt x="145732" y="207393"/>
                    <a:pt x="162877" y="200734"/>
                    <a:pt x="176213" y="186464"/>
                  </a:cubicBezTo>
                  <a:cubicBezTo>
                    <a:pt x="189547" y="172193"/>
                    <a:pt x="196215" y="151264"/>
                    <a:pt x="196215" y="123675"/>
                  </a:cubicBezTo>
                  <a:cubicBezTo>
                    <a:pt x="196215" y="96086"/>
                    <a:pt x="189547" y="75156"/>
                    <a:pt x="177165" y="61837"/>
                  </a:cubicBezTo>
                  <a:cubicBezTo>
                    <a:pt x="163830" y="48519"/>
                    <a:pt x="146685" y="41859"/>
                    <a:pt x="125730" y="41859"/>
                  </a:cubicBezTo>
                  <a:cubicBezTo>
                    <a:pt x="103822" y="41859"/>
                    <a:pt x="86677" y="48519"/>
                    <a:pt x="74295" y="62789"/>
                  </a:cubicBezTo>
                  <a:cubicBezTo>
                    <a:pt x="60007" y="76108"/>
                    <a:pt x="53340" y="97037"/>
                    <a:pt x="53340" y="124626"/>
                  </a:cubicBezTo>
                  <a:close/>
                </a:path>
              </a:pathLst>
            </a:custGeom>
            <a:solidFill>
              <a:srgbClr val="0C7946"/>
            </a:solidFill>
            <a:ln w="9525" cap="flat">
              <a:noFill/>
              <a:prstDash val="solid"/>
              <a:miter/>
            </a:ln>
          </p:spPr>
          <p:txBody>
            <a:bodyPr rtlCol="0" anchor="ctr"/>
            <a:lstStyle/>
            <a:p>
              <a:endParaRPr lang="en-US"/>
            </a:p>
          </p:txBody>
        </p:sp>
        <p:sp>
          <p:nvSpPr>
            <p:cNvPr id="35" name="Freeform 34">
              <a:extLst>
                <a:ext uri="{FF2B5EF4-FFF2-40B4-BE49-F238E27FC236}">
                  <a16:creationId xmlns:a16="http://schemas.microsoft.com/office/drawing/2014/main" id="{27047C51-42D4-5746-B4CF-192DE367738D}"/>
                </a:ext>
              </a:extLst>
            </p:cNvPr>
            <p:cNvSpPr/>
            <p:nvPr/>
          </p:nvSpPr>
          <p:spPr>
            <a:xfrm>
              <a:off x="18149887" y="10317323"/>
              <a:ext cx="176212" cy="239739"/>
            </a:xfrm>
            <a:custGeom>
              <a:avLst/>
              <a:gdLst>
                <a:gd name="connsiteX0" fmla="*/ 0 w 176212"/>
                <a:gd name="connsiteY0" fmla="*/ 239739 h 239739"/>
                <a:gd name="connsiteX1" fmla="*/ 0 w 176212"/>
                <a:gd name="connsiteY1" fmla="*/ 0 h 239739"/>
                <a:gd name="connsiteX2" fmla="*/ 176213 w 176212"/>
                <a:gd name="connsiteY2" fmla="*/ 0 h 239739"/>
                <a:gd name="connsiteX3" fmla="*/ 176213 w 176212"/>
                <a:gd name="connsiteY3" fmla="*/ 40908 h 239739"/>
                <a:gd name="connsiteX4" fmla="*/ 52388 w 176212"/>
                <a:gd name="connsiteY4" fmla="*/ 40908 h 239739"/>
                <a:gd name="connsiteX5" fmla="*/ 52388 w 176212"/>
                <a:gd name="connsiteY5" fmla="*/ 97037 h 239739"/>
                <a:gd name="connsiteX6" fmla="*/ 160020 w 176212"/>
                <a:gd name="connsiteY6" fmla="*/ 97037 h 239739"/>
                <a:gd name="connsiteX7" fmla="*/ 160020 w 176212"/>
                <a:gd name="connsiteY7" fmla="*/ 137945 h 239739"/>
                <a:gd name="connsiteX8" fmla="*/ 52388 w 176212"/>
                <a:gd name="connsiteY8" fmla="*/ 137945 h 239739"/>
                <a:gd name="connsiteX9" fmla="*/ 52388 w 176212"/>
                <a:gd name="connsiteY9" fmla="*/ 239739 h 239739"/>
                <a:gd name="connsiteX10" fmla="*/ 0 w 176212"/>
                <a:gd name="connsiteY10" fmla="*/ 239739 h 2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6212" h="239739">
                  <a:moveTo>
                    <a:pt x="0" y="239739"/>
                  </a:moveTo>
                  <a:lnTo>
                    <a:pt x="0" y="0"/>
                  </a:lnTo>
                  <a:lnTo>
                    <a:pt x="176213" y="0"/>
                  </a:lnTo>
                  <a:lnTo>
                    <a:pt x="176213" y="40908"/>
                  </a:lnTo>
                  <a:lnTo>
                    <a:pt x="52388" y="40908"/>
                  </a:lnTo>
                  <a:lnTo>
                    <a:pt x="52388" y="97037"/>
                  </a:lnTo>
                  <a:lnTo>
                    <a:pt x="160020" y="97037"/>
                  </a:lnTo>
                  <a:lnTo>
                    <a:pt x="160020" y="137945"/>
                  </a:lnTo>
                  <a:lnTo>
                    <a:pt x="52388" y="137945"/>
                  </a:lnTo>
                  <a:lnTo>
                    <a:pt x="52388" y="239739"/>
                  </a:lnTo>
                  <a:lnTo>
                    <a:pt x="0" y="239739"/>
                  </a:lnTo>
                  <a:close/>
                </a:path>
              </a:pathLst>
            </a:custGeom>
            <a:solidFill>
              <a:srgbClr val="0C7946"/>
            </a:solidFill>
            <a:ln w="9525" cap="flat">
              <a:noFill/>
              <a:prstDash val="solid"/>
              <a:miter/>
            </a:ln>
          </p:spPr>
          <p:txBody>
            <a:bodyPr rtlCol="0" anchor="ctr"/>
            <a:lstStyle/>
            <a:p>
              <a:endParaRPr lang="en-US"/>
            </a:p>
          </p:txBody>
        </p:sp>
      </p:grpSp>
      <p:pic>
        <p:nvPicPr>
          <p:cNvPr id="36" name="Picture 35">
            <a:extLst>
              <a:ext uri="{FF2B5EF4-FFF2-40B4-BE49-F238E27FC236}">
                <a16:creationId xmlns:a16="http://schemas.microsoft.com/office/drawing/2014/main" id="{228F6D04-A06E-684E-8C67-976CAB7FFE1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060400" y="838200"/>
            <a:ext cx="6216650" cy="1951820"/>
          </a:xfrm>
          <a:prstGeom prst="rect">
            <a:avLst/>
          </a:prstGeom>
        </p:spPr>
      </p:pic>
    </p:spTree>
    <p:extLst>
      <p:ext uri="{BB962C8B-B14F-4D97-AF65-F5344CB8AC3E}">
        <p14:creationId xmlns:p14="http://schemas.microsoft.com/office/powerpoint/2010/main" val="13360017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79FD72-BCA5-F24C-9A3D-76ABA0D3F90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19286764"/>
            <a:ext cx="32918400" cy="2647950"/>
          </a:xfrm>
          <a:prstGeom prst="rect">
            <a:avLst/>
          </a:prstGeom>
        </p:spPr>
      </p:pic>
      <p:sp>
        <p:nvSpPr>
          <p:cNvPr id="5" name="Title Placeholder 4">
            <a:extLst>
              <a:ext uri="{FF2B5EF4-FFF2-40B4-BE49-F238E27FC236}">
                <a16:creationId xmlns:a16="http://schemas.microsoft.com/office/drawing/2014/main" id="{D5336751-8B97-CB48-BAFB-A2B59127B02A}"/>
              </a:ext>
            </a:extLst>
          </p:cNvPr>
          <p:cNvSpPr>
            <a:spLocks noGrp="1"/>
          </p:cNvSpPr>
          <p:nvPr>
            <p:ph type="title"/>
          </p:nvPr>
        </p:nvSpPr>
        <p:spPr>
          <a:xfrm>
            <a:off x="990600" y="990600"/>
            <a:ext cx="28390850" cy="1600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96846365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1567510" rtl="0" eaLnBrk="1" latinLnBrk="0" hangingPunct="1">
        <a:spcBef>
          <a:spcPct val="0"/>
        </a:spcBef>
        <a:buNone/>
        <a:defRPr sz="9600" kern="1200">
          <a:solidFill>
            <a:srgbClr val="419758"/>
          </a:solidFill>
          <a:latin typeface="Arial" panose="020B0604020202020204" pitchFamily="34" charset="0"/>
          <a:ea typeface="+mj-ea"/>
          <a:cs typeface="Arial" panose="020B0604020202020204" pitchFamily="34" charset="0"/>
        </a:defRPr>
      </a:lvl1pPr>
    </p:titleStyle>
    <p:bodyStyle>
      <a:lvl1pPr marL="0" indent="0" algn="l" defTabSz="1567510" rtl="0" eaLnBrk="1" latinLnBrk="0" hangingPunct="1">
        <a:spcBef>
          <a:spcPct val="20000"/>
        </a:spcBef>
        <a:buFont typeface="Arial" pitchFamily="34" charset="0"/>
        <a:buNone/>
        <a:defRPr sz="37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1273602" indent="-489847" algn="l" defTabSz="1567510" rtl="0" eaLnBrk="1" latinLnBrk="0" hangingPunct="1">
        <a:spcBef>
          <a:spcPct val="20000"/>
        </a:spcBef>
        <a:buFont typeface="Arial" pitchFamily="34" charset="0"/>
        <a:buChar char="–"/>
        <a:defRPr sz="4800" kern="1200">
          <a:solidFill>
            <a:schemeClr val="tx1"/>
          </a:solidFill>
          <a:latin typeface="+mn-lt"/>
          <a:ea typeface="+mn-ea"/>
          <a:cs typeface="+mn-cs"/>
        </a:defRPr>
      </a:lvl2pPr>
      <a:lvl3pPr marL="1959388" indent="-391878" algn="l" defTabSz="1567510" rtl="0" eaLnBrk="1" latinLnBrk="0" hangingPunct="1">
        <a:spcBef>
          <a:spcPct val="20000"/>
        </a:spcBef>
        <a:buFont typeface="Arial" pitchFamily="34" charset="0"/>
        <a:buChar char="•"/>
        <a:defRPr sz="4100" kern="1200">
          <a:solidFill>
            <a:schemeClr val="tx1"/>
          </a:solidFill>
          <a:latin typeface="+mn-lt"/>
          <a:ea typeface="+mn-ea"/>
          <a:cs typeface="+mn-cs"/>
        </a:defRPr>
      </a:lvl3pPr>
      <a:lvl4pPr marL="2743143"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4pPr>
      <a:lvl5pPr marL="3526898"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5pPr>
      <a:lvl6pPr marL="4310653"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6pPr>
      <a:lvl7pPr marL="5094408"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7pPr>
      <a:lvl8pPr marL="5878164"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8pPr>
      <a:lvl9pPr marL="6661919"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9pPr>
    </p:bodyStyle>
    <p:otherStyle>
      <a:defPPr>
        <a:defRPr lang="en-US"/>
      </a:defPPr>
      <a:lvl1pPr marL="0" algn="l" defTabSz="1567510" rtl="0" eaLnBrk="1" latinLnBrk="0" hangingPunct="1">
        <a:defRPr sz="3100" kern="1200">
          <a:solidFill>
            <a:schemeClr val="tx1"/>
          </a:solidFill>
          <a:latin typeface="+mn-lt"/>
          <a:ea typeface="+mn-ea"/>
          <a:cs typeface="+mn-cs"/>
        </a:defRPr>
      </a:lvl1pPr>
      <a:lvl2pPr marL="783755" algn="l" defTabSz="1567510" rtl="0" eaLnBrk="1" latinLnBrk="0" hangingPunct="1">
        <a:defRPr sz="3100" kern="1200">
          <a:solidFill>
            <a:schemeClr val="tx1"/>
          </a:solidFill>
          <a:latin typeface="+mn-lt"/>
          <a:ea typeface="+mn-ea"/>
          <a:cs typeface="+mn-cs"/>
        </a:defRPr>
      </a:lvl2pPr>
      <a:lvl3pPr marL="1567510" algn="l" defTabSz="1567510" rtl="0" eaLnBrk="1" latinLnBrk="0" hangingPunct="1">
        <a:defRPr sz="3100" kern="1200">
          <a:solidFill>
            <a:schemeClr val="tx1"/>
          </a:solidFill>
          <a:latin typeface="+mn-lt"/>
          <a:ea typeface="+mn-ea"/>
          <a:cs typeface="+mn-cs"/>
        </a:defRPr>
      </a:lvl3pPr>
      <a:lvl4pPr marL="2351266" algn="l" defTabSz="1567510" rtl="0" eaLnBrk="1" latinLnBrk="0" hangingPunct="1">
        <a:defRPr sz="3100" kern="1200">
          <a:solidFill>
            <a:schemeClr val="tx1"/>
          </a:solidFill>
          <a:latin typeface="+mn-lt"/>
          <a:ea typeface="+mn-ea"/>
          <a:cs typeface="+mn-cs"/>
        </a:defRPr>
      </a:lvl4pPr>
      <a:lvl5pPr marL="3135021" algn="l" defTabSz="1567510" rtl="0" eaLnBrk="1" latinLnBrk="0" hangingPunct="1">
        <a:defRPr sz="3100" kern="1200">
          <a:solidFill>
            <a:schemeClr val="tx1"/>
          </a:solidFill>
          <a:latin typeface="+mn-lt"/>
          <a:ea typeface="+mn-ea"/>
          <a:cs typeface="+mn-cs"/>
        </a:defRPr>
      </a:lvl5pPr>
      <a:lvl6pPr marL="3918776" algn="l" defTabSz="1567510" rtl="0" eaLnBrk="1" latinLnBrk="0" hangingPunct="1">
        <a:defRPr sz="3100" kern="1200">
          <a:solidFill>
            <a:schemeClr val="tx1"/>
          </a:solidFill>
          <a:latin typeface="+mn-lt"/>
          <a:ea typeface="+mn-ea"/>
          <a:cs typeface="+mn-cs"/>
        </a:defRPr>
      </a:lvl6pPr>
      <a:lvl7pPr marL="4702531" algn="l" defTabSz="1567510" rtl="0" eaLnBrk="1" latinLnBrk="0" hangingPunct="1">
        <a:defRPr sz="3100" kern="1200">
          <a:solidFill>
            <a:schemeClr val="tx1"/>
          </a:solidFill>
          <a:latin typeface="+mn-lt"/>
          <a:ea typeface="+mn-ea"/>
          <a:cs typeface="+mn-cs"/>
        </a:defRPr>
      </a:lvl7pPr>
      <a:lvl8pPr marL="5486286" algn="l" defTabSz="1567510" rtl="0" eaLnBrk="1" latinLnBrk="0" hangingPunct="1">
        <a:defRPr sz="3100" kern="1200">
          <a:solidFill>
            <a:schemeClr val="tx1"/>
          </a:solidFill>
          <a:latin typeface="+mn-lt"/>
          <a:ea typeface="+mn-ea"/>
          <a:cs typeface="+mn-cs"/>
        </a:defRPr>
      </a:lvl8pPr>
      <a:lvl9pPr marL="6270041" algn="l" defTabSz="1567510" rtl="0" eaLnBrk="1" latinLnBrk="0" hangingPunct="1">
        <a:defRPr sz="3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13" Type="http://schemas.microsoft.com/office/2007/relationships/hdphoto" Target="../media/hdphoto1.wdp"/><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 name="Rectangle 55">
            <a:extLst>
              <a:ext uri="{FF2B5EF4-FFF2-40B4-BE49-F238E27FC236}">
                <a16:creationId xmlns:a16="http://schemas.microsoft.com/office/drawing/2014/main" id="{984E489C-3B85-4B02-ABF5-1CDC58BE403E}"/>
              </a:ext>
            </a:extLst>
          </p:cNvPr>
          <p:cNvSpPr/>
          <p:nvPr/>
        </p:nvSpPr>
        <p:spPr>
          <a:xfrm>
            <a:off x="11474505" y="10898447"/>
            <a:ext cx="10079724" cy="3803859"/>
          </a:xfrm>
          <a:prstGeom prst="rect">
            <a:avLst/>
          </a:prstGeom>
          <a:noFill/>
          <a:ln>
            <a:solidFill>
              <a:srgbClr val="214A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5D979782-3DA1-6F40-B5C9-EAB1B1520BF3}"/>
              </a:ext>
            </a:extLst>
          </p:cNvPr>
          <p:cNvSpPr>
            <a:spLocks noGrp="1"/>
          </p:cNvSpPr>
          <p:nvPr>
            <p:ph type="title"/>
          </p:nvPr>
        </p:nvSpPr>
        <p:spPr>
          <a:xfrm>
            <a:off x="1107989" y="841978"/>
            <a:ext cx="24765000" cy="1600200"/>
          </a:xfrm>
        </p:spPr>
        <p:txBody>
          <a:bodyPr>
            <a:noAutofit/>
          </a:bodyPr>
          <a:lstStyle/>
          <a:p>
            <a:r>
              <a:rPr lang="en-US" sz="6000" dirty="0"/>
              <a:t>Beneath the Ghost Forest: Biogeochemistry and Function in Soils as they Transition from Coastal Forest to Wetland</a:t>
            </a:r>
          </a:p>
        </p:txBody>
      </p:sp>
      <p:sp>
        <p:nvSpPr>
          <p:cNvPr id="11" name="Text Placeholder 10">
            <a:extLst>
              <a:ext uri="{FF2B5EF4-FFF2-40B4-BE49-F238E27FC236}">
                <a16:creationId xmlns:a16="http://schemas.microsoft.com/office/drawing/2014/main" id="{7D8D5CBB-E442-0742-BA79-190B76D7915B}"/>
              </a:ext>
            </a:extLst>
          </p:cNvPr>
          <p:cNvSpPr>
            <a:spLocks noGrp="1"/>
          </p:cNvSpPr>
          <p:nvPr>
            <p:ph type="body" sz="quarter" idx="10"/>
          </p:nvPr>
        </p:nvSpPr>
        <p:spPr>
          <a:xfrm>
            <a:off x="1109635" y="2603778"/>
            <a:ext cx="27596006" cy="2204876"/>
          </a:xfrm>
        </p:spPr>
        <p:txBody>
          <a:bodyPr/>
          <a:lstStyle/>
          <a:p>
            <a:r>
              <a:rPr lang="en-US" sz="2800" b="1" dirty="0"/>
              <a:t>Stephanie J Wilson</a:t>
            </a:r>
            <a:r>
              <a:rPr lang="en-US" sz="2800" baseline="30000" dirty="0"/>
              <a:t>1</a:t>
            </a:r>
            <a:r>
              <a:rPr lang="en-US" sz="2800" dirty="0"/>
              <a:t>, Patrick Megonigal</a:t>
            </a:r>
            <a:r>
              <a:rPr lang="en-US" sz="2800" baseline="30000" dirty="0"/>
              <a:t>1</a:t>
            </a:r>
            <a:r>
              <a:rPr lang="en-US" sz="2800" dirty="0"/>
              <a:t>, Roy Rich</a:t>
            </a:r>
            <a:r>
              <a:rPr lang="en-US" sz="2800" baseline="30000" dirty="0"/>
              <a:t>1</a:t>
            </a:r>
            <a:r>
              <a:rPr lang="en-US" sz="2800" dirty="0"/>
              <a:t>, Alice Stearns</a:t>
            </a:r>
            <a:r>
              <a:rPr lang="en-US" sz="2800" baseline="30000" dirty="0"/>
              <a:t>1</a:t>
            </a:r>
            <a:r>
              <a:rPr lang="en-US" sz="2800" dirty="0"/>
              <a:t>, Evan Phillips</a:t>
            </a:r>
            <a:r>
              <a:rPr lang="en-US" sz="2800" baseline="30000" dirty="0"/>
              <a:t>1</a:t>
            </a:r>
            <a:r>
              <a:rPr lang="en-US" sz="2800" dirty="0"/>
              <a:t>, Erin Fien</a:t>
            </a:r>
            <a:r>
              <a:rPr lang="en-US" sz="2800" baseline="30000" dirty="0"/>
              <a:t>1</a:t>
            </a:r>
            <a:r>
              <a:rPr lang="en-US" sz="2800" dirty="0"/>
              <a:t>, Lani DuFresne</a:t>
            </a:r>
            <a:r>
              <a:rPr lang="en-US" sz="2800" baseline="30000" dirty="0"/>
              <a:t>1</a:t>
            </a:r>
            <a:r>
              <a:rPr lang="en-US" sz="2800" dirty="0"/>
              <a:t>, Peter Regier</a:t>
            </a:r>
            <a:r>
              <a:rPr lang="en-US" sz="2800" baseline="30000" dirty="0"/>
              <a:t>2</a:t>
            </a:r>
            <a:r>
              <a:rPr lang="en-US" sz="2800" dirty="0"/>
              <a:t>, Allison Myers-Pigg</a:t>
            </a:r>
            <a:r>
              <a:rPr lang="en-US" sz="2800" baseline="30000" dirty="0"/>
              <a:t>2</a:t>
            </a:r>
            <a:r>
              <a:rPr lang="en-US" sz="2800" dirty="0"/>
              <a:t>, Stephanie C Pennington</a:t>
            </a:r>
            <a:r>
              <a:rPr lang="en-US" sz="2800" baseline="30000" dirty="0"/>
              <a:t>3</a:t>
            </a:r>
            <a:r>
              <a:rPr lang="en-US" sz="2800" dirty="0"/>
              <a:t>, Anya Hopple</a:t>
            </a:r>
            <a:r>
              <a:rPr lang="en-US" sz="2800" baseline="30000" dirty="0"/>
              <a:t>1</a:t>
            </a:r>
            <a:r>
              <a:rPr lang="en-US" sz="2800" dirty="0"/>
              <a:t>, Kendalynn Morris</a:t>
            </a:r>
            <a:r>
              <a:rPr lang="en-US" sz="2800" baseline="30000" dirty="0"/>
              <a:t>4</a:t>
            </a:r>
            <a:r>
              <a:rPr lang="en-US" sz="2800" dirty="0"/>
              <a:t>, Nathan McDowell</a:t>
            </a:r>
            <a:r>
              <a:rPr lang="en-US" sz="2800" baseline="30000" dirty="0"/>
              <a:t>5</a:t>
            </a:r>
            <a:r>
              <a:rPr lang="en-US" sz="2800" dirty="0"/>
              <a:t>, Ben P Bond-Lamberty</a:t>
            </a:r>
            <a:r>
              <a:rPr lang="en-US" sz="2800" baseline="30000" dirty="0"/>
              <a:t>6</a:t>
            </a:r>
            <a:r>
              <a:rPr lang="en-US" sz="2800" dirty="0"/>
              <a:t>, Michael N Weintraub</a:t>
            </a:r>
            <a:r>
              <a:rPr lang="en-US" sz="2800" baseline="30000" dirty="0"/>
              <a:t>7,8</a:t>
            </a:r>
            <a:r>
              <a:rPr lang="en-US" sz="2800" dirty="0"/>
              <a:t>, Nicholas D Ward</a:t>
            </a:r>
            <a:r>
              <a:rPr lang="en-US" sz="2800" baseline="30000" dirty="0"/>
              <a:t>9</a:t>
            </a:r>
            <a:r>
              <a:rPr lang="en-US" sz="2800" dirty="0"/>
              <a:t>, Ken M Kemner</a:t>
            </a:r>
            <a:r>
              <a:rPr lang="en-US" sz="2800" baseline="30000" dirty="0"/>
              <a:t>10</a:t>
            </a:r>
            <a:r>
              <a:rPr lang="en-US" sz="2800" dirty="0"/>
              <a:t> and Vanessa L Bailey</a:t>
            </a:r>
            <a:r>
              <a:rPr lang="en-US" sz="2800" baseline="30000" dirty="0"/>
              <a:t>11</a:t>
            </a:r>
          </a:p>
          <a:p>
            <a:r>
              <a:rPr lang="en-US" sz="2000" dirty="0"/>
              <a:t>(1)Smithsonian Environmental Research Center Edgewater, Edgewater, United States, (2)Pacific Northwest National Laboratory, Sequim, United States, (3)University of Maryland College Park, College Park, United States, (4)Pacific Northwest National Laboratory, College Park, United States, (5)Pacific Northwest National Laboratory, Richland, United States, (6)Pacific Northwest National Laboratory, Joint Global Change Research Institute, College Park, United States, (7)University of Toledo, Environmental Sciences, Toledo, United States, (8)Pacific Northwest National Laboratory, Biological Sciences Division, Richland, United States, (9)Pacific Northwest National Laboratory, Richland, WA, United States, (10)Argonne Natl Lab, Argonne, United States, (11)Battelle PNNL J4-18, Richland, United States</a:t>
            </a:r>
          </a:p>
        </p:txBody>
      </p:sp>
      <p:sp>
        <p:nvSpPr>
          <p:cNvPr id="7" name="Text Placeholder 11">
            <a:extLst>
              <a:ext uri="{FF2B5EF4-FFF2-40B4-BE49-F238E27FC236}">
                <a16:creationId xmlns:a16="http://schemas.microsoft.com/office/drawing/2014/main" id="{62A0CBD8-7402-4462-9A59-4251E7FD7CA1}"/>
              </a:ext>
            </a:extLst>
          </p:cNvPr>
          <p:cNvSpPr txBox="1">
            <a:spLocks/>
          </p:cNvSpPr>
          <p:nvPr/>
        </p:nvSpPr>
        <p:spPr>
          <a:xfrm>
            <a:off x="378481" y="5222200"/>
            <a:ext cx="10493538" cy="3919390"/>
          </a:xfrm>
          <a:prstGeom prst="rect">
            <a:avLst/>
          </a:prstGeom>
          <a:ln>
            <a:noFill/>
          </a:ln>
        </p:spPr>
        <p:txBody>
          <a:bodyPr/>
          <a:lstStyle>
            <a:lvl1pPr marL="0" indent="0" algn="l" defTabSz="1567510" rtl="0" eaLnBrk="1" latinLnBrk="0" hangingPunct="1">
              <a:spcBef>
                <a:spcPct val="20000"/>
              </a:spcBef>
              <a:buFont typeface="Arial" pitchFamily="34" charset="0"/>
              <a:buNone/>
              <a:defRPr sz="2200" kern="1200">
                <a:solidFill>
                  <a:schemeClr val="tx1"/>
                </a:solidFill>
                <a:latin typeface="Arial" panose="020B0604020202020204" pitchFamily="34" charset="0"/>
                <a:ea typeface="+mn-ea"/>
                <a:cs typeface="Arial" panose="020B0604020202020204" pitchFamily="34" charset="0"/>
              </a:defRPr>
            </a:lvl1pPr>
            <a:lvl2pPr marL="1273602" indent="-489847" algn="l" defTabSz="1567510" rtl="0" eaLnBrk="1" latinLnBrk="0" hangingPunct="1">
              <a:spcBef>
                <a:spcPct val="20000"/>
              </a:spcBef>
              <a:buFont typeface="Arial" pitchFamily="34" charset="0"/>
              <a:buChar char="–"/>
              <a:defRPr sz="4800" kern="1200">
                <a:solidFill>
                  <a:schemeClr val="tx1"/>
                </a:solidFill>
                <a:latin typeface="+mn-lt"/>
                <a:ea typeface="+mn-ea"/>
                <a:cs typeface="+mn-cs"/>
              </a:defRPr>
            </a:lvl2pPr>
            <a:lvl3pPr marL="1959388" indent="-391878" algn="l" defTabSz="1567510" rtl="0" eaLnBrk="1" latinLnBrk="0" hangingPunct="1">
              <a:spcBef>
                <a:spcPct val="20000"/>
              </a:spcBef>
              <a:buFont typeface="Arial" pitchFamily="34" charset="0"/>
              <a:buChar char="•"/>
              <a:defRPr sz="4100" kern="1200">
                <a:solidFill>
                  <a:schemeClr val="tx1"/>
                </a:solidFill>
                <a:latin typeface="+mn-lt"/>
                <a:ea typeface="+mn-ea"/>
                <a:cs typeface="+mn-cs"/>
              </a:defRPr>
            </a:lvl3pPr>
            <a:lvl4pPr marL="2743143"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4pPr>
            <a:lvl5pPr marL="3526898"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5pPr>
            <a:lvl6pPr marL="4310653"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6pPr>
            <a:lvl7pPr marL="5094408"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7pPr>
            <a:lvl8pPr marL="5878164"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8pPr>
            <a:lvl9pPr marL="6661919"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9pPr>
          </a:lstStyle>
          <a:p>
            <a:pPr>
              <a:spcBef>
                <a:spcPts val="1000"/>
              </a:spcBef>
            </a:pPr>
            <a:r>
              <a:rPr lang="en-US" sz="2800" b="1" dirty="0">
                <a:solidFill>
                  <a:srgbClr val="214A2B"/>
                </a:solidFill>
              </a:rPr>
              <a:t>Background:</a:t>
            </a:r>
          </a:p>
          <a:p>
            <a:pPr marL="457200" indent="-457200">
              <a:spcBef>
                <a:spcPts val="1000"/>
              </a:spcBef>
              <a:buFont typeface="Arial" panose="020B0604020202020204" pitchFamily="34" charset="0"/>
              <a:buChar char="•"/>
            </a:pPr>
            <a:r>
              <a:rPr lang="en-US" sz="2600" dirty="0"/>
              <a:t>Sea level rise drives spatial migration of coastal ecosystems and can lead to the replacement of coastal forests with tidal wetlands. </a:t>
            </a:r>
          </a:p>
          <a:p>
            <a:pPr marL="457200" indent="-457200">
              <a:spcBef>
                <a:spcPts val="1000"/>
              </a:spcBef>
              <a:buFont typeface="Arial" panose="020B0604020202020204" pitchFamily="34" charset="0"/>
              <a:buChar char="•"/>
            </a:pPr>
            <a:r>
              <a:rPr lang="en-US" sz="2600" dirty="0"/>
              <a:t>Stressed or dead trees are well-recognized indicators of the conversion of forest to wetland, but carbon cycling and soil biogeochemistry are also altered significantly during this transition. </a:t>
            </a:r>
          </a:p>
          <a:p>
            <a:pPr marL="457200" indent="-457200">
              <a:spcBef>
                <a:spcPts val="1000"/>
              </a:spcBef>
              <a:buFont typeface="Arial" panose="020B0604020202020204" pitchFamily="34" charset="0"/>
              <a:buChar char="•"/>
            </a:pPr>
            <a:r>
              <a:rPr lang="en-US" sz="2600" dirty="0"/>
              <a:t>Changes in soil biogeochemistry and vegetation during marsh migration may occur on different timescales and could influence ecosystem function.</a:t>
            </a:r>
          </a:p>
        </p:txBody>
      </p:sp>
      <p:pic>
        <p:nvPicPr>
          <p:cNvPr id="1026" name="Picture 2">
            <a:extLst>
              <a:ext uri="{FF2B5EF4-FFF2-40B4-BE49-F238E27FC236}">
                <a16:creationId xmlns:a16="http://schemas.microsoft.com/office/drawing/2014/main" id="{B3ADD686-C1EF-42E1-89C6-AF3EA6C55E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275"/>
          <a:stretch/>
        </p:blipFill>
        <p:spPr bwMode="auto">
          <a:xfrm>
            <a:off x="11052079" y="14955614"/>
            <a:ext cx="7315586" cy="463192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11">
            <a:extLst>
              <a:ext uri="{FF2B5EF4-FFF2-40B4-BE49-F238E27FC236}">
                <a16:creationId xmlns:a16="http://schemas.microsoft.com/office/drawing/2014/main" id="{FD499919-CF83-4575-8894-602B32F51EE0}"/>
              </a:ext>
            </a:extLst>
          </p:cNvPr>
          <p:cNvSpPr txBox="1">
            <a:spLocks/>
          </p:cNvSpPr>
          <p:nvPr/>
        </p:nvSpPr>
        <p:spPr>
          <a:xfrm>
            <a:off x="22574367" y="16312467"/>
            <a:ext cx="10173128" cy="4791155"/>
          </a:xfrm>
          <a:prstGeom prst="rect">
            <a:avLst/>
          </a:prstGeom>
          <a:ln>
            <a:noFill/>
          </a:ln>
        </p:spPr>
        <p:txBody>
          <a:bodyPr/>
          <a:lstStyle>
            <a:lvl1pPr marL="0" indent="0" algn="l" defTabSz="1567510" rtl="0" eaLnBrk="1" latinLnBrk="0" hangingPunct="1">
              <a:spcBef>
                <a:spcPct val="20000"/>
              </a:spcBef>
              <a:buFont typeface="Arial" pitchFamily="34" charset="0"/>
              <a:buNone/>
              <a:defRPr sz="2200" kern="1200">
                <a:solidFill>
                  <a:schemeClr val="tx1"/>
                </a:solidFill>
                <a:latin typeface="Arial" panose="020B0604020202020204" pitchFamily="34" charset="0"/>
                <a:ea typeface="+mn-ea"/>
                <a:cs typeface="Arial" panose="020B0604020202020204" pitchFamily="34" charset="0"/>
              </a:defRPr>
            </a:lvl1pPr>
            <a:lvl2pPr marL="1273602" indent="-489847" algn="l" defTabSz="1567510" rtl="0" eaLnBrk="1" latinLnBrk="0" hangingPunct="1">
              <a:spcBef>
                <a:spcPct val="20000"/>
              </a:spcBef>
              <a:buFont typeface="Arial" pitchFamily="34" charset="0"/>
              <a:buChar char="–"/>
              <a:defRPr sz="4800" kern="1200">
                <a:solidFill>
                  <a:schemeClr val="tx1"/>
                </a:solidFill>
                <a:latin typeface="+mn-lt"/>
                <a:ea typeface="+mn-ea"/>
                <a:cs typeface="+mn-cs"/>
              </a:defRPr>
            </a:lvl2pPr>
            <a:lvl3pPr marL="1959388" indent="-391878" algn="l" defTabSz="1567510" rtl="0" eaLnBrk="1" latinLnBrk="0" hangingPunct="1">
              <a:spcBef>
                <a:spcPct val="20000"/>
              </a:spcBef>
              <a:buFont typeface="Arial" pitchFamily="34" charset="0"/>
              <a:buChar char="•"/>
              <a:defRPr sz="4100" kern="1200">
                <a:solidFill>
                  <a:schemeClr val="tx1"/>
                </a:solidFill>
                <a:latin typeface="+mn-lt"/>
                <a:ea typeface="+mn-ea"/>
                <a:cs typeface="+mn-cs"/>
              </a:defRPr>
            </a:lvl3pPr>
            <a:lvl4pPr marL="2743143"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4pPr>
            <a:lvl5pPr marL="3526898"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5pPr>
            <a:lvl6pPr marL="4310653"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6pPr>
            <a:lvl7pPr marL="5094408"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7pPr>
            <a:lvl8pPr marL="5878164"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8pPr>
            <a:lvl9pPr marL="6661919"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9pPr>
          </a:lstStyle>
          <a:p>
            <a:r>
              <a:rPr lang="en-US" sz="3200" b="1" dirty="0">
                <a:solidFill>
                  <a:srgbClr val="214A2B"/>
                </a:solidFill>
              </a:rPr>
              <a:t>Take home messages:</a:t>
            </a:r>
          </a:p>
          <a:p>
            <a:pPr marL="342900" indent="-342900">
              <a:buFont typeface="Arial" panose="020B0604020202020204" pitchFamily="34" charset="0"/>
              <a:buChar char="•"/>
            </a:pPr>
            <a:r>
              <a:rPr lang="en-US" sz="3200" dirty="0"/>
              <a:t>Inundation depth and duration are a major drivers of structure and function at the coastal terrestrial aquatic interface</a:t>
            </a:r>
          </a:p>
          <a:p>
            <a:pPr marL="342900" indent="-342900">
              <a:buFont typeface="Arial" panose="020B0604020202020204" pitchFamily="34" charset="0"/>
              <a:buChar char="•"/>
            </a:pPr>
            <a:r>
              <a:rPr lang="en-US" sz="3200" dirty="0"/>
              <a:t>Changes in soil biogeochemistry and vegetation during marsh migration occur on different timescales </a:t>
            </a:r>
          </a:p>
          <a:p>
            <a:pPr marL="342900" indent="-342900">
              <a:buFont typeface="Arial" panose="020B0604020202020204" pitchFamily="34" charset="0"/>
              <a:buChar char="•"/>
            </a:pPr>
            <a:r>
              <a:rPr lang="en-US" sz="3200" dirty="0"/>
              <a:t>This asynchrony will influence ecosystem function and is critical to the framework to how we will accurately model these systems </a:t>
            </a:r>
          </a:p>
          <a:p>
            <a:r>
              <a:rPr lang="en-US" sz="3200" dirty="0"/>
              <a:t> </a:t>
            </a:r>
          </a:p>
        </p:txBody>
      </p:sp>
      <p:pic>
        <p:nvPicPr>
          <p:cNvPr id="1042" name="Picture 18">
            <a:extLst>
              <a:ext uri="{FF2B5EF4-FFF2-40B4-BE49-F238E27FC236}">
                <a16:creationId xmlns:a16="http://schemas.microsoft.com/office/drawing/2014/main" id="{AFBF241E-3674-4090-93D0-74482D1B73F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886" b="2108"/>
          <a:stretch/>
        </p:blipFill>
        <p:spPr bwMode="auto">
          <a:xfrm>
            <a:off x="22574368" y="4906511"/>
            <a:ext cx="5911470" cy="423508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54E2B5F1-B806-4D9E-92AD-7A260C0521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02988" y="9859597"/>
            <a:ext cx="6402902" cy="5949291"/>
          </a:xfrm>
          <a:prstGeom prst="rect">
            <a:avLst/>
          </a:prstGeom>
          <a:noFill/>
          <a:extLst>
            <a:ext uri="{909E8E84-426E-40DD-AFC4-6F175D3DCCD1}">
              <a14:hiddenFill xmlns:a14="http://schemas.microsoft.com/office/drawing/2010/main">
                <a:solidFill>
                  <a:srgbClr val="FFFFFF"/>
                </a:solidFill>
              </a14:hiddenFill>
            </a:ext>
          </a:extLst>
        </p:spPr>
      </p:pic>
      <p:pic>
        <p:nvPicPr>
          <p:cNvPr id="1049" name="Picture 25">
            <a:extLst>
              <a:ext uri="{FF2B5EF4-FFF2-40B4-BE49-F238E27FC236}">
                <a16:creationId xmlns:a16="http://schemas.microsoft.com/office/drawing/2014/main" id="{DCE662FD-670C-46F6-98F5-C69B91B12F8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5061"/>
          <a:stretch/>
        </p:blipFill>
        <p:spPr bwMode="auto">
          <a:xfrm>
            <a:off x="10793741" y="4933376"/>
            <a:ext cx="7547450" cy="5116601"/>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95827F9F-567F-4709-98B4-9B6E58516F8F}"/>
              </a:ext>
            </a:extLst>
          </p:cNvPr>
          <p:cNvSpPr txBox="1"/>
          <p:nvPr/>
        </p:nvSpPr>
        <p:spPr>
          <a:xfrm>
            <a:off x="18090967" y="5146472"/>
            <a:ext cx="3841139" cy="4594078"/>
          </a:xfrm>
          <a:prstGeom prst="rect">
            <a:avLst/>
          </a:prstGeom>
          <a:noFill/>
        </p:spPr>
        <p:txBody>
          <a:bodyPr wrap="square">
            <a:spAutoFit/>
          </a:bodyPr>
          <a:lstStyle/>
          <a:p>
            <a:pPr marL="152400" lvl="0" algn="l" rtl="0">
              <a:lnSpc>
                <a:spcPct val="90000"/>
              </a:lnSpc>
              <a:spcBef>
                <a:spcPts val="1000"/>
              </a:spcBef>
              <a:spcAft>
                <a:spcPts val="0"/>
              </a:spcAft>
              <a:buSzPts val="2400"/>
            </a:pPr>
            <a:r>
              <a:rPr lang="en-US" sz="2800" b="1" dirty="0">
                <a:solidFill>
                  <a:srgbClr val="214A2B"/>
                </a:solidFill>
                <a:latin typeface="Arial" panose="020B0604020202020204" pitchFamily="34" charset="0"/>
                <a:cs typeface="Arial" panose="020B0604020202020204" pitchFamily="34" charset="0"/>
              </a:rPr>
              <a:t>Results</a:t>
            </a:r>
          </a:p>
          <a:p>
            <a:pPr marL="495300" lvl="0" indent="-342900" algn="l" rtl="0">
              <a:lnSpc>
                <a:spcPct val="90000"/>
              </a:lnSpc>
              <a:spcBef>
                <a:spcPts val="1000"/>
              </a:spcBef>
              <a:spcAft>
                <a:spcPts val="0"/>
              </a:spcAft>
              <a:buSzPts val="2400"/>
              <a:buChar char="•"/>
            </a:pPr>
            <a:r>
              <a:rPr lang="en-US" sz="2600" dirty="0">
                <a:latin typeface="Arial" panose="020B0604020202020204" pitchFamily="34" charset="0"/>
                <a:cs typeface="Arial" panose="020B0604020202020204" pitchFamily="34" charset="0"/>
              </a:rPr>
              <a:t>Gradient in water level across zones</a:t>
            </a:r>
          </a:p>
          <a:p>
            <a:pPr marL="495300" lvl="0" indent="-342900" algn="l" rtl="0">
              <a:lnSpc>
                <a:spcPct val="90000"/>
              </a:lnSpc>
              <a:spcBef>
                <a:spcPts val="1000"/>
              </a:spcBef>
              <a:spcAft>
                <a:spcPts val="0"/>
              </a:spcAft>
              <a:buSzPts val="2400"/>
              <a:buChar char="•"/>
            </a:pPr>
            <a:r>
              <a:rPr lang="en-US" sz="2600" dirty="0">
                <a:latin typeface="Arial" panose="020B0604020202020204" pitchFamily="34" charset="0"/>
                <a:cs typeface="Arial" panose="020B0604020202020204" pitchFamily="34" charset="0"/>
              </a:rPr>
              <a:t>Hydrologic conditions also vary across sites </a:t>
            </a:r>
          </a:p>
          <a:p>
            <a:pPr marL="495300" lvl="0" indent="-342900" algn="l" rtl="0">
              <a:lnSpc>
                <a:spcPct val="90000"/>
              </a:lnSpc>
              <a:spcBef>
                <a:spcPts val="1000"/>
              </a:spcBef>
              <a:spcAft>
                <a:spcPts val="0"/>
              </a:spcAft>
              <a:buSzPts val="2400"/>
              <a:buChar char="•"/>
            </a:pPr>
            <a:r>
              <a:rPr lang="en-US" sz="2600" dirty="0">
                <a:latin typeface="Arial" panose="020B0604020202020204" pitchFamily="34" charset="0"/>
                <a:cs typeface="Arial" panose="020B0604020202020204" pitchFamily="34" charset="0"/>
              </a:rPr>
              <a:t>Transition sites are highly variable</a:t>
            </a:r>
          </a:p>
          <a:p>
            <a:pPr marL="495300" lvl="0" indent="-342900" algn="l" rtl="0">
              <a:lnSpc>
                <a:spcPct val="90000"/>
              </a:lnSpc>
              <a:spcBef>
                <a:spcPts val="1000"/>
              </a:spcBef>
              <a:spcAft>
                <a:spcPts val="0"/>
              </a:spcAft>
              <a:buSzPts val="2400"/>
              <a:buChar char="•"/>
            </a:pPr>
            <a:r>
              <a:rPr lang="en-US" sz="2600" dirty="0">
                <a:latin typeface="Arial" panose="020B0604020202020204" pitchFamily="34" charset="0"/>
                <a:cs typeface="Arial" panose="020B0604020202020204" pitchFamily="34" charset="0"/>
              </a:rPr>
              <a:t>This variability drives biogeochemical hot spots and hot moments</a:t>
            </a:r>
          </a:p>
        </p:txBody>
      </p:sp>
      <p:grpSp>
        <p:nvGrpSpPr>
          <p:cNvPr id="24" name="Group 23">
            <a:extLst>
              <a:ext uri="{FF2B5EF4-FFF2-40B4-BE49-F238E27FC236}">
                <a16:creationId xmlns:a16="http://schemas.microsoft.com/office/drawing/2014/main" id="{B512E7F3-0631-42D1-BE03-F7CF94764592}"/>
              </a:ext>
            </a:extLst>
          </p:cNvPr>
          <p:cNvGrpSpPr/>
          <p:nvPr/>
        </p:nvGrpSpPr>
        <p:grpSpPr>
          <a:xfrm>
            <a:off x="378481" y="9413120"/>
            <a:ext cx="10647670" cy="10312440"/>
            <a:chOff x="353828" y="10117785"/>
            <a:chExt cx="10942016" cy="10312440"/>
          </a:xfrm>
        </p:grpSpPr>
        <p:sp>
          <p:nvSpPr>
            <p:cNvPr id="6" name="Text Placeholder 11">
              <a:extLst>
                <a:ext uri="{FF2B5EF4-FFF2-40B4-BE49-F238E27FC236}">
                  <a16:creationId xmlns:a16="http://schemas.microsoft.com/office/drawing/2014/main" id="{8CBF4BC9-5831-4794-A1AC-604AA497865E}"/>
                </a:ext>
              </a:extLst>
            </p:cNvPr>
            <p:cNvSpPr txBox="1">
              <a:spLocks/>
            </p:cNvSpPr>
            <p:nvPr/>
          </p:nvSpPr>
          <p:spPr>
            <a:xfrm>
              <a:off x="353828" y="10117785"/>
              <a:ext cx="6170205" cy="2908811"/>
            </a:xfrm>
            <a:prstGeom prst="rect">
              <a:avLst/>
            </a:prstGeom>
            <a:ln>
              <a:noFill/>
            </a:ln>
          </p:spPr>
          <p:txBody>
            <a:bodyPr/>
            <a:lstStyle>
              <a:lvl1pPr marL="0" indent="0" algn="l" defTabSz="1567510" rtl="0" eaLnBrk="1" latinLnBrk="0" hangingPunct="1">
                <a:spcBef>
                  <a:spcPct val="20000"/>
                </a:spcBef>
                <a:buFont typeface="Arial" pitchFamily="34" charset="0"/>
                <a:buNone/>
                <a:defRPr sz="2200" kern="1200">
                  <a:solidFill>
                    <a:schemeClr val="tx1"/>
                  </a:solidFill>
                  <a:latin typeface="Arial" panose="020B0604020202020204" pitchFamily="34" charset="0"/>
                  <a:ea typeface="+mn-ea"/>
                  <a:cs typeface="Arial" panose="020B0604020202020204" pitchFamily="34" charset="0"/>
                </a:defRPr>
              </a:lvl1pPr>
              <a:lvl2pPr marL="1273602" indent="-489847" algn="l" defTabSz="1567510" rtl="0" eaLnBrk="1" latinLnBrk="0" hangingPunct="1">
                <a:spcBef>
                  <a:spcPct val="20000"/>
                </a:spcBef>
                <a:buFont typeface="Arial" pitchFamily="34" charset="0"/>
                <a:buChar char="–"/>
                <a:defRPr sz="4800" kern="1200">
                  <a:solidFill>
                    <a:schemeClr val="tx1"/>
                  </a:solidFill>
                  <a:latin typeface="+mn-lt"/>
                  <a:ea typeface="+mn-ea"/>
                  <a:cs typeface="+mn-cs"/>
                </a:defRPr>
              </a:lvl2pPr>
              <a:lvl3pPr marL="1959388" indent="-391878" algn="l" defTabSz="1567510" rtl="0" eaLnBrk="1" latinLnBrk="0" hangingPunct="1">
                <a:spcBef>
                  <a:spcPct val="20000"/>
                </a:spcBef>
                <a:buFont typeface="Arial" pitchFamily="34" charset="0"/>
                <a:buChar char="•"/>
                <a:defRPr sz="4100" kern="1200">
                  <a:solidFill>
                    <a:schemeClr val="tx1"/>
                  </a:solidFill>
                  <a:latin typeface="+mn-lt"/>
                  <a:ea typeface="+mn-ea"/>
                  <a:cs typeface="+mn-cs"/>
                </a:defRPr>
              </a:lvl3pPr>
              <a:lvl4pPr marL="2743143"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4pPr>
              <a:lvl5pPr marL="3526898"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5pPr>
              <a:lvl6pPr marL="4310653"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6pPr>
              <a:lvl7pPr marL="5094408"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7pPr>
              <a:lvl8pPr marL="5878164"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8pPr>
              <a:lvl9pPr marL="6661919"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9pPr>
            </a:lstStyle>
            <a:p>
              <a:r>
                <a:rPr lang="en-US" sz="2800" b="1" dirty="0">
                  <a:solidFill>
                    <a:srgbClr val="214A2B"/>
                  </a:solidFill>
                </a:rPr>
                <a:t>Methods</a:t>
              </a:r>
              <a:r>
                <a:rPr lang="en-US" sz="2800" b="1" dirty="0">
                  <a:solidFill>
                    <a:srgbClr val="419556"/>
                  </a:solidFill>
                </a:rPr>
                <a:t>:</a:t>
              </a:r>
              <a:endParaRPr lang="en-US" sz="2800" dirty="0">
                <a:solidFill>
                  <a:srgbClr val="419556"/>
                </a:solidFill>
              </a:endParaRPr>
            </a:p>
          </p:txBody>
        </p:sp>
        <p:grpSp>
          <p:nvGrpSpPr>
            <p:cNvPr id="18" name="Group 17">
              <a:extLst>
                <a:ext uri="{FF2B5EF4-FFF2-40B4-BE49-F238E27FC236}">
                  <a16:creationId xmlns:a16="http://schemas.microsoft.com/office/drawing/2014/main" id="{158819DF-BE65-4551-A200-4D17E16AB01A}"/>
                </a:ext>
              </a:extLst>
            </p:cNvPr>
            <p:cNvGrpSpPr/>
            <p:nvPr/>
          </p:nvGrpSpPr>
          <p:grpSpPr>
            <a:xfrm>
              <a:off x="353828" y="10784220"/>
              <a:ext cx="10942016" cy="9646005"/>
              <a:chOff x="332924" y="6649835"/>
              <a:chExt cx="10942016" cy="9646005"/>
            </a:xfrm>
          </p:grpSpPr>
          <p:graphicFrame>
            <p:nvGraphicFramePr>
              <p:cNvPr id="43" name="Google Shape;116;p4">
                <a:extLst>
                  <a:ext uri="{FF2B5EF4-FFF2-40B4-BE49-F238E27FC236}">
                    <a16:creationId xmlns:a16="http://schemas.microsoft.com/office/drawing/2014/main" id="{39AAC6F6-E5B6-407D-BA95-2FADE9915162}"/>
                  </a:ext>
                </a:extLst>
              </p:cNvPr>
              <p:cNvGraphicFramePr/>
              <p:nvPr>
                <p:extLst>
                  <p:ext uri="{D42A27DB-BD31-4B8C-83A1-F6EECF244321}">
                    <p14:modId xmlns:p14="http://schemas.microsoft.com/office/powerpoint/2010/main" val="3375163167"/>
                  </p:ext>
                </p:extLst>
              </p:nvPr>
            </p:nvGraphicFramePr>
            <p:xfrm>
              <a:off x="656978" y="6649835"/>
              <a:ext cx="2970616" cy="2374618"/>
            </p:xfrm>
            <a:graphic>
              <a:graphicData uri="http://schemas.openxmlformats.org/drawingml/2006/table">
                <a:tbl>
                  <a:tblPr firstRow="1" bandRow="1">
                    <a:noFill/>
                  </a:tblPr>
                  <a:tblGrid>
                    <a:gridCol w="1760518">
                      <a:extLst>
                        <a:ext uri="{9D8B030D-6E8A-4147-A177-3AD203B41FA5}">
                          <a16:colId xmlns:a16="http://schemas.microsoft.com/office/drawing/2014/main" val="20000"/>
                        </a:ext>
                      </a:extLst>
                    </a:gridCol>
                    <a:gridCol w="1130187">
                      <a:extLst>
                        <a:ext uri="{9D8B030D-6E8A-4147-A177-3AD203B41FA5}">
                          <a16:colId xmlns:a16="http://schemas.microsoft.com/office/drawing/2014/main" val="20001"/>
                        </a:ext>
                      </a:extLst>
                    </a:gridCol>
                  </a:tblGrid>
                  <a:tr h="339803">
                    <a:tc>
                      <a:txBody>
                        <a:bodyPr/>
                        <a:lstStyle/>
                        <a:p>
                          <a:pPr marL="0" marR="0" lvl="0" indent="0" algn="ctr" rtl="0">
                            <a:lnSpc>
                              <a:spcPct val="100000"/>
                            </a:lnSpc>
                            <a:spcBef>
                              <a:spcPts val="0"/>
                            </a:spcBef>
                            <a:spcAft>
                              <a:spcPts val="0"/>
                            </a:spcAft>
                            <a:buNone/>
                          </a:pPr>
                          <a:r>
                            <a:rPr lang="en-US" sz="2000" u="none" strike="noStrike" cap="none" dirty="0">
                              <a:solidFill>
                                <a:schemeClr val="lt1"/>
                              </a:solidFill>
                              <a:latin typeface="+mj-lt"/>
                            </a:rPr>
                            <a:t>Site</a:t>
                          </a:r>
                          <a:endParaRPr sz="20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solidFill>
                          <a:srgbClr val="242424"/>
                        </a:solidFill>
                      </a:tcPr>
                    </a:tc>
                    <a:tc>
                      <a:txBody>
                        <a:bodyPr/>
                        <a:lstStyle/>
                        <a:p>
                          <a:pPr marL="0" marR="0" lvl="0" indent="0" algn="ctr" rtl="0">
                            <a:lnSpc>
                              <a:spcPct val="100000"/>
                            </a:lnSpc>
                            <a:spcBef>
                              <a:spcPts val="0"/>
                            </a:spcBef>
                            <a:spcAft>
                              <a:spcPts val="0"/>
                            </a:spcAft>
                            <a:buNone/>
                          </a:pPr>
                          <a:r>
                            <a:rPr lang="en-US" sz="2000" u="none" strike="noStrike" cap="none" dirty="0">
                              <a:solidFill>
                                <a:schemeClr val="lt1"/>
                              </a:solidFill>
                              <a:latin typeface="+mj-lt"/>
                            </a:rPr>
                            <a:t>Salinity</a:t>
                          </a:r>
                          <a:endParaRPr sz="20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solidFill>
                          <a:srgbClr val="242424"/>
                        </a:solidFill>
                      </a:tcPr>
                    </a:tc>
                    <a:extLst>
                      <a:ext uri="{0D108BD9-81ED-4DB2-BD59-A6C34878D82A}">
                        <a16:rowId xmlns:a16="http://schemas.microsoft.com/office/drawing/2014/main" val="10000"/>
                      </a:ext>
                    </a:extLst>
                  </a:tr>
                  <a:tr h="397227">
                    <a:tc>
                      <a:txBody>
                        <a:bodyPr/>
                        <a:lstStyle/>
                        <a:p>
                          <a:pPr marL="0" marR="0" lvl="0" indent="0" algn="ctr" rtl="0">
                            <a:lnSpc>
                              <a:spcPct val="100000"/>
                            </a:lnSpc>
                            <a:spcBef>
                              <a:spcPts val="0"/>
                            </a:spcBef>
                            <a:spcAft>
                              <a:spcPts val="0"/>
                            </a:spcAft>
                            <a:buNone/>
                          </a:pPr>
                          <a:r>
                            <a:rPr lang="en-US" sz="2000" dirty="0">
                              <a:latin typeface="+mj-lt"/>
                            </a:rPr>
                            <a:t>Sweethall</a:t>
                          </a:r>
                          <a:endParaRPr sz="20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dirty="0">
                              <a:solidFill>
                                <a:srgbClr val="000000"/>
                              </a:solidFill>
                              <a:latin typeface="+mj-lt"/>
                            </a:rPr>
                            <a:t>0-2</a:t>
                          </a:r>
                          <a:endParaRPr sz="20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extLst>
                      <a:ext uri="{0D108BD9-81ED-4DB2-BD59-A6C34878D82A}">
                        <a16:rowId xmlns:a16="http://schemas.microsoft.com/office/drawing/2014/main" val="10001"/>
                      </a:ext>
                    </a:extLst>
                  </a:tr>
                  <a:tr h="387084">
                    <a:tc>
                      <a:txBody>
                        <a:bodyPr/>
                        <a:lstStyle/>
                        <a:p>
                          <a:pPr marL="0" marR="0" lvl="0" indent="0" algn="ctr" rtl="0">
                            <a:lnSpc>
                              <a:spcPct val="100000"/>
                            </a:lnSpc>
                            <a:spcBef>
                              <a:spcPts val="0"/>
                            </a:spcBef>
                            <a:spcAft>
                              <a:spcPts val="0"/>
                            </a:spcAft>
                            <a:buNone/>
                          </a:pPr>
                          <a:r>
                            <a:rPr lang="en-US" sz="2000" u="none" strike="noStrike" cap="none" dirty="0">
                              <a:solidFill>
                                <a:srgbClr val="000000"/>
                              </a:solidFill>
                              <a:latin typeface="+mj-lt"/>
                            </a:rPr>
                            <a:t>GCReW</a:t>
                          </a:r>
                          <a:endParaRPr sz="20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solidFill>
                                <a:srgbClr val="000000"/>
                              </a:solidFill>
                              <a:latin typeface="+mj-lt"/>
                            </a:rPr>
                            <a:t>8-10</a:t>
                          </a:r>
                          <a:endParaRPr sz="200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extLst>
                      <a:ext uri="{0D108BD9-81ED-4DB2-BD59-A6C34878D82A}">
                        <a16:rowId xmlns:a16="http://schemas.microsoft.com/office/drawing/2014/main" val="10002"/>
                      </a:ext>
                    </a:extLst>
                  </a:tr>
                  <a:tr h="483841">
                    <a:tc>
                      <a:txBody>
                        <a:bodyPr/>
                        <a:lstStyle/>
                        <a:p>
                          <a:pPr marL="0" marR="0" lvl="0" indent="0" algn="ctr" rtl="0">
                            <a:lnSpc>
                              <a:spcPct val="100000"/>
                            </a:lnSpc>
                            <a:spcBef>
                              <a:spcPts val="0"/>
                            </a:spcBef>
                            <a:spcAft>
                              <a:spcPts val="0"/>
                            </a:spcAft>
                            <a:buNone/>
                          </a:pPr>
                          <a:r>
                            <a:rPr lang="en-US" sz="2000" u="none" strike="noStrike" cap="none" dirty="0">
                              <a:solidFill>
                                <a:srgbClr val="000000"/>
                              </a:solidFill>
                              <a:latin typeface="+mj-lt"/>
                            </a:rPr>
                            <a:t>M</a:t>
                          </a:r>
                          <a:r>
                            <a:rPr lang="en-US" sz="2000" dirty="0">
                              <a:latin typeface="+mj-lt"/>
                            </a:rPr>
                            <a:t>oneyStump</a:t>
                          </a:r>
                          <a:endParaRPr sz="20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solidFill>
                                <a:srgbClr val="000000"/>
                              </a:solidFill>
                              <a:latin typeface="+mj-lt"/>
                            </a:rPr>
                            <a:t>8-10</a:t>
                          </a:r>
                          <a:endParaRPr sz="200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extLst>
                      <a:ext uri="{0D108BD9-81ED-4DB2-BD59-A6C34878D82A}">
                        <a16:rowId xmlns:a16="http://schemas.microsoft.com/office/drawing/2014/main" val="10003"/>
                      </a:ext>
                    </a:extLst>
                  </a:tr>
                  <a:tr h="464405">
                    <a:tc>
                      <a:txBody>
                        <a:bodyPr/>
                        <a:lstStyle/>
                        <a:p>
                          <a:pPr marL="0" marR="0" lvl="0" indent="0" algn="ctr" rtl="0">
                            <a:lnSpc>
                              <a:spcPct val="100000"/>
                            </a:lnSpc>
                            <a:spcBef>
                              <a:spcPts val="0"/>
                            </a:spcBef>
                            <a:spcAft>
                              <a:spcPts val="0"/>
                            </a:spcAft>
                            <a:buNone/>
                          </a:pPr>
                          <a:r>
                            <a:rPr lang="en-US" sz="2000" u="none" strike="noStrike" cap="none" dirty="0">
                              <a:solidFill>
                                <a:srgbClr val="000000"/>
                              </a:solidFill>
                              <a:latin typeface="+mj-lt"/>
                            </a:rPr>
                            <a:t>G</a:t>
                          </a:r>
                          <a:r>
                            <a:rPr lang="en-US" sz="2000" dirty="0">
                              <a:latin typeface="+mj-lt"/>
                            </a:rPr>
                            <a:t>oodwin Islands</a:t>
                          </a:r>
                          <a:endParaRPr sz="20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dirty="0">
                              <a:solidFill>
                                <a:srgbClr val="000000"/>
                              </a:solidFill>
                              <a:latin typeface="+mj-lt"/>
                            </a:rPr>
                            <a:t>18-20</a:t>
                          </a:r>
                          <a:endParaRPr sz="20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45" name="Text Placeholder 11">
                <a:extLst>
                  <a:ext uri="{FF2B5EF4-FFF2-40B4-BE49-F238E27FC236}">
                    <a16:creationId xmlns:a16="http://schemas.microsoft.com/office/drawing/2014/main" id="{676AE3B9-4E9A-4F8C-AE70-B9511F2115A9}"/>
                  </a:ext>
                </a:extLst>
              </p:cNvPr>
              <p:cNvSpPr txBox="1">
                <a:spLocks/>
              </p:cNvSpPr>
              <p:nvPr/>
            </p:nvSpPr>
            <p:spPr>
              <a:xfrm>
                <a:off x="332924" y="13387029"/>
                <a:ext cx="10232856" cy="2908811"/>
              </a:xfrm>
              <a:prstGeom prst="rect">
                <a:avLst/>
              </a:prstGeom>
              <a:ln>
                <a:noFill/>
              </a:ln>
            </p:spPr>
            <p:txBody>
              <a:bodyPr/>
              <a:lstStyle>
                <a:lvl1pPr marL="0" indent="0" algn="l" defTabSz="1567510" rtl="0" eaLnBrk="1" latinLnBrk="0" hangingPunct="1">
                  <a:spcBef>
                    <a:spcPct val="20000"/>
                  </a:spcBef>
                  <a:buFont typeface="Arial" pitchFamily="34" charset="0"/>
                  <a:buNone/>
                  <a:defRPr sz="2200" kern="1200">
                    <a:solidFill>
                      <a:schemeClr val="tx1"/>
                    </a:solidFill>
                    <a:latin typeface="Arial" panose="020B0604020202020204" pitchFamily="34" charset="0"/>
                    <a:ea typeface="+mn-ea"/>
                    <a:cs typeface="Arial" panose="020B0604020202020204" pitchFamily="34" charset="0"/>
                  </a:defRPr>
                </a:lvl1pPr>
                <a:lvl2pPr marL="1273602" indent="-489847" algn="l" defTabSz="1567510" rtl="0" eaLnBrk="1" latinLnBrk="0" hangingPunct="1">
                  <a:spcBef>
                    <a:spcPct val="20000"/>
                  </a:spcBef>
                  <a:buFont typeface="Arial" pitchFamily="34" charset="0"/>
                  <a:buChar char="–"/>
                  <a:defRPr sz="4800" kern="1200">
                    <a:solidFill>
                      <a:schemeClr val="tx1"/>
                    </a:solidFill>
                    <a:latin typeface="+mn-lt"/>
                    <a:ea typeface="+mn-ea"/>
                    <a:cs typeface="+mn-cs"/>
                  </a:defRPr>
                </a:lvl2pPr>
                <a:lvl3pPr marL="1959388" indent="-391878" algn="l" defTabSz="1567510" rtl="0" eaLnBrk="1" latinLnBrk="0" hangingPunct="1">
                  <a:spcBef>
                    <a:spcPct val="20000"/>
                  </a:spcBef>
                  <a:buFont typeface="Arial" pitchFamily="34" charset="0"/>
                  <a:buChar char="•"/>
                  <a:defRPr sz="4100" kern="1200">
                    <a:solidFill>
                      <a:schemeClr val="tx1"/>
                    </a:solidFill>
                    <a:latin typeface="+mn-lt"/>
                    <a:ea typeface="+mn-ea"/>
                    <a:cs typeface="+mn-cs"/>
                  </a:defRPr>
                </a:lvl3pPr>
                <a:lvl4pPr marL="2743143"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4pPr>
                <a:lvl5pPr marL="3526898"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5pPr>
                <a:lvl6pPr marL="4310653"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6pPr>
                <a:lvl7pPr marL="5094408"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7pPr>
                <a:lvl8pPr marL="5878164"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8pPr>
                <a:lvl9pPr marL="6661919"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9pPr>
              </a:lstStyle>
              <a:p>
                <a:pPr marL="342900" indent="-342900">
                  <a:buFont typeface="Arial" panose="020B0604020202020204" pitchFamily="34" charset="0"/>
                  <a:buChar char="•"/>
                </a:pPr>
                <a:r>
                  <a:rPr lang="en-US" sz="2600" dirty="0"/>
                  <a:t>Continuous monitoring of water level and soil moisture across terrestrial-aquatic interface in the Chesapeake Bay.</a:t>
                </a:r>
              </a:p>
              <a:p>
                <a:pPr marL="342900" indent="-342900">
                  <a:buFont typeface="Arial" panose="020B0604020202020204" pitchFamily="34" charset="0"/>
                  <a:buChar char="•"/>
                </a:pPr>
                <a:r>
                  <a:rPr lang="en-US" sz="2600" dirty="0"/>
                  <a:t>Monthly redox profiles, porewater samples, and measurements of soil greenhouse gas fluxes across upland, transition, and wetland zones. </a:t>
                </a:r>
              </a:p>
            </p:txBody>
          </p:sp>
          <p:grpSp>
            <p:nvGrpSpPr>
              <p:cNvPr id="13" name="Group 12">
                <a:extLst>
                  <a:ext uri="{FF2B5EF4-FFF2-40B4-BE49-F238E27FC236}">
                    <a16:creationId xmlns:a16="http://schemas.microsoft.com/office/drawing/2014/main" id="{D62F44FE-BF66-406D-A4E8-433188AEF6E6}"/>
                  </a:ext>
                </a:extLst>
              </p:cNvPr>
              <p:cNvGrpSpPr/>
              <p:nvPr/>
            </p:nvGrpSpPr>
            <p:grpSpPr>
              <a:xfrm>
                <a:off x="656978" y="9397100"/>
                <a:ext cx="10617962" cy="4091798"/>
                <a:chOff x="656978" y="9397100"/>
                <a:chExt cx="10617962" cy="4091798"/>
              </a:xfrm>
            </p:grpSpPr>
            <p:grpSp>
              <p:nvGrpSpPr>
                <p:cNvPr id="17" name="Group 16">
                  <a:extLst>
                    <a:ext uri="{FF2B5EF4-FFF2-40B4-BE49-F238E27FC236}">
                      <a16:creationId xmlns:a16="http://schemas.microsoft.com/office/drawing/2014/main" id="{9BD0090B-FCDA-4437-BF0F-F01F8F89ED7B}"/>
                    </a:ext>
                  </a:extLst>
                </p:cNvPr>
                <p:cNvGrpSpPr/>
                <p:nvPr/>
              </p:nvGrpSpPr>
              <p:grpSpPr>
                <a:xfrm>
                  <a:off x="656978" y="9695761"/>
                  <a:ext cx="10617962" cy="3793137"/>
                  <a:chOff x="1265134" y="15972197"/>
                  <a:chExt cx="9291381" cy="2967233"/>
                </a:xfrm>
              </p:grpSpPr>
              <p:sp>
                <p:nvSpPr>
                  <p:cNvPr id="19" name="TextBox 18">
                    <a:extLst>
                      <a:ext uri="{FF2B5EF4-FFF2-40B4-BE49-F238E27FC236}">
                        <a16:creationId xmlns:a16="http://schemas.microsoft.com/office/drawing/2014/main" id="{B337AA3E-BA55-4F2D-B3F2-E5CF8FB71257}"/>
                      </a:ext>
                    </a:extLst>
                  </p:cNvPr>
                  <p:cNvSpPr txBox="1"/>
                  <p:nvPr/>
                </p:nvSpPr>
                <p:spPr>
                  <a:xfrm>
                    <a:off x="5924325" y="18335237"/>
                    <a:ext cx="2668307" cy="584775"/>
                  </a:xfrm>
                  <a:prstGeom prst="rect">
                    <a:avLst/>
                  </a:prstGeom>
                  <a:noFill/>
                </p:spPr>
                <p:txBody>
                  <a:bodyPr wrap="square">
                    <a:spAutoFit/>
                  </a:bodyPr>
                  <a:lstStyle/>
                  <a:p>
                    <a:pPr algn="ctr" rtl="0">
                      <a:spcBef>
                        <a:spcPts val="0"/>
                      </a:spcBef>
                      <a:spcAft>
                        <a:spcPts val="0"/>
                      </a:spcAft>
                    </a:pPr>
                    <a:r>
                      <a:rPr lang="en-US" sz="3200" b="1" i="0" u="none" strike="noStrike" dirty="0">
                        <a:solidFill>
                          <a:srgbClr val="AD9335"/>
                        </a:solidFill>
                        <a:effectLst/>
                        <a:latin typeface="Arial" panose="020B0604020202020204" pitchFamily="34" charset="0"/>
                      </a:rPr>
                      <a:t>Transition </a:t>
                    </a:r>
                    <a:endParaRPr lang="en-US" b="0" dirty="0">
                      <a:effectLst/>
                    </a:endParaRPr>
                  </a:p>
                </p:txBody>
              </p:sp>
              <p:sp>
                <p:nvSpPr>
                  <p:cNvPr id="21" name="TextBox 20">
                    <a:extLst>
                      <a:ext uri="{FF2B5EF4-FFF2-40B4-BE49-F238E27FC236}">
                        <a16:creationId xmlns:a16="http://schemas.microsoft.com/office/drawing/2014/main" id="{63E2EB27-DB65-4716-95AE-F64D6781577F}"/>
                      </a:ext>
                    </a:extLst>
                  </p:cNvPr>
                  <p:cNvSpPr txBox="1"/>
                  <p:nvPr/>
                </p:nvSpPr>
                <p:spPr>
                  <a:xfrm>
                    <a:off x="3615900" y="18327135"/>
                    <a:ext cx="2015164" cy="584775"/>
                  </a:xfrm>
                  <a:prstGeom prst="rect">
                    <a:avLst/>
                  </a:prstGeom>
                  <a:noFill/>
                </p:spPr>
                <p:txBody>
                  <a:bodyPr wrap="square">
                    <a:spAutoFit/>
                  </a:bodyPr>
                  <a:lstStyle/>
                  <a:p>
                    <a:pPr algn="ctr" rtl="0">
                      <a:spcBef>
                        <a:spcPts val="0"/>
                      </a:spcBef>
                      <a:spcAft>
                        <a:spcPts val="0"/>
                      </a:spcAft>
                    </a:pPr>
                    <a:r>
                      <a:rPr lang="en-US" sz="3200" b="1" i="0" u="none" strike="noStrike" dirty="0">
                        <a:solidFill>
                          <a:srgbClr val="7F7F7F"/>
                        </a:solidFill>
                        <a:effectLst/>
                        <a:latin typeface="Arial" panose="020B0604020202020204" pitchFamily="34" charset="0"/>
                      </a:rPr>
                      <a:t>Upland </a:t>
                    </a:r>
                    <a:endParaRPr lang="en-US" dirty="0"/>
                  </a:p>
                </p:txBody>
              </p:sp>
              <p:sp>
                <p:nvSpPr>
                  <p:cNvPr id="22" name="TextBox 21">
                    <a:extLst>
                      <a:ext uri="{FF2B5EF4-FFF2-40B4-BE49-F238E27FC236}">
                        <a16:creationId xmlns:a16="http://schemas.microsoft.com/office/drawing/2014/main" id="{DC6FAB58-D29C-41D7-8AA4-C3FEB74DAA64}"/>
                      </a:ext>
                    </a:extLst>
                  </p:cNvPr>
                  <p:cNvSpPr txBox="1"/>
                  <p:nvPr/>
                </p:nvSpPr>
                <p:spPr>
                  <a:xfrm>
                    <a:off x="8346715" y="18354655"/>
                    <a:ext cx="2209800" cy="584775"/>
                  </a:xfrm>
                  <a:prstGeom prst="rect">
                    <a:avLst/>
                  </a:prstGeom>
                  <a:noFill/>
                </p:spPr>
                <p:txBody>
                  <a:bodyPr wrap="square">
                    <a:spAutoFit/>
                  </a:bodyPr>
                  <a:lstStyle/>
                  <a:p>
                    <a:pPr algn="ctr" rtl="0">
                      <a:spcBef>
                        <a:spcPts val="0"/>
                      </a:spcBef>
                      <a:spcAft>
                        <a:spcPts val="0"/>
                      </a:spcAft>
                    </a:pPr>
                    <a:r>
                      <a:rPr lang="en-US" sz="3200" b="1" i="0" u="none" strike="noStrike" dirty="0">
                        <a:solidFill>
                          <a:srgbClr val="214A2B"/>
                        </a:solidFill>
                        <a:effectLst/>
                        <a:latin typeface="Arial" panose="020B0604020202020204" pitchFamily="34" charset="0"/>
                      </a:rPr>
                      <a:t>Wetland </a:t>
                    </a:r>
                    <a:endParaRPr lang="en-US" dirty="0"/>
                  </a:p>
                </p:txBody>
              </p:sp>
              <p:grpSp>
                <p:nvGrpSpPr>
                  <p:cNvPr id="16" name="Group 15">
                    <a:extLst>
                      <a:ext uri="{FF2B5EF4-FFF2-40B4-BE49-F238E27FC236}">
                        <a16:creationId xmlns:a16="http://schemas.microsoft.com/office/drawing/2014/main" id="{5ACF9357-67FD-4900-B3F9-BEAE7CB1FBE8}"/>
                      </a:ext>
                    </a:extLst>
                  </p:cNvPr>
                  <p:cNvGrpSpPr/>
                  <p:nvPr/>
                </p:nvGrpSpPr>
                <p:grpSpPr>
                  <a:xfrm>
                    <a:off x="1265134" y="15972197"/>
                    <a:ext cx="9087808" cy="2691246"/>
                    <a:chOff x="1235472" y="7967378"/>
                    <a:chExt cx="9087808" cy="2691246"/>
                  </a:xfrm>
                </p:grpSpPr>
                <p:pic>
                  <p:nvPicPr>
                    <p:cNvPr id="1038" name="Picture 14">
                      <a:extLst>
                        <a:ext uri="{FF2B5EF4-FFF2-40B4-BE49-F238E27FC236}">
                          <a16:creationId xmlns:a16="http://schemas.microsoft.com/office/drawing/2014/main" id="{E839C8B1-E8CB-4BBA-8139-1E8E7F29D28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3500" t="37555" r="55500" b="10000"/>
                    <a:stretch/>
                  </p:blipFill>
                  <p:spPr bwMode="auto">
                    <a:xfrm>
                      <a:off x="1245381" y="7996393"/>
                      <a:ext cx="1895147" cy="266223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0A4A5CD4-B729-485C-B40C-67120B7DCAEE}"/>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t="28816" b="28777"/>
                    <a:stretch/>
                  </p:blipFill>
                  <p:spPr bwMode="auto">
                    <a:xfrm>
                      <a:off x="3657600" y="8315169"/>
                      <a:ext cx="6553200" cy="1851522"/>
                    </a:xfrm>
                    <a:prstGeom prst="rect">
                      <a:avLst/>
                    </a:prstGeom>
                    <a:noFill/>
                    <a:extLst>
                      <a:ext uri="{909E8E84-426E-40DD-AFC4-6F175D3DCCD1}">
                        <a14:hiddenFill xmlns:a14="http://schemas.microsoft.com/office/drawing/2010/main">
                          <a:solidFill>
                            <a:srgbClr val="FFFFFF"/>
                          </a:solidFill>
                        </a14:hiddenFill>
                      </a:ext>
                    </a:extLst>
                  </p:spPr>
                </p:pic>
                <p:sp>
                  <p:nvSpPr>
                    <p:cNvPr id="10" name="Isosceles Triangle 9">
                      <a:extLst>
                        <a:ext uri="{FF2B5EF4-FFF2-40B4-BE49-F238E27FC236}">
                          <a16:creationId xmlns:a16="http://schemas.microsoft.com/office/drawing/2014/main" id="{813588FD-6A01-468E-87B9-D9E7CB821229}"/>
                        </a:ext>
                      </a:extLst>
                    </p:cNvPr>
                    <p:cNvSpPr/>
                    <p:nvPr/>
                  </p:nvSpPr>
                  <p:spPr>
                    <a:xfrm rot="16200000">
                      <a:off x="2022821" y="8767998"/>
                      <a:ext cx="2072359" cy="965647"/>
                    </a:xfrm>
                    <a:custGeom>
                      <a:avLst/>
                      <a:gdLst>
                        <a:gd name="connsiteX0" fmla="*/ 0 w 1858996"/>
                        <a:gd name="connsiteY0" fmla="*/ 1119526 h 1119526"/>
                        <a:gd name="connsiteX1" fmla="*/ 929498 w 1858996"/>
                        <a:gd name="connsiteY1" fmla="*/ 0 h 1119526"/>
                        <a:gd name="connsiteX2" fmla="*/ 1858996 w 1858996"/>
                        <a:gd name="connsiteY2" fmla="*/ 1119526 h 1119526"/>
                        <a:gd name="connsiteX3" fmla="*/ 0 w 1858996"/>
                        <a:gd name="connsiteY3" fmla="*/ 1119526 h 1119526"/>
                        <a:gd name="connsiteX0" fmla="*/ 0 w 1858996"/>
                        <a:gd name="connsiteY0" fmla="*/ 1081426 h 1081426"/>
                        <a:gd name="connsiteX1" fmla="*/ 1405748 w 1858996"/>
                        <a:gd name="connsiteY1" fmla="*/ 0 h 1081426"/>
                        <a:gd name="connsiteX2" fmla="*/ 1858996 w 1858996"/>
                        <a:gd name="connsiteY2" fmla="*/ 1081426 h 1081426"/>
                        <a:gd name="connsiteX3" fmla="*/ 0 w 1858996"/>
                        <a:gd name="connsiteY3" fmla="*/ 1081426 h 1081426"/>
                      </a:gdLst>
                      <a:ahLst/>
                      <a:cxnLst>
                        <a:cxn ang="0">
                          <a:pos x="connsiteX0" y="connsiteY0"/>
                        </a:cxn>
                        <a:cxn ang="0">
                          <a:pos x="connsiteX1" y="connsiteY1"/>
                        </a:cxn>
                        <a:cxn ang="0">
                          <a:pos x="connsiteX2" y="connsiteY2"/>
                        </a:cxn>
                        <a:cxn ang="0">
                          <a:pos x="connsiteX3" y="connsiteY3"/>
                        </a:cxn>
                      </a:cxnLst>
                      <a:rect l="l" t="t" r="r" b="b"/>
                      <a:pathLst>
                        <a:path w="1858996" h="1081426">
                          <a:moveTo>
                            <a:pt x="0" y="1081426"/>
                          </a:moveTo>
                          <a:lnTo>
                            <a:pt x="1405748" y="0"/>
                          </a:lnTo>
                          <a:lnTo>
                            <a:pt x="1858996" y="1081426"/>
                          </a:lnTo>
                          <a:lnTo>
                            <a:pt x="0" y="1081426"/>
                          </a:lnTo>
                          <a:close/>
                        </a:path>
                      </a:pathLst>
                    </a:custGeom>
                    <a:solidFill>
                      <a:srgbClr val="A6A6A6">
                        <a:alpha val="60000"/>
                      </a:srgb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257B28-A651-4772-B328-CA18AF2BEBD3}"/>
                        </a:ext>
                      </a:extLst>
                    </p:cNvPr>
                    <p:cNvSpPr/>
                    <p:nvPr/>
                  </p:nvSpPr>
                  <p:spPr>
                    <a:xfrm>
                      <a:off x="3545120" y="8214641"/>
                      <a:ext cx="2007627" cy="2072359"/>
                    </a:xfrm>
                    <a:prstGeom prst="rect">
                      <a:avLst/>
                    </a:prstGeom>
                    <a:noFill/>
                    <a:ln w="57150">
                      <a:solidFill>
                        <a:srgbClr val="7774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082D61F-5257-446F-A275-09D311F5CCA6}"/>
                        </a:ext>
                      </a:extLst>
                    </p:cNvPr>
                    <p:cNvSpPr/>
                    <p:nvPr/>
                  </p:nvSpPr>
                  <p:spPr>
                    <a:xfrm>
                      <a:off x="6079668" y="8214641"/>
                      <a:ext cx="2209801" cy="2072359"/>
                    </a:xfrm>
                    <a:prstGeom prst="rect">
                      <a:avLst/>
                    </a:prstGeom>
                    <a:noFill/>
                    <a:ln w="57150">
                      <a:solidFill>
                        <a:srgbClr val="AD93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52F5CF5-6F17-4653-8516-8E6A6F7D4080}"/>
                        </a:ext>
                      </a:extLst>
                    </p:cNvPr>
                    <p:cNvSpPr/>
                    <p:nvPr/>
                  </p:nvSpPr>
                  <p:spPr>
                    <a:xfrm>
                      <a:off x="8516357" y="8214641"/>
                      <a:ext cx="1806923" cy="2072359"/>
                    </a:xfrm>
                    <a:prstGeom prst="rect">
                      <a:avLst/>
                    </a:prstGeom>
                    <a:noFill/>
                    <a:ln w="57150">
                      <a:solidFill>
                        <a:srgbClr val="214A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42875C5-643B-4607-BA5F-364F00C3F866}"/>
                        </a:ext>
                      </a:extLst>
                    </p:cNvPr>
                    <p:cNvSpPr txBox="1"/>
                    <p:nvPr/>
                  </p:nvSpPr>
                  <p:spPr>
                    <a:xfrm>
                      <a:off x="1245381" y="7967378"/>
                      <a:ext cx="1465981" cy="369332"/>
                    </a:xfrm>
                    <a:prstGeom prst="rect">
                      <a:avLst/>
                    </a:prstGeom>
                    <a:noFill/>
                  </p:spPr>
                  <p:txBody>
                    <a:bodyPr wrap="square" rtlCol="0">
                      <a:spAutoFit/>
                    </a:bodyPr>
                    <a:lstStyle/>
                    <a:p>
                      <a:r>
                        <a:rPr lang="en-US" sz="1800" dirty="0"/>
                        <a:t>GCReW</a:t>
                      </a:r>
                    </a:p>
                  </p:txBody>
                </p:sp>
                <p:sp>
                  <p:nvSpPr>
                    <p:cNvPr id="30" name="TextBox 29">
                      <a:extLst>
                        <a:ext uri="{FF2B5EF4-FFF2-40B4-BE49-F238E27FC236}">
                          <a16:creationId xmlns:a16="http://schemas.microsoft.com/office/drawing/2014/main" id="{3FD9E729-1DD0-4E68-95AD-4E6A42469A47}"/>
                        </a:ext>
                      </a:extLst>
                    </p:cNvPr>
                    <p:cNvSpPr txBox="1"/>
                    <p:nvPr/>
                  </p:nvSpPr>
                  <p:spPr>
                    <a:xfrm>
                      <a:off x="1526221" y="8479215"/>
                      <a:ext cx="1465981" cy="646331"/>
                    </a:xfrm>
                    <a:prstGeom prst="rect">
                      <a:avLst/>
                    </a:prstGeom>
                    <a:noFill/>
                  </p:spPr>
                  <p:txBody>
                    <a:bodyPr wrap="square" rtlCol="0">
                      <a:spAutoFit/>
                    </a:bodyPr>
                    <a:lstStyle/>
                    <a:p>
                      <a:r>
                        <a:rPr lang="en-US" sz="1800" dirty="0"/>
                        <a:t>Money Stump</a:t>
                      </a:r>
                    </a:p>
                  </p:txBody>
                </p:sp>
                <p:sp>
                  <p:nvSpPr>
                    <p:cNvPr id="31" name="TextBox 30">
                      <a:extLst>
                        <a:ext uri="{FF2B5EF4-FFF2-40B4-BE49-F238E27FC236}">
                          <a16:creationId xmlns:a16="http://schemas.microsoft.com/office/drawing/2014/main" id="{B01DCA7D-14C2-4DE9-AB7C-0C5121A43998}"/>
                        </a:ext>
                      </a:extLst>
                    </p:cNvPr>
                    <p:cNvSpPr txBox="1"/>
                    <p:nvPr/>
                  </p:nvSpPr>
                  <p:spPr>
                    <a:xfrm>
                      <a:off x="2192954" y="9968373"/>
                      <a:ext cx="1465981" cy="646331"/>
                    </a:xfrm>
                    <a:prstGeom prst="rect">
                      <a:avLst/>
                    </a:prstGeom>
                    <a:noFill/>
                  </p:spPr>
                  <p:txBody>
                    <a:bodyPr wrap="square" rtlCol="0">
                      <a:spAutoFit/>
                    </a:bodyPr>
                    <a:lstStyle/>
                    <a:p>
                      <a:r>
                        <a:rPr lang="en-US" sz="1800" dirty="0"/>
                        <a:t>Goodwin Islands</a:t>
                      </a:r>
                    </a:p>
                  </p:txBody>
                </p:sp>
                <p:sp>
                  <p:nvSpPr>
                    <p:cNvPr id="32" name="TextBox 31">
                      <a:extLst>
                        <a:ext uri="{FF2B5EF4-FFF2-40B4-BE49-F238E27FC236}">
                          <a16:creationId xmlns:a16="http://schemas.microsoft.com/office/drawing/2014/main" id="{91FA3544-84DD-4FA6-98D1-FD377AA9457A}"/>
                        </a:ext>
                      </a:extLst>
                    </p:cNvPr>
                    <p:cNvSpPr txBox="1"/>
                    <p:nvPr/>
                  </p:nvSpPr>
                  <p:spPr>
                    <a:xfrm>
                      <a:off x="1235472" y="9367357"/>
                      <a:ext cx="1465981" cy="369332"/>
                    </a:xfrm>
                    <a:prstGeom prst="rect">
                      <a:avLst/>
                    </a:prstGeom>
                    <a:noFill/>
                  </p:spPr>
                  <p:txBody>
                    <a:bodyPr wrap="square" rtlCol="0">
                      <a:spAutoFit/>
                    </a:bodyPr>
                    <a:lstStyle/>
                    <a:p>
                      <a:r>
                        <a:rPr lang="en-US" sz="1800" dirty="0"/>
                        <a:t>Sweethall</a:t>
                      </a:r>
                    </a:p>
                  </p:txBody>
                </p:sp>
              </p:grpSp>
            </p:grpSp>
            <p:pic>
              <p:nvPicPr>
                <p:cNvPr id="5" name="Picture 4">
                  <a:extLst>
                    <a:ext uri="{FF2B5EF4-FFF2-40B4-BE49-F238E27FC236}">
                      <a16:creationId xmlns:a16="http://schemas.microsoft.com/office/drawing/2014/main" id="{E0D2C47F-65A1-474D-B427-F0FE01988342}"/>
                    </a:ext>
                  </a:extLst>
                </p:cNvPr>
                <p:cNvPicPr>
                  <a:picLocks noChangeAspect="1"/>
                </p:cNvPicPr>
                <p:nvPr/>
              </p:nvPicPr>
              <p:blipFill>
                <a:blip r:embed="rId9"/>
                <a:stretch>
                  <a:fillRect/>
                </a:stretch>
              </p:blipFill>
              <p:spPr>
                <a:xfrm>
                  <a:off x="5314931" y="9397100"/>
                  <a:ext cx="3920968" cy="492320"/>
                </a:xfrm>
                <a:prstGeom prst="rect">
                  <a:avLst/>
                </a:prstGeom>
              </p:spPr>
            </p:pic>
          </p:grpSp>
        </p:grpSp>
        <p:pic>
          <p:nvPicPr>
            <p:cNvPr id="23" name="Picture 22">
              <a:extLst>
                <a:ext uri="{FF2B5EF4-FFF2-40B4-BE49-F238E27FC236}">
                  <a16:creationId xmlns:a16="http://schemas.microsoft.com/office/drawing/2014/main" id="{B898F675-595D-44C5-A7EE-8D2E4D281189}"/>
                </a:ext>
              </a:extLst>
            </p:cNvPr>
            <p:cNvPicPr>
              <a:picLocks noChangeAspect="1"/>
            </p:cNvPicPr>
            <p:nvPr/>
          </p:nvPicPr>
          <p:blipFill>
            <a:blip r:embed="rId10"/>
            <a:stretch>
              <a:fillRect/>
            </a:stretch>
          </p:blipFill>
          <p:spPr>
            <a:xfrm>
              <a:off x="3968630" y="10162931"/>
              <a:ext cx="6188276" cy="3169612"/>
            </a:xfrm>
            <a:prstGeom prst="rect">
              <a:avLst/>
            </a:prstGeom>
          </p:spPr>
        </p:pic>
      </p:grpSp>
      <p:sp>
        <p:nvSpPr>
          <p:cNvPr id="12" name="Text Placeholder 11">
            <a:extLst>
              <a:ext uri="{FF2B5EF4-FFF2-40B4-BE49-F238E27FC236}">
                <a16:creationId xmlns:a16="http://schemas.microsoft.com/office/drawing/2014/main" id="{E581911B-6679-154D-B5EC-E94C75A29883}"/>
              </a:ext>
            </a:extLst>
          </p:cNvPr>
          <p:cNvSpPr>
            <a:spLocks noGrp="1"/>
          </p:cNvSpPr>
          <p:nvPr>
            <p:ph type="body" sz="quarter" idx="11"/>
          </p:nvPr>
        </p:nvSpPr>
        <p:spPr>
          <a:xfrm>
            <a:off x="11603356" y="11014912"/>
            <a:ext cx="9711687" cy="3263653"/>
          </a:xfrm>
          <a:ln>
            <a:noFill/>
          </a:ln>
        </p:spPr>
        <p:txBody>
          <a:bodyPr/>
          <a:lstStyle/>
          <a:p>
            <a:pPr algn="ctr" rtl="0">
              <a:spcBef>
                <a:spcPts val="1000"/>
              </a:spcBef>
              <a:spcAft>
                <a:spcPts val="0"/>
              </a:spcAft>
            </a:pPr>
            <a:r>
              <a:rPr lang="en-US" sz="3200" b="1" i="0" u="none" strike="noStrike" dirty="0">
                <a:solidFill>
                  <a:srgbClr val="214A2B"/>
                </a:solidFill>
                <a:effectLst/>
              </a:rPr>
              <a:t>Hypothesis</a:t>
            </a:r>
            <a:r>
              <a:rPr lang="en-US" sz="3200" b="0" i="0" u="none" strike="noStrike" dirty="0">
                <a:solidFill>
                  <a:srgbClr val="214A2B"/>
                </a:solidFill>
                <a:effectLst/>
              </a:rPr>
              <a:t>:</a:t>
            </a:r>
            <a:r>
              <a:rPr lang="en-US" sz="3200" dirty="0">
                <a:solidFill>
                  <a:srgbClr val="214A2B"/>
                </a:solidFill>
              </a:rPr>
              <a:t> </a:t>
            </a:r>
            <a:r>
              <a:rPr lang="en-US" sz="3200" b="0" i="0" u="none" strike="noStrike" dirty="0">
                <a:solidFill>
                  <a:srgbClr val="000000"/>
                </a:solidFill>
                <a:effectLst/>
              </a:rPr>
              <a:t>There is a hierarchical structure to </a:t>
            </a:r>
            <a:r>
              <a:rPr lang="en-US" sz="3200" b="0" i="0" u="sng" dirty="0">
                <a:solidFill>
                  <a:srgbClr val="000000"/>
                </a:solidFill>
                <a:effectLst/>
              </a:rPr>
              <a:t>spatial </a:t>
            </a:r>
            <a:r>
              <a:rPr lang="en-US" sz="3200" b="0" i="0" u="none" strike="noStrike" dirty="0">
                <a:solidFill>
                  <a:srgbClr val="000000"/>
                </a:solidFill>
                <a:effectLst/>
              </a:rPr>
              <a:t>variation in ecosystem structure and function at the coastal </a:t>
            </a:r>
            <a:r>
              <a:rPr lang="en-US" sz="3200" dirty="0">
                <a:solidFill>
                  <a:srgbClr val="000000"/>
                </a:solidFill>
              </a:rPr>
              <a:t>terrestrial-aquatic interface </a:t>
            </a:r>
            <a:r>
              <a:rPr lang="en-US" sz="3200" b="0" i="0" u="none" strike="noStrike" dirty="0">
                <a:solidFill>
                  <a:srgbClr val="000000"/>
                </a:solidFill>
                <a:effectLst/>
              </a:rPr>
              <a:t>set by:</a:t>
            </a:r>
            <a:endParaRPr lang="en-US" sz="3200" b="0" dirty="0">
              <a:effectLst/>
            </a:endParaRPr>
          </a:p>
          <a:p>
            <a:pPr algn="ctr" rtl="0">
              <a:spcBef>
                <a:spcPts val="1000"/>
              </a:spcBef>
              <a:spcAft>
                <a:spcPts val="0"/>
              </a:spcAft>
            </a:pPr>
            <a:r>
              <a:rPr lang="en-US" sz="3200" b="0" i="0" u="none" strike="noStrike" dirty="0">
                <a:solidFill>
                  <a:srgbClr val="000000"/>
                </a:solidFill>
                <a:effectLst/>
              </a:rPr>
              <a:t>1) the </a:t>
            </a:r>
            <a:r>
              <a:rPr lang="en-US" sz="3200" b="1" i="0" u="none" strike="noStrike" dirty="0">
                <a:solidFill>
                  <a:srgbClr val="000000"/>
                </a:solidFill>
                <a:effectLst/>
              </a:rPr>
              <a:t>depth and duration of soil saturation </a:t>
            </a:r>
            <a:endParaRPr lang="en-US" sz="3200" b="0" dirty="0">
              <a:effectLst/>
            </a:endParaRPr>
          </a:p>
          <a:p>
            <a:pPr algn="ctr" rtl="0">
              <a:spcBef>
                <a:spcPts val="1000"/>
              </a:spcBef>
              <a:spcAft>
                <a:spcPts val="0"/>
              </a:spcAft>
            </a:pPr>
            <a:r>
              <a:rPr lang="en-US" sz="3200" b="0" i="0" u="none" strike="noStrike" dirty="0">
                <a:solidFill>
                  <a:srgbClr val="000000"/>
                </a:solidFill>
                <a:effectLst/>
              </a:rPr>
              <a:t>2) the abundance of </a:t>
            </a:r>
            <a:r>
              <a:rPr lang="en-US" sz="3200" b="1" i="0" u="none" strike="noStrike" dirty="0">
                <a:solidFill>
                  <a:srgbClr val="000000"/>
                </a:solidFill>
                <a:effectLst/>
              </a:rPr>
              <a:t>redox-sensitive elements</a:t>
            </a:r>
            <a:endParaRPr lang="en-US" sz="3200" b="0" dirty="0">
              <a:effectLst/>
            </a:endParaRPr>
          </a:p>
          <a:p>
            <a:pPr algn="ctr" rtl="0">
              <a:spcBef>
                <a:spcPts val="1000"/>
              </a:spcBef>
              <a:spcAft>
                <a:spcPts val="0"/>
              </a:spcAft>
            </a:pPr>
            <a:r>
              <a:rPr lang="en-US" sz="3200" b="0" i="0" u="none" strike="noStrike" dirty="0">
                <a:solidFill>
                  <a:srgbClr val="000000"/>
                </a:solidFill>
                <a:effectLst/>
              </a:rPr>
              <a:t>3) their </a:t>
            </a:r>
            <a:r>
              <a:rPr lang="en-US" sz="3200" b="1" i="0" u="none" strike="noStrike" dirty="0">
                <a:solidFill>
                  <a:srgbClr val="000000"/>
                </a:solidFill>
                <a:effectLst/>
              </a:rPr>
              <a:t>interactions with plant traits</a:t>
            </a:r>
            <a:br>
              <a:rPr lang="en-US" dirty="0"/>
            </a:br>
            <a:endParaRPr lang="en-US" dirty="0"/>
          </a:p>
        </p:txBody>
      </p:sp>
      <p:cxnSp>
        <p:nvCxnSpPr>
          <p:cNvPr id="39" name="Straight Connector 38">
            <a:extLst>
              <a:ext uri="{FF2B5EF4-FFF2-40B4-BE49-F238E27FC236}">
                <a16:creationId xmlns:a16="http://schemas.microsoft.com/office/drawing/2014/main" id="{B4629574-3231-407C-9DEC-AD7EE5AEFD84}"/>
              </a:ext>
            </a:extLst>
          </p:cNvPr>
          <p:cNvCxnSpPr>
            <a:cxnSpLocks/>
          </p:cNvCxnSpPr>
          <p:nvPr/>
        </p:nvCxnSpPr>
        <p:spPr>
          <a:xfrm flipV="1">
            <a:off x="-254020" y="4807567"/>
            <a:ext cx="30725583" cy="40711"/>
          </a:xfrm>
          <a:prstGeom prst="line">
            <a:avLst/>
          </a:prstGeom>
          <a:ln>
            <a:solidFill>
              <a:srgbClr val="214A2B"/>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925FFD70-0A66-4A06-B307-F9B0A45DB32A}"/>
              </a:ext>
            </a:extLst>
          </p:cNvPr>
          <p:cNvSpPr txBox="1"/>
          <p:nvPr/>
        </p:nvSpPr>
        <p:spPr>
          <a:xfrm>
            <a:off x="18210894" y="15398846"/>
            <a:ext cx="4068705" cy="3949799"/>
          </a:xfrm>
          <a:prstGeom prst="rect">
            <a:avLst/>
          </a:prstGeom>
          <a:noFill/>
        </p:spPr>
        <p:txBody>
          <a:bodyPr wrap="square">
            <a:spAutoFit/>
          </a:bodyPr>
          <a:lstStyle/>
          <a:p>
            <a:pPr marL="495300" lvl="0" indent="-342900" algn="l" rtl="0">
              <a:lnSpc>
                <a:spcPct val="90000"/>
              </a:lnSpc>
              <a:spcBef>
                <a:spcPts val="1000"/>
              </a:spcBef>
              <a:spcAft>
                <a:spcPts val="0"/>
              </a:spcAft>
              <a:buSzPts val="2400"/>
              <a:buChar char="•"/>
            </a:pPr>
            <a:r>
              <a:rPr lang="en-US" sz="2600" dirty="0">
                <a:latin typeface="Arial" panose="020B0604020202020204" pitchFamily="34" charset="0"/>
                <a:cs typeface="Arial" panose="020B0604020202020204" pitchFamily="34" charset="0"/>
              </a:rPr>
              <a:t>Lower redox potential suggests more reducing conditions</a:t>
            </a:r>
          </a:p>
          <a:p>
            <a:pPr marL="495300" lvl="0" indent="-342900" algn="l" rtl="0">
              <a:lnSpc>
                <a:spcPct val="90000"/>
              </a:lnSpc>
              <a:spcBef>
                <a:spcPts val="1000"/>
              </a:spcBef>
              <a:spcAft>
                <a:spcPts val="0"/>
              </a:spcAft>
              <a:buSzPts val="2400"/>
              <a:buChar char="•"/>
            </a:pPr>
            <a:r>
              <a:rPr lang="en-US" sz="2600" dirty="0">
                <a:latin typeface="Arial" panose="020B0604020202020204" pitchFamily="34" charset="0"/>
                <a:cs typeface="Arial" panose="020B0604020202020204" pitchFamily="34" charset="0"/>
              </a:rPr>
              <a:t>Trends across zones align with soil moisture and water level</a:t>
            </a:r>
          </a:p>
          <a:p>
            <a:pPr marL="495300" lvl="0" indent="-342900" algn="l" rtl="0">
              <a:lnSpc>
                <a:spcPct val="90000"/>
              </a:lnSpc>
              <a:spcBef>
                <a:spcPts val="1000"/>
              </a:spcBef>
              <a:spcAft>
                <a:spcPts val="0"/>
              </a:spcAft>
              <a:buSzPts val="2400"/>
              <a:buChar char="•"/>
            </a:pPr>
            <a:r>
              <a:rPr lang="en-US" sz="2600" dirty="0">
                <a:latin typeface="Arial" panose="020B0604020202020204" pitchFamily="34" charset="0"/>
                <a:cs typeface="Arial" panose="020B0604020202020204" pitchFamily="34" charset="0"/>
              </a:rPr>
              <a:t>Horizontal and depth gradients driven by hydrology and soil moisture</a:t>
            </a:r>
          </a:p>
        </p:txBody>
      </p:sp>
      <p:sp>
        <p:nvSpPr>
          <p:cNvPr id="68" name="TextBox 67">
            <a:extLst>
              <a:ext uri="{FF2B5EF4-FFF2-40B4-BE49-F238E27FC236}">
                <a16:creationId xmlns:a16="http://schemas.microsoft.com/office/drawing/2014/main" id="{41129117-9021-4E42-824E-73DCDA6FBDF6}"/>
              </a:ext>
            </a:extLst>
          </p:cNvPr>
          <p:cNvSpPr txBox="1"/>
          <p:nvPr/>
        </p:nvSpPr>
        <p:spPr>
          <a:xfrm>
            <a:off x="28370072" y="5396899"/>
            <a:ext cx="4010224" cy="2741263"/>
          </a:xfrm>
          <a:prstGeom prst="rect">
            <a:avLst/>
          </a:prstGeom>
          <a:noFill/>
        </p:spPr>
        <p:txBody>
          <a:bodyPr wrap="square">
            <a:spAutoFit/>
          </a:bodyPr>
          <a:lstStyle/>
          <a:p>
            <a:pPr marL="495300" lvl="0" indent="-342900" algn="l" rtl="0">
              <a:lnSpc>
                <a:spcPct val="90000"/>
              </a:lnSpc>
              <a:spcBef>
                <a:spcPts val="1000"/>
              </a:spcBef>
              <a:spcAft>
                <a:spcPts val="0"/>
              </a:spcAft>
              <a:buSzPts val="2400"/>
              <a:buChar char="•"/>
            </a:pPr>
            <a:r>
              <a:rPr lang="en-US" sz="2600" dirty="0">
                <a:latin typeface="Arial" panose="020B0604020202020204" pitchFamily="34" charset="0"/>
                <a:cs typeface="Arial" panose="020B0604020202020204" pitchFamily="34" charset="0"/>
              </a:rPr>
              <a:t>Porewater sulfate concentrations directly linked to salinity and conductivity</a:t>
            </a:r>
          </a:p>
          <a:p>
            <a:pPr marL="495300" lvl="0" indent="-342900" algn="l" rtl="0">
              <a:lnSpc>
                <a:spcPct val="90000"/>
              </a:lnSpc>
              <a:spcBef>
                <a:spcPts val="1000"/>
              </a:spcBef>
              <a:spcAft>
                <a:spcPts val="0"/>
              </a:spcAft>
              <a:buSzPts val="2400"/>
              <a:buChar char="•"/>
            </a:pPr>
            <a:r>
              <a:rPr lang="en-US" sz="2600" dirty="0">
                <a:latin typeface="Arial" panose="020B0604020202020204" pitchFamily="34" charset="0"/>
                <a:cs typeface="Arial" panose="020B0604020202020204" pitchFamily="34" charset="0"/>
              </a:rPr>
              <a:t>Profiles across zones match hydrology and soil moisture </a:t>
            </a:r>
          </a:p>
        </p:txBody>
      </p:sp>
      <p:sp>
        <p:nvSpPr>
          <p:cNvPr id="69" name="TextBox 68">
            <a:extLst>
              <a:ext uri="{FF2B5EF4-FFF2-40B4-BE49-F238E27FC236}">
                <a16:creationId xmlns:a16="http://schemas.microsoft.com/office/drawing/2014/main" id="{FA542766-50A4-4A77-A7C9-39F4D6A19EBE}"/>
              </a:ext>
            </a:extLst>
          </p:cNvPr>
          <p:cNvSpPr txBox="1"/>
          <p:nvPr/>
        </p:nvSpPr>
        <p:spPr>
          <a:xfrm>
            <a:off x="28409848" y="10064905"/>
            <a:ext cx="3970448" cy="4669996"/>
          </a:xfrm>
          <a:prstGeom prst="rect">
            <a:avLst/>
          </a:prstGeom>
          <a:noFill/>
        </p:spPr>
        <p:txBody>
          <a:bodyPr wrap="square">
            <a:spAutoFit/>
          </a:bodyPr>
          <a:lstStyle/>
          <a:p>
            <a:pPr marL="495300" lvl="0" indent="-342900" algn="l" rtl="0">
              <a:lnSpc>
                <a:spcPct val="90000"/>
              </a:lnSpc>
              <a:spcBef>
                <a:spcPts val="1000"/>
              </a:spcBef>
              <a:spcAft>
                <a:spcPts val="0"/>
              </a:spcAft>
              <a:buSzPts val="2400"/>
              <a:buChar char="•"/>
            </a:pPr>
            <a:r>
              <a:rPr lang="en-US" sz="2600" dirty="0">
                <a:latin typeface="Arial" panose="020B0604020202020204" pitchFamily="34" charset="0"/>
                <a:cs typeface="Arial" panose="020B0604020202020204" pitchFamily="34" charset="0"/>
              </a:rPr>
              <a:t>Soil function with respect to CH</a:t>
            </a:r>
            <a:r>
              <a:rPr lang="en-US" sz="2600" baseline="-25000" dirty="0">
                <a:latin typeface="Arial" panose="020B0604020202020204" pitchFamily="34" charset="0"/>
                <a:cs typeface="Arial" panose="020B0604020202020204" pitchFamily="34" charset="0"/>
              </a:rPr>
              <a:t>4</a:t>
            </a:r>
            <a:r>
              <a:rPr lang="en-US" sz="2600" dirty="0">
                <a:latin typeface="Arial" panose="020B0604020202020204" pitchFamily="34" charset="0"/>
                <a:cs typeface="Arial" panose="020B0604020202020204" pitchFamily="34" charset="0"/>
              </a:rPr>
              <a:t> is shifting prior to mass tree mortality</a:t>
            </a:r>
          </a:p>
          <a:p>
            <a:pPr marL="495300" lvl="0" indent="-342900" algn="l" rtl="0">
              <a:lnSpc>
                <a:spcPct val="90000"/>
              </a:lnSpc>
              <a:spcBef>
                <a:spcPts val="1000"/>
              </a:spcBef>
              <a:spcAft>
                <a:spcPts val="0"/>
              </a:spcAft>
              <a:buSzPts val="2400"/>
              <a:buChar char="•"/>
            </a:pPr>
            <a:r>
              <a:rPr lang="en-US" sz="2600" dirty="0">
                <a:latin typeface="Arial" panose="020B0604020202020204" pitchFamily="34" charset="0"/>
                <a:cs typeface="Arial" panose="020B0604020202020204" pitchFamily="34" charset="0"/>
              </a:rPr>
              <a:t>Observed across site salinities and following hydrologic gradient</a:t>
            </a:r>
          </a:p>
          <a:p>
            <a:pPr marL="495300" lvl="0" indent="-342900" algn="l" rtl="0">
              <a:lnSpc>
                <a:spcPct val="90000"/>
              </a:lnSpc>
              <a:spcBef>
                <a:spcPts val="1000"/>
              </a:spcBef>
              <a:spcAft>
                <a:spcPts val="0"/>
              </a:spcAft>
              <a:buSzPts val="2400"/>
              <a:buChar char="•"/>
            </a:pPr>
            <a:r>
              <a:rPr lang="en-US" sz="2600" dirty="0">
                <a:latin typeface="Arial" panose="020B0604020202020204" pitchFamily="34" charset="0"/>
                <a:cs typeface="Arial" panose="020B0604020202020204" pitchFamily="34" charset="0"/>
              </a:rPr>
              <a:t>Supporting that inundation may be more important to ecosystem function with respect to CH</a:t>
            </a:r>
            <a:r>
              <a:rPr lang="en-US" sz="2600" baseline="-25000" dirty="0">
                <a:latin typeface="Arial" panose="020B0604020202020204" pitchFamily="34" charset="0"/>
                <a:cs typeface="Arial" panose="020B0604020202020204" pitchFamily="34" charset="0"/>
              </a:rPr>
              <a:t>4</a:t>
            </a:r>
          </a:p>
        </p:txBody>
      </p:sp>
      <p:sp>
        <p:nvSpPr>
          <p:cNvPr id="71" name="TextBox 70">
            <a:extLst>
              <a:ext uri="{FF2B5EF4-FFF2-40B4-BE49-F238E27FC236}">
                <a16:creationId xmlns:a16="http://schemas.microsoft.com/office/drawing/2014/main" id="{20FCF955-91B8-4F12-80C1-3930894397E2}"/>
              </a:ext>
            </a:extLst>
          </p:cNvPr>
          <p:cNvSpPr txBox="1"/>
          <p:nvPr/>
        </p:nvSpPr>
        <p:spPr>
          <a:xfrm>
            <a:off x="11555837" y="10049978"/>
            <a:ext cx="7105871" cy="646331"/>
          </a:xfrm>
          <a:prstGeom prst="rect">
            <a:avLst/>
          </a:prstGeom>
          <a:noFill/>
        </p:spPr>
        <p:txBody>
          <a:bodyPr wrap="square">
            <a:spAutoFit/>
          </a:bodyPr>
          <a:lstStyle/>
          <a:p>
            <a:pPr marL="152400" lvl="0" algn="l" rtl="0">
              <a:lnSpc>
                <a:spcPct val="90000"/>
              </a:lnSpc>
              <a:spcBef>
                <a:spcPts val="1000"/>
              </a:spcBef>
              <a:spcAft>
                <a:spcPts val="0"/>
              </a:spcAft>
              <a:buSzPts val="2400"/>
            </a:pPr>
            <a:r>
              <a:rPr lang="en-US" sz="2000" dirty="0">
                <a:latin typeface="Arial" panose="020B0604020202020204" pitchFamily="34" charset="0"/>
                <a:cs typeface="Arial" panose="020B0604020202020204" pitchFamily="34" charset="0"/>
              </a:rPr>
              <a:t>Fig.1. Water level overtime at Goodwin Islands and MoneyStump across zones.  </a:t>
            </a:r>
          </a:p>
        </p:txBody>
      </p:sp>
      <p:sp>
        <p:nvSpPr>
          <p:cNvPr id="72" name="TextBox 71">
            <a:extLst>
              <a:ext uri="{FF2B5EF4-FFF2-40B4-BE49-F238E27FC236}">
                <a16:creationId xmlns:a16="http://schemas.microsoft.com/office/drawing/2014/main" id="{D97CA66F-8F2F-4569-B31D-F4463B4409B7}"/>
              </a:ext>
            </a:extLst>
          </p:cNvPr>
          <p:cNvSpPr txBox="1"/>
          <p:nvPr/>
        </p:nvSpPr>
        <p:spPr>
          <a:xfrm>
            <a:off x="11474505" y="19587541"/>
            <a:ext cx="7062781" cy="646331"/>
          </a:xfrm>
          <a:prstGeom prst="rect">
            <a:avLst/>
          </a:prstGeom>
          <a:noFill/>
        </p:spPr>
        <p:txBody>
          <a:bodyPr wrap="square">
            <a:spAutoFit/>
          </a:bodyPr>
          <a:lstStyle/>
          <a:p>
            <a:pPr marL="152400" lvl="0" algn="l" rtl="0">
              <a:lnSpc>
                <a:spcPct val="90000"/>
              </a:lnSpc>
              <a:spcBef>
                <a:spcPts val="1000"/>
              </a:spcBef>
              <a:spcAft>
                <a:spcPts val="0"/>
              </a:spcAft>
              <a:buSzPts val="2400"/>
            </a:pPr>
            <a:r>
              <a:rPr lang="en-US" sz="2000" dirty="0">
                <a:latin typeface="Arial" panose="020B0604020202020204" pitchFamily="34" charset="0"/>
                <a:cs typeface="Arial" panose="020B0604020202020204" pitchFamily="34" charset="0"/>
              </a:rPr>
              <a:t>Fig.2. Redox potential profiles at GCReW, Goodwin Islands, and MoneyStump across zones.  </a:t>
            </a:r>
          </a:p>
        </p:txBody>
      </p:sp>
      <p:sp>
        <p:nvSpPr>
          <p:cNvPr id="73" name="TextBox 72">
            <a:extLst>
              <a:ext uri="{FF2B5EF4-FFF2-40B4-BE49-F238E27FC236}">
                <a16:creationId xmlns:a16="http://schemas.microsoft.com/office/drawing/2014/main" id="{F601A24D-3F4E-46CD-B0AC-4E485EF6E60E}"/>
              </a:ext>
            </a:extLst>
          </p:cNvPr>
          <p:cNvSpPr txBox="1"/>
          <p:nvPr/>
        </p:nvSpPr>
        <p:spPr>
          <a:xfrm>
            <a:off x="22745272" y="9126635"/>
            <a:ext cx="7105871" cy="646331"/>
          </a:xfrm>
          <a:prstGeom prst="rect">
            <a:avLst/>
          </a:prstGeom>
          <a:noFill/>
        </p:spPr>
        <p:txBody>
          <a:bodyPr wrap="square">
            <a:spAutoFit/>
          </a:bodyPr>
          <a:lstStyle/>
          <a:p>
            <a:pPr marL="152400" lvl="0" algn="l" rtl="0">
              <a:lnSpc>
                <a:spcPct val="90000"/>
              </a:lnSpc>
              <a:spcBef>
                <a:spcPts val="1000"/>
              </a:spcBef>
              <a:spcAft>
                <a:spcPts val="0"/>
              </a:spcAft>
              <a:buSzPts val="2400"/>
            </a:pPr>
            <a:r>
              <a:rPr lang="en-US" sz="2000" dirty="0">
                <a:latin typeface="Arial" panose="020B0604020202020204" pitchFamily="34" charset="0"/>
                <a:cs typeface="Arial" panose="020B0604020202020204" pitchFamily="34" charset="0"/>
              </a:rPr>
              <a:t>Fig.3. Porewater sulfate concentrations at GCReW, Goodwin Islands, and MoneyStump across zones.  </a:t>
            </a:r>
          </a:p>
        </p:txBody>
      </p:sp>
      <p:sp>
        <p:nvSpPr>
          <p:cNvPr id="74" name="TextBox 73">
            <a:extLst>
              <a:ext uri="{FF2B5EF4-FFF2-40B4-BE49-F238E27FC236}">
                <a16:creationId xmlns:a16="http://schemas.microsoft.com/office/drawing/2014/main" id="{BD637174-7466-411A-858D-BD15F3577003}"/>
              </a:ext>
            </a:extLst>
          </p:cNvPr>
          <p:cNvSpPr txBox="1"/>
          <p:nvPr/>
        </p:nvSpPr>
        <p:spPr>
          <a:xfrm>
            <a:off x="22558103" y="15370762"/>
            <a:ext cx="8341111" cy="646331"/>
          </a:xfrm>
          <a:prstGeom prst="rect">
            <a:avLst/>
          </a:prstGeom>
          <a:noFill/>
        </p:spPr>
        <p:txBody>
          <a:bodyPr wrap="square">
            <a:spAutoFit/>
          </a:bodyPr>
          <a:lstStyle/>
          <a:p>
            <a:pPr marL="152400" lvl="0" algn="l" rtl="0">
              <a:lnSpc>
                <a:spcPct val="90000"/>
              </a:lnSpc>
              <a:spcBef>
                <a:spcPts val="1000"/>
              </a:spcBef>
              <a:spcAft>
                <a:spcPts val="0"/>
              </a:spcAft>
              <a:buSzPts val="2400"/>
            </a:pPr>
            <a:r>
              <a:rPr lang="en-US" sz="2000" dirty="0">
                <a:latin typeface="Arial" panose="020B0604020202020204" pitchFamily="34" charset="0"/>
                <a:cs typeface="Arial" panose="020B0604020202020204" pitchFamily="34" charset="0"/>
              </a:rPr>
              <a:t>Fig.4. Soil CH4 fluxes at GCReW, Goodwin Islands, and MoneyStump across zones. Measured with Licor LI-7810 and Licor Smart Chamber.   </a:t>
            </a:r>
          </a:p>
        </p:txBody>
      </p:sp>
      <p:grpSp>
        <p:nvGrpSpPr>
          <p:cNvPr id="66" name="Group 65">
            <a:extLst>
              <a:ext uri="{FF2B5EF4-FFF2-40B4-BE49-F238E27FC236}">
                <a16:creationId xmlns:a16="http://schemas.microsoft.com/office/drawing/2014/main" id="{D87C11E5-2298-44CF-81C1-66D208E62AD7}"/>
              </a:ext>
            </a:extLst>
          </p:cNvPr>
          <p:cNvGrpSpPr/>
          <p:nvPr/>
        </p:nvGrpSpPr>
        <p:grpSpPr>
          <a:xfrm>
            <a:off x="29031267" y="3530627"/>
            <a:ext cx="3735894" cy="1355757"/>
            <a:chOff x="29059166" y="3263369"/>
            <a:chExt cx="3735894" cy="1355757"/>
          </a:xfrm>
        </p:grpSpPr>
        <p:sp>
          <p:nvSpPr>
            <p:cNvPr id="61" name="TextBox 60">
              <a:extLst>
                <a:ext uri="{FF2B5EF4-FFF2-40B4-BE49-F238E27FC236}">
                  <a16:creationId xmlns:a16="http://schemas.microsoft.com/office/drawing/2014/main" id="{CB96F309-D5E3-4244-BCB9-D29B8F9974D8}"/>
                </a:ext>
              </a:extLst>
            </p:cNvPr>
            <p:cNvSpPr txBox="1"/>
            <p:nvPr/>
          </p:nvSpPr>
          <p:spPr>
            <a:xfrm>
              <a:off x="29727803" y="3263369"/>
              <a:ext cx="3067257" cy="1138773"/>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wilsonsj@si.edu</a:t>
              </a:r>
            </a:p>
            <a:p>
              <a:endParaRPr lang="en-US" sz="18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@stephscience</a:t>
              </a:r>
            </a:p>
          </p:txBody>
        </p:sp>
        <p:pic>
          <p:nvPicPr>
            <p:cNvPr id="62" name="Picture 61">
              <a:extLst>
                <a:ext uri="{FF2B5EF4-FFF2-40B4-BE49-F238E27FC236}">
                  <a16:creationId xmlns:a16="http://schemas.microsoft.com/office/drawing/2014/main" id="{D02F3F1E-BE88-4949-B5F2-EB5D3E138510}"/>
                </a:ext>
              </a:extLst>
            </p:cNvPr>
            <p:cNvPicPr>
              <a:picLocks noChangeAspect="1"/>
            </p:cNvPicPr>
            <p:nvPr/>
          </p:nvPicPr>
          <p:blipFill>
            <a:blip r:embed="rId11"/>
            <a:stretch>
              <a:fillRect/>
            </a:stretch>
          </p:blipFill>
          <p:spPr>
            <a:xfrm>
              <a:off x="29225053" y="3264378"/>
              <a:ext cx="546550" cy="546550"/>
            </a:xfrm>
            <a:prstGeom prst="rect">
              <a:avLst/>
            </a:prstGeom>
          </p:spPr>
        </p:pic>
        <p:pic>
          <p:nvPicPr>
            <p:cNvPr id="64" name="Picture 63">
              <a:extLst>
                <a:ext uri="{FF2B5EF4-FFF2-40B4-BE49-F238E27FC236}">
                  <a16:creationId xmlns:a16="http://schemas.microsoft.com/office/drawing/2014/main" id="{7FD97532-C086-48BF-9231-5EF69E5B4947}"/>
                </a:ext>
              </a:extLst>
            </p:cNvPr>
            <p:cNvPicPr>
              <a:picLocks noChangeAspect="1"/>
            </p:cNvPicPr>
            <p:nvPr/>
          </p:nvPicPr>
          <p:blipFill>
            <a:blip r:embed="rId12">
              <a:extLst>
                <a:ext uri="{BEBA8EAE-BF5A-486C-A8C5-ECC9F3942E4B}">
                  <a14:imgProps xmlns:a14="http://schemas.microsoft.com/office/drawing/2010/main">
                    <a14:imgLayer r:embed="rId13">
                      <a14:imgEffect>
                        <a14:backgroundRemoval t="10000" b="90000" l="10000" r="90000"/>
                      </a14:imgEffect>
                    </a14:imgLayer>
                  </a14:imgProps>
                </a:ext>
              </a:extLst>
            </a:blip>
            <a:stretch>
              <a:fillRect/>
            </a:stretch>
          </p:blipFill>
          <p:spPr>
            <a:xfrm>
              <a:off x="29059166" y="3740802"/>
              <a:ext cx="878324" cy="878324"/>
            </a:xfrm>
            <a:prstGeom prst="rect">
              <a:avLst/>
            </a:prstGeom>
          </p:spPr>
        </p:pic>
      </p:grpSp>
      <p:sp>
        <p:nvSpPr>
          <p:cNvPr id="65" name="TextBox 64">
            <a:extLst>
              <a:ext uri="{FF2B5EF4-FFF2-40B4-BE49-F238E27FC236}">
                <a16:creationId xmlns:a16="http://schemas.microsoft.com/office/drawing/2014/main" id="{6AB090A0-5AAE-4AD6-80E3-52DF21C6A147}"/>
              </a:ext>
            </a:extLst>
          </p:cNvPr>
          <p:cNvSpPr txBox="1"/>
          <p:nvPr/>
        </p:nvSpPr>
        <p:spPr>
          <a:xfrm>
            <a:off x="29197154" y="2872011"/>
            <a:ext cx="2924069" cy="569387"/>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GC42J-0826</a:t>
            </a:r>
          </a:p>
        </p:txBody>
      </p:sp>
    </p:spTree>
    <p:extLst>
      <p:ext uri="{BB962C8B-B14F-4D97-AF65-F5344CB8AC3E}">
        <p14:creationId xmlns:p14="http://schemas.microsoft.com/office/powerpoint/2010/main" val="846850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10414</TotalTime>
  <Words>787</Words>
  <Application>Microsoft Office PowerPoint</Application>
  <PresentationFormat>Custom</PresentationFormat>
  <Paragraphs>62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Arial Narrow</vt:lpstr>
      <vt:lpstr>Calibri</vt:lpstr>
      <vt:lpstr>Office Theme</vt:lpstr>
      <vt:lpstr>Beneath the Ghost Forest: Biogeochemistry and Function in Soils as they Transition from Coastal Forest to Wetland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Wilson, Stephanie</cp:lastModifiedBy>
  <cp:revision>52</cp:revision>
  <cp:lastPrinted>2022-12-08T16:51:15Z</cp:lastPrinted>
  <dcterms:created xsi:type="dcterms:W3CDTF">2012-11-30T02:20:55Z</dcterms:created>
  <dcterms:modified xsi:type="dcterms:W3CDTF">2022-12-09T20:56:07Z</dcterms:modified>
</cp:coreProperties>
</file>