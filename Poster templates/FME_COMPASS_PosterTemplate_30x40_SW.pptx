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27432000" cy="36576000"/>
  <p:notesSz cx="6858000" cy="9144000"/>
  <p:defaultTextStyle>
    <a:defPPr>
      <a:defRPr lang="en-US"/>
    </a:defPPr>
    <a:lvl1pPr marL="0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1pPr>
    <a:lvl2pPr marL="783755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2pPr>
    <a:lvl3pPr marL="1567510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3pPr>
    <a:lvl4pPr marL="2351266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4pPr>
    <a:lvl5pPr marL="3135021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5pPr>
    <a:lvl6pPr marL="3918776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6pPr>
    <a:lvl7pPr marL="4702531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7pPr>
    <a:lvl8pPr marL="5486286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8pPr>
    <a:lvl9pPr marL="6270041" algn="l" defTabSz="1567510" rtl="0" eaLnBrk="1" latinLnBrk="0" hangingPunct="1">
      <a:defRPr sz="3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86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19758"/>
    <a:srgbClr val="75B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55E1C1-BB93-694E-AB97-F67020893064}" v="24" dt="2024-02-12T18:38:41.4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0535"/>
    <p:restoredTop sz="94681"/>
  </p:normalViewPr>
  <p:slideViewPr>
    <p:cSldViewPr>
      <p:cViewPr>
        <p:scale>
          <a:sx n="20" d="100"/>
          <a:sy n="20" d="100"/>
        </p:scale>
        <p:origin x="2088" y="-30"/>
      </p:cViewPr>
      <p:guideLst>
        <p:guide orient="horz" pos="11520"/>
        <p:guide pos="86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7BD97-90D8-3541-9414-B17D17D02539}" type="datetimeFigureOut">
              <a:rPr lang="en-US" smtClean="0"/>
              <a:t>3/28/2024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32DB95-ECDB-0847-8712-29974AF33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69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43125" y="685800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/>
              <a:t>• </a:t>
            </a:r>
            <a:r>
              <a:rPr lang="en-US" baseline="0" dirty="0"/>
              <a:t>Contact Digital Duplicating (375-2969, http://</a:t>
            </a:r>
            <a:r>
              <a:rPr lang="en-US" baseline="0" dirty="0" err="1"/>
              <a:t>digitalduplicating.pnl.gov</a:t>
            </a:r>
            <a:r>
              <a:rPr lang="en-US" baseline="0" dirty="0"/>
              <a:t>) to order poster printing and finishing services for your completed poster design.</a:t>
            </a:r>
          </a:p>
          <a:p>
            <a:r>
              <a:rPr lang="en-US" baseline="0" dirty="0"/>
              <a:t>• Remember to have your poster cleared for public display/distribution through the ERICA Information Release system (http://</a:t>
            </a:r>
            <a:r>
              <a:rPr lang="en-US" baseline="0" dirty="0" err="1"/>
              <a:t>erica.pnl.gov</a:t>
            </a:r>
            <a:r>
              <a:rPr lang="en-US" baseline="0"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32DB95-ECDB-0847-8712-29974AF33C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165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03672AAF-4B6B-9046-B08E-E3EDCC2CB6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49722" y="1130300"/>
            <a:ext cx="25603200" cy="1951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>
              <a:defRPr sz="5400" b="1"/>
            </a:lvl1pPr>
          </a:lstStyle>
          <a:p>
            <a:r>
              <a:rPr lang="en-US" dirty="0"/>
              <a:t>Biogeochemistry and Function across the Terrestrial-Aquatic Interface: Transition Zones Present Unique and Non-Conservative Behavior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658E99-2B7E-A94A-AE07-8B6946534E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49721" y="3282436"/>
            <a:ext cx="25593479" cy="1365764"/>
          </a:xfrm>
          <a:prstGeom prst="rect">
            <a:avLst/>
          </a:prstGeom>
        </p:spPr>
        <p:txBody>
          <a:bodyPr/>
          <a:lstStyle>
            <a:lvl1pPr>
              <a:defRPr sz="2200">
                <a:latin typeface="+mn-lt"/>
              </a:defRPr>
            </a:lvl1pPr>
          </a:lstStyle>
          <a:p>
            <a:pPr lvl="0"/>
            <a:r>
              <a:rPr lang="en-US" dirty="0"/>
              <a:t>Stephanie J. Wilson1*, Patrick Megonigal1, Fausto Machado-Silva2, Roberta Bittencourt Peixoto2, Matthew Kovach2, Leticia Sandoval2, Roy Rich1, Alice Stearns1, Evan Phillips1, Peter Regier3, Allison Myers-Pigg3, Stephanie Pennington3, Anya Hopple1, Kendalynn A. Morris3, Nate McDowell3, Ben Bond-Lamberty3, Mike Weintraub2, Nick Ward3, Ken Kemner4, and Vanessa Bailey3</a:t>
            </a:r>
          </a:p>
          <a:p>
            <a:pPr lvl="0"/>
            <a:endParaRPr lang="en-US" dirty="0"/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Smithsonian Environmental Research Center, Edgewater, MD; </a:t>
            </a:r>
            <a:r>
              <a:rPr lang="en-US" sz="1800" b="0" i="0" u="none" strike="noStrike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University of Toledo, Toledo, OH, USA; </a:t>
            </a:r>
            <a:r>
              <a:rPr lang="en-US" sz="1800" b="0" i="0" u="none" strike="noStrike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Pacific Northwest National Laboratory, Richland, WA; </a:t>
            </a:r>
            <a:r>
              <a:rPr lang="en-US" sz="1800" b="0" i="0" u="none" strike="noStrike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Argonne National Laboratory, Lamont, IL</a:t>
            </a:r>
            <a:endParaRPr lang="en-US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C0CC5A-BCC7-7A40-B8AC-3C8CB9773C9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49722" y="4906559"/>
            <a:ext cx="12344400" cy="8686799"/>
          </a:xfrm>
          <a:prstGeom prst="rect">
            <a:avLst/>
          </a:prstGeom>
        </p:spPr>
        <p:txBody>
          <a:bodyPr/>
          <a:lstStyle>
            <a:lvl1pPr algn="l">
              <a:defRPr sz="2800" b="0">
                <a:solidFill>
                  <a:schemeClr val="tx1"/>
                </a:solidFill>
              </a:defRPr>
            </a:lvl1pPr>
          </a:lstStyle>
          <a:p>
            <a:pPr algn="ctr" rtl="0"/>
            <a:r>
              <a:rPr lang="en-US" sz="3200" b="1" i="0" u="none" strike="noStrike" kern="1200" baseline="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68F935FF-E10C-FFC5-69DA-C2A6123D4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207361" y="4906559"/>
            <a:ext cx="12435840" cy="8686799"/>
          </a:xfrm>
          <a:prstGeom prst="rect">
            <a:avLst/>
          </a:prstGeom>
        </p:spPr>
        <p:txBody>
          <a:bodyPr/>
          <a:lstStyle>
            <a:lvl1pPr algn="ctr">
              <a:defRPr sz="3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The availability of redox sensitive is driven by soil moisture; saline surface water is a source of sulfate in the mid-Atlantic. </a:t>
            </a:r>
          </a:p>
          <a:p>
            <a:pPr lvl="0"/>
            <a:endParaRPr 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01A52ABB-BD90-CAC1-C869-D7B6CFD31FD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49722" y="14285925"/>
            <a:ext cx="12344400" cy="8686800"/>
          </a:xfrm>
          <a:prstGeom prst="rect">
            <a:avLst/>
          </a:prstGeom>
        </p:spPr>
        <p:txBody>
          <a:bodyPr/>
          <a:lstStyle>
            <a:lvl1pPr algn="ctr">
              <a:defRPr sz="3200" b="1" i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We monitor transects including upland coastal forest, forest transitioning to wetland, and wetlands in two study regions. </a:t>
            </a:r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3507BECC-C81A-C7FF-38FF-A990C25D77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207361" y="14285925"/>
            <a:ext cx="12435840" cy="8696718"/>
          </a:xfrm>
          <a:prstGeom prst="rect">
            <a:avLst/>
          </a:prstGeom>
        </p:spPr>
        <p:txBody>
          <a:bodyPr/>
          <a:lstStyle>
            <a:lvl1pPr algn="ctr">
              <a:defRPr sz="3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Redox gradients observed across zones are driven by soil moisture and hydrology. </a:t>
            </a: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5505AF57-180B-952E-D778-2D4468FD79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49722" y="23665292"/>
            <a:ext cx="12344400" cy="8686800"/>
          </a:xfrm>
          <a:prstGeom prst="rect">
            <a:avLst/>
          </a:prstGeom>
        </p:spPr>
        <p:txBody>
          <a:bodyPr/>
          <a:lstStyle>
            <a:lvl1pPr algn="ctr">
              <a:defRPr sz="3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Soil moisture and hydrology vary across the transects, inundation time and moisture increase from upland to wetland. 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6C3E73A2-68E7-4E25-CC87-680F195E64F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207361" y="23665292"/>
            <a:ext cx="12435840" cy="8686800"/>
          </a:xfrm>
          <a:prstGeom prst="rect">
            <a:avLst/>
          </a:prstGeom>
        </p:spPr>
        <p:txBody>
          <a:bodyPr/>
          <a:lstStyle>
            <a:lvl1pPr algn="ctr">
              <a:defRPr sz="3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Methane emissions increase from upland to wetland across the salinity gradient, suggesting inundation is the major driver of ecosystem function.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DAD434-E52C-21EF-CF89-8E5DB79F9485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48"/>
          <a:stretch/>
        </p:blipFill>
        <p:spPr bwMode="auto">
          <a:xfrm>
            <a:off x="3082804" y="7767419"/>
            <a:ext cx="8822122" cy="5825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99D9701-1F8D-693C-7F7E-318B81E968D2}"/>
              </a:ext>
            </a:extLst>
          </p:cNvPr>
          <p:cNvSpPr txBox="1"/>
          <p:nvPr userDrawn="1"/>
        </p:nvSpPr>
        <p:spPr>
          <a:xfrm>
            <a:off x="1136893" y="4848516"/>
            <a:ext cx="12344400" cy="4021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Hypothesis: 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is a hierarchical structure to </a:t>
            </a:r>
            <a:r>
              <a:rPr lang="en-US" sz="3200" b="0" i="0" u="sng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spatial 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variation in ecosystem structure and function at the coastal TAI that is set by:</a:t>
            </a:r>
            <a:endParaRPr lang="en-US" sz="32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1) the 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depth and duration of soil saturation </a:t>
            </a:r>
            <a:endParaRPr lang="en-US" sz="32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2) the abundance of 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redox-sensitive elements</a:t>
            </a: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3) their</a:t>
            </a:r>
            <a:r>
              <a:rPr lang="en-US" sz="3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interactions with plant traits</a:t>
            </a: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endParaRPr lang="en-US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D448C49-0C1B-E954-193D-E55443DB7E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2804" y="15873275"/>
            <a:ext cx="7869605" cy="4723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C23AF20-6302-6F05-533A-18008226A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343536" y="15417797"/>
            <a:ext cx="12163490" cy="63906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12A36F-93E9-7EED-6722-54D07738DD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t="10791"/>
          <a:stretch/>
        </p:blipFill>
        <p:spPr>
          <a:xfrm>
            <a:off x="14367599" y="6593013"/>
            <a:ext cx="11759198" cy="5748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7BFD72-95EA-B95D-4E34-C555984AA9C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0425281" y="25578321"/>
            <a:ext cx="6163143" cy="64472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56A4D9-E30B-7880-F8D4-F58E8DB1862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4109611" y="26060400"/>
            <a:ext cx="6249914" cy="49249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00DBE1F-DBA4-432F-2CE7-9A02370754F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192876" y="25179579"/>
            <a:ext cx="11647640" cy="613862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0F-8038-D6CE-F940-82651B090D45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3734424" y="20736706"/>
            <a:ext cx="7147086" cy="22075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98C78C-3D1C-E7D5-81A3-C84A617ED994}"/>
              </a:ext>
            </a:extLst>
          </p:cNvPr>
          <p:cNvSpPr txBox="1"/>
          <p:nvPr userDrawn="1"/>
        </p:nvSpPr>
        <p:spPr>
          <a:xfrm>
            <a:off x="14415480" y="21871801"/>
            <a:ext cx="5638176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Maybe we can get lake </a:t>
            </a:r>
            <a:r>
              <a:rPr lang="en-US" dirty="0" err="1">
                <a:solidFill>
                  <a:schemeClr val="accent1"/>
                </a:solidFill>
              </a:rPr>
              <a:t>erie</a:t>
            </a:r>
            <a:r>
              <a:rPr lang="en-US" dirty="0">
                <a:solidFill>
                  <a:schemeClr val="accent1"/>
                </a:solidFill>
              </a:rPr>
              <a:t> redox profiles as well?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0A0260-FD8F-5425-24CC-3D54BD120A1D}"/>
              </a:ext>
            </a:extLst>
          </p:cNvPr>
          <p:cNvSpPr txBox="1"/>
          <p:nvPr userDrawn="1"/>
        </p:nvSpPr>
        <p:spPr>
          <a:xfrm>
            <a:off x="14311452" y="12510460"/>
            <a:ext cx="86247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If there is a redox element of interest in LE we could put here? Also need to add SWH to this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EFDF2F-6EC7-FE8C-EDAA-E8D55397FA64}"/>
              </a:ext>
            </a:extLst>
          </p:cNvPr>
          <p:cNvSpPr txBox="1"/>
          <p:nvPr userDrawn="1"/>
        </p:nvSpPr>
        <p:spPr>
          <a:xfrm>
            <a:off x="1049720" y="31502342"/>
            <a:ext cx="7408479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Maybe we can get lake </a:t>
            </a:r>
            <a:r>
              <a:rPr lang="en-US" dirty="0" err="1">
                <a:solidFill>
                  <a:schemeClr val="accent1"/>
                </a:solidFill>
              </a:rPr>
              <a:t>erie</a:t>
            </a:r>
            <a:r>
              <a:rPr lang="en-US" dirty="0">
                <a:solidFill>
                  <a:schemeClr val="accent1"/>
                </a:solidFill>
              </a:rPr>
              <a:t> moisture or water level  here rather than just CB sites? </a:t>
            </a:r>
          </a:p>
        </p:txBody>
      </p:sp>
    </p:spTree>
    <p:extLst>
      <p:ext uri="{BB962C8B-B14F-4D97-AF65-F5344CB8AC3E}">
        <p14:creationId xmlns:p14="http://schemas.microsoft.com/office/powerpoint/2010/main" val="2303059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logo&#10;&#10;Description automatically generated">
            <a:extLst>
              <a:ext uri="{FF2B5EF4-FFF2-40B4-BE49-F238E27FC236}">
                <a16:creationId xmlns:a16="http://schemas.microsoft.com/office/drawing/2014/main" id="{0F49A07A-4DA3-E1E0-D581-7A2A805EFE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61200"/>
            <a:ext cx="27432000" cy="41148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E3416D-97DD-7011-DCC8-33B99E9A93CF}"/>
              </a:ext>
            </a:extLst>
          </p:cNvPr>
          <p:cNvSpPr txBox="1"/>
          <p:nvPr userDrawn="1"/>
        </p:nvSpPr>
        <p:spPr>
          <a:xfrm rot="16200000">
            <a:off x="15331571" y="20856195"/>
            <a:ext cx="233817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57B7C4-016E-7531-3A34-2BCA201B98EB}"/>
              </a:ext>
            </a:extLst>
          </p:cNvPr>
          <p:cNvSpPr/>
          <p:nvPr userDrawn="1"/>
        </p:nvSpPr>
        <p:spPr>
          <a:xfrm>
            <a:off x="0" y="0"/>
            <a:ext cx="27432000" cy="457200"/>
          </a:xfrm>
          <a:prstGeom prst="rect">
            <a:avLst/>
          </a:prstGeom>
          <a:solidFill>
            <a:srgbClr val="419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167"/>
          </a:p>
        </p:txBody>
      </p:sp>
    </p:spTree>
    <p:extLst>
      <p:ext uri="{BB962C8B-B14F-4D97-AF65-F5344CB8AC3E}">
        <p14:creationId xmlns:p14="http://schemas.microsoft.com/office/powerpoint/2010/main" val="396846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2612569" rtl="0" eaLnBrk="1" latinLnBrk="0" hangingPunct="1">
        <a:spcBef>
          <a:spcPct val="0"/>
        </a:spcBef>
        <a:buNone/>
        <a:defRPr sz="16000" kern="1200">
          <a:solidFill>
            <a:srgbClr val="419758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2612569" rtl="0" eaLnBrk="1" latinLnBrk="0" hangingPunct="1">
        <a:spcBef>
          <a:spcPct val="20000"/>
        </a:spcBef>
        <a:buFont typeface="Arial" pitchFamily="34" charset="0"/>
        <a:buNone/>
        <a:defRPr sz="6167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122712" indent="-816428" algn="l" defTabSz="2612569" rtl="0" eaLnBrk="1" latinLnBrk="0" hangingPunct="1">
        <a:spcBef>
          <a:spcPct val="20000"/>
        </a:spcBef>
        <a:buFont typeface="Arial" pitchFamily="34" charset="0"/>
        <a:buChar char="–"/>
        <a:defRPr sz="8000" kern="1200">
          <a:solidFill>
            <a:schemeClr val="tx1"/>
          </a:solidFill>
          <a:latin typeface="+mn-lt"/>
          <a:ea typeface="+mn-ea"/>
          <a:cs typeface="+mn-cs"/>
        </a:defRPr>
      </a:lvl2pPr>
      <a:lvl3pPr marL="3265712" indent="-653143" algn="l" defTabSz="2612569" rtl="0" eaLnBrk="1" latinLnBrk="0" hangingPunct="1">
        <a:spcBef>
          <a:spcPct val="20000"/>
        </a:spcBef>
        <a:buFont typeface="Arial" pitchFamily="34" charset="0"/>
        <a:buChar char="•"/>
        <a:defRPr sz="6833" kern="1200">
          <a:solidFill>
            <a:schemeClr val="tx1"/>
          </a:solidFill>
          <a:latin typeface="+mn-lt"/>
          <a:ea typeface="+mn-ea"/>
          <a:cs typeface="+mn-cs"/>
        </a:defRPr>
      </a:lvl3pPr>
      <a:lvl4pPr marL="4571996" indent="-653143" algn="l" defTabSz="2612569" rtl="0" eaLnBrk="1" latinLnBrk="0" hangingPunct="1">
        <a:spcBef>
          <a:spcPct val="20000"/>
        </a:spcBef>
        <a:buFont typeface="Arial" pitchFamily="34" charset="0"/>
        <a:buChar char="–"/>
        <a:defRPr sz="5833" kern="1200">
          <a:solidFill>
            <a:schemeClr val="tx1"/>
          </a:solidFill>
          <a:latin typeface="+mn-lt"/>
          <a:ea typeface="+mn-ea"/>
          <a:cs typeface="+mn-cs"/>
        </a:defRPr>
      </a:lvl4pPr>
      <a:lvl5pPr marL="5878281" indent="-653143" algn="l" defTabSz="2612569" rtl="0" eaLnBrk="1" latinLnBrk="0" hangingPunct="1">
        <a:spcBef>
          <a:spcPct val="20000"/>
        </a:spcBef>
        <a:buFont typeface="Arial" pitchFamily="34" charset="0"/>
        <a:buChar char="»"/>
        <a:defRPr sz="5833" kern="1200">
          <a:solidFill>
            <a:schemeClr val="tx1"/>
          </a:solidFill>
          <a:latin typeface="+mn-lt"/>
          <a:ea typeface="+mn-ea"/>
          <a:cs typeface="+mn-cs"/>
        </a:defRPr>
      </a:lvl5pPr>
      <a:lvl6pPr marL="7184565" indent="-653143" algn="l" defTabSz="2612569" rtl="0" eaLnBrk="1" latinLnBrk="0" hangingPunct="1">
        <a:spcBef>
          <a:spcPct val="20000"/>
        </a:spcBef>
        <a:buFont typeface="Arial" pitchFamily="34" charset="0"/>
        <a:buChar char="•"/>
        <a:defRPr sz="5833" kern="1200">
          <a:solidFill>
            <a:schemeClr val="tx1"/>
          </a:solidFill>
          <a:latin typeface="+mn-lt"/>
          <a:ea typeface="+mn-ea"/>
          <a:cs typeface="+mn-cs"/>
        </a:defRPr>
      </a:lvl6pPr>
      <a:lvl7pPr marL="8490850" indent="-653143" algn="l" defTabSz="2612569" rtl="0" eaLnBrk="1" latinLnBrk="0" hangingPunct="1">
        <a:spcBef>
          <a:spcPct val="20000"/>
        </a:spcBef>
        <a:buFont typeface="Arial" pitchFamily="34" charset="0"/>
        <a:buChar char="•"/>
        <a:defRPr sz="5833" kern="1200">
          <a:solidFill>
            <a:schemeClr val="tx1"/>
          </a:solidFill>
          <a:latin typeface="+mn-lt"/>
          <a:ea typeface="+mn-ea"/>
          <a:cs typeface="+mn-cs"/>
        </a:defRPr>
      </a:lvl7pPr>
      <a:lvl8pPr marL="9797136" indent="-653143" algn="l" defTabSz="2612569" rtl="0" eaLnBrk="1" latinLnBrk="0" hangingPunct="1">
        <a:spcBef>
          <a:spcPct val="20000"/>
        </a:spcBef>
        <a:buFont typeface="Arial" pitchFamily="34" charset="0"/>
        <a:buChar char="•"/>
        <a:defRPr sz="5833" kern="1200">
          <a:solidFill>
            <a:schemeClr val="tx1"/>
          </a:solidFill>
          <a:latin typeface="+mn-lt"/>
          <a:ea typeface="+mn-ea"/>
          <a:cs typeface="+mn-cs"/>
        </a:defRPr>
      </a:lvl8pPr>
      <a:lvl9pPr marL="11103420" indent="-653143" algn="l" defTabSz="2612569" rtl="0" eaLnBrk="1" latinLnBrk="0" hangingPunct="1">
        <a:spcBef>
          <a:spcPct val="20000"/>
        </a:spcBef>
        <a:buFont typeface="Arial" pitchFamily="34" charset="0"/>
        <a:buChar char="•"/>
        <a:defRPr sz="58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1pPr>
      <a:lvl2pPr marL="1306284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2pPr>
      <a:lvl3pPr marL="2612569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3pPr>
      <a:lvl4pPr marL="3918855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4pPr>
      <a:lvl5pPr marL="5225140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5pPr>
      <a:lvl6pPr marL="6531424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6pPr>
      <a:lvl7pPr marL="7837708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7pPr>
      <a:lvl8pPr marL="9143993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8pPr>
      <a:lvl9pPr marL="10450277" algn="l" defTabSz="2612569" rtl="0" eaLnBrk="1" latinLnBrk="0" hangingPunct="1">
        <a:defRPr sz="51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 rot="16200000">
            <a:off x="-17145000" y="32385000"/>
            <a:ext cx="7620000" cy="381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Arial"/>
                <a:cs typeface="Arial"/>
              </a:rPr>
              <a:t>File Name  //  File Date  //  PNNL-SA-#####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9E8464-81CB-92D3-5AC7-A6B607630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65B41-DAA2-DCC9-32E9-7E00E19C2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49C79F4-8D4A-AFB2-B2FB-211C124A5D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C04CB1-F43E-977B-F1AB-6CF939D47F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19D199-E17E-D5F1-8E33-EFB3AA0EEC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D50DBC-0E3A-0321-B973-95AEB248359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70C158-B8B1-73B0-0C7A-54B956AEA3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9ABED5-4B4C-6FD4-A31A-184A2FDAA0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079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64</Words>
  <Application>Microsoft Office PowerPoint</Application>
  <PresentationFormat>Custom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Narrow</vt:lpstr>
      <vt:lpstr>Calibri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Wilson, Stephanie</cp:lastModifiedBy>
  <cp:revision>43</cp:revision>
  <dcterms:created xsi:type="dcterms:W3CDTF">2012-11-30T02:20:55Z</dcterms:created>
  <dcterms:modified xsi:type="dcterms:W3CDTF">2024-03-28T09:08:06Z</dcterms:modified>
</cp:coreProperties>
</file>