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7788D4F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4747200" cy="35386963"/>
  <p:notesSz cx="6858000" cy="9144000"/>
  <p:defaultTextStyle>
    <a:defPPr>
      <a:defRPr lang="en-US"/>
    </a:defPPr>
    <a:lvl1pPr marL="0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1pPr>
    <a:lvl2pPr marL="1001827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2pPr>
    <a:lvl3pPr marL="2003654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3pPr>
    <a:lvl4pPr marL="3005483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4pPr>
    <a:lvl5pPr marL="4007310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5pPr>
    <a:lvl6pPr marL="5009137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6pPr>
    <a:lvl7pPr marL="6010964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7pPr>
    <a:lvl8pPr marL="7012791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8pPr>
    <a:lvl9pPr marL="8014618" algn="l" defTabSz="2003654" rtl="0" eaLnBrk="1" latinLnBrk="0" hangingPunct="1">
      <a:defRPr sz="396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46" userDrawn="1">
          <p15:clr>
            <a:srgbClr val="A4A3A4"/>
          </p15:clr>
        </p15:guide>
        <p15:guide id="2" pos="109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137B73-C207-1407-898B-797CE70D2312}" name="Read, Zoe" initials="ZR" userId="S::ReadZ@SI.EDU::b08cd0fd-26d2-470b-8ec0-c6e6cb2a79b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BFE2"/>
    <a:srgbClr val="4197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1ACA4-D6F5-4BF7-A9F8-CB4C4CECE084}" v="42" dt="2026-03-10T20:30:30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462" autoAdjust="0"/>
    <p:restoredTop sz="96247" autoAdjust="0"/>
  </p:normalViewPr>
  <p:slideViewPr>
    <p:cSldViewPr>
      <p:cViewPr>
        <p:scale>
          <a:sx n="59" d="100"/>
          <a:sy n="59" d="100"/>
        </p:scale>
        <p:origin x="42" y="-6066"/>
      </p:cViewPr>
      <p:guideLst>
        <p:guide orient="horz" pos="11146"/>
        <p:guide pos="109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ad, Zoe" userId="b08cd0fd-26d2-470b-8ec0-c6e6cb2a79bd" providerId="ADAL" clId="{5AEB2719-95A5-4ED2-9E0E-ED462BB10526}"/>
    <pc:docChg chg="undo custSel modSld">
      <pc:chgData name="Read, Zoe" userId="b08cd0fd-26d2-470b-8ec0-c6e6cb2a79bd" providerId="ADAL" clId="{5AEB2719-95A5-4ED2-9E0E-ED462BB10526}" dt="2026-03-10T20:32:06.465" v="2361" actId="1076"/>
      <pc:docMkLst>
        <pc:docMk/>
      </pc:docMkLst>
      <pc:sldChg chg="addSp delSp modSp mod">
        <pc:chgData name="Read, Zoe" userId="b08cd0fd-26d2-470b-8ec0-c6e6cb2a79bd" providerId="ADAL" clId="{5AEB2719-95A5-4ED2-9E0E-ED462BB10526}" dt="2026-03-10T20:32:06.465" v="2361" actId="1076"/>
        <pc:sldMkLst>
          <pc:docMk/>
          <pc:sldMk cId="2005456116" sldId="257"/>
        </pc:sldMkLst>
        <pc:spChg chg="mod">
          <ac:chgData name="Read, Zoe" userId="b08cd0fd-26d2-470b-8ec0-c6e6cb2a79bd" providerId="ADAL" clId="{5AEB2719-95A5-4ED2-9E0E-ED462BB10526}" dt="2026-03-06T17:08:42.361" v="157" actId="5793"/>
          <ac:spMkLst>
            <pc:docMk/>
            <pc:sldMk cId="2005456116" sldId="257"/>
            <ac:spMk id="2" creationId="{B60AF3C6-E87C-784C-EFEA-27D2ADCE070F}"/>
          </ac:spMkLst>
        </pc:spChg>
        <pc:spChg chg="mod">
          <ac:chgData name="Read, Zoe" userId="b08cd0fd-26d2-470b-8ec0-c6e6cb2a79bd" providerId="ADAL" clId="{5AEB2719-95A5-4ED2-9E0E-ED462BB10526}" dt="2026-03-06T17:01:57.063" v="153" actId="20577"/>
          <ac:spMkLst>
            <pc:docMk/>
            <pc:sldMk cId="2005456116" sldId="257"/>
            <ac:spMk id="3" creationId="{69275BAE-6112-7B97-7490-496A68DBDB86}"/>
          </ac:spMkLst>
        </pc:spChg>
        <pc:spChg chg="del mod">
          <ac:chgData name="Read, Zoe" userId="b08cd0fd-26d2-470b-8ec0-c6e6cb2a79bd" providerId="ADAL" clId="{5AEB2719-95A5-4ED2-9E0E-ED462BB10526}" dt="2026-03-10T20:22:26.675" v="1840" actId="478"/>
          <ac:spMkLst>
            <pc:docMk/>
            <pc:sldMk cId="2005456116" sldId="257"/>
            <ac:spMk id="4" creationId="{F1744425-34AA-4364-9092-1BDEEA96FD0B}"/>
          </ac:spMkLst>
        </pc:spChg>
        <pc:spChg chg="add mod">
          <ac:chgData name="Read, Zoe" userId="b08cd0fd-26d2-470b-8ec0-c6e6cb2a79bd" providerId="ADAL" clId="{5AEB2719-95A5-4ED2-9E0E-ED462BB10526}" dt="2026-03-10T20:25:30.086" v="2085" actId="1076"/>
          <ac:spMkLst>
            <pc:docMk/>
            <pc:sldMk cId="2005456116" sldId="257"/>
            <ac:spMk id="5" creationId="{611D73CC-38EE-87A4-659B-7AFB71426A3B}"/>
          </ac:spMkLst>
        </pc:spChg>
        <pc:spChg chg="add mod">
          <ac:chgData name="Read, Zoe" userId="b08cd0fd-26d2-470b-8ec0-c6e6cb2a79bd" providerId="ADAL" clId="{5AEB2719-95A5-4ED2-9E0E-ED462BB10526}" dt="2026-03-10T20:27:42.693" v="2312" actId="5793"/>
          <ac:spMkLst>
            <pc:docMk/>
            <pc:sldMk cId="2005456116" sldId="257"/>
            <ac:spMk id="7" creationId="{B580F8D7-E067-282C-0BEF-1FA899DCFD3B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2" creationId="{0C87B8A1-9733-67EB-E4E3-F2570D73F838}"/>
          </ac:spMkLst>
        </pc:spChg>
        <pc:spChg chg="mod">
          <ac:chgData name="Read, Zoe" userId="b08cd0fd-26d2-470b-8ec0-c6e6cb2a79bd" providerId="ADAL" clId="{5AEB2719-95A5-4ED2-9E0E-ED462BB10526}" dt="2026-03-10T20:20:11.421" v="1786" actId="1076"/>
          <ac:spMkLst>
            <pc:docMk/>
            <pc:sldMk cId="2005456116" sldId="257"/>
            <ac:spMk id="17" creationId="{2BD42464-D16B-3701-0C0F-271BDE66BAA5}"/>
          </ac:spMkLst>
        </pc:spChg>
        <pc:spChg chg="del mod">
          <ac:chgData name="Read, Zoe" userId="b08cd0fd-26d2-470b-8ec0-c6e6cb2a79bd" providerId="ADAL" clId="{5AEB2719-95A5-4ED2-9E0E-ED462BB10526}" dt="2026-03-10T20:18:41.004" v="1745" actId="478"/>
          <ac:spMkLst>
            <pc:docMk/>
            <pc:sldMk cId="2005456116" sldId="257"/>
            <ac:spMk id="21" creationId="{F4FC7A76-BFFB-5CD0-D1F0-8E4D815B1A87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25" creationId="{A8454ACA-A266-32A3-C891-C89EAA9E01CB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26" creationId="{484190F2-EFC3-A118-D2D7-FB24CCBD39B4}"/>
          </ac:spMkLst>
        </pc:spChg>
        <pc:spChg chg="mod">
          <ac:chgData name="Read, Zoe" userId="b08cd0fd-26d2-470b-8ec0-c6e6cb2a79bd" providerId="ADAL" clId="{5AEB2719-95A5-4ED2-9E0E-ED462BB10526}" dt="2026-03-10T20:20:11.421" v="1786" actId="1076"/>
          <ac:spMkLst>
            <pc:docMk/>
            <pc:sldMk cId="2005456116" sldId="257"/>
            <ac:spMk id="27" creationId="{E3FB73FF-BFA6-26DB-AA0A-F51D66FFA661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31" creationId="{9187A6BA-BC5B-ADEA-5C80-21A90D319C6D}"/>
          </ac:spMkLst>
        </pc:spChg>
        <pc:spChg chg="mod">
          <ac:chgData name="Read, Zoe" userId="b08cd0fd-26d2-470b-8ec0-c6e6cb2a79bd" providerId="ADAL" clId="{5AEB2719-95A5-4ED2-9E0E-ED462BB10526}" dt="2026-03-10T20:17:57.764" v="1739" actId="1076"/>
          <ac:spMkLst>
            <pc:docMk/>
            <pc:sldMk cId="2005456116" sldId="257"/>
            <ac:spMk id="1024" creationId="{534B1453-A12C-51C2-7D42-7A9A13707632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25" creationId="{9F20B42B-9512-BB49-4F59-11A4D0326422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26" creationId="{DE5C81FB-2A8D-A005-8B1C-169458704852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27" creationId="{09B9D4B3-825A-6240-B76A-180647AC14FF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28" creationId="{21EEE5BE-6B05-FC7D-1F1A-67A39BAA5CDA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29" creationId="{C7415B56-3138-683E-A33F-94BF1FC8C347}"/>
          </ac:spMkLst>
        </pc:spChg>
        <pc:spChg chg="mod">
          <ac:chgData name="Read, Zoe" userId="b08cd0fd-26d2-470b-8ec0-c6e6cb2a79bd" providerId="ADAL" clId="{5AEB2719-95A5-4ED2-9E0E-ED462BB10526}" dt="2026-03-10T20:22:48.981" v="1855" actId="1076"/>
          <ac:spMkLst>
            <pc:docMk/>
            <pc:sldMk cId="2005456116" sldId="257"/>
            <ac:spMk id="1030" creationId="{65E00C91-BBF6-45C7-C690-D1D7A6D871AE}"/>
          </ac:spMkLst>
        </pc:spChg>
        <pc:spChg chg="add mod">
          <ac:chgData name="Read, Zoe" userId="b08cd0fd-26d2-470b-8ec0-c6e6cb2a79bd" providerId="ADAL" clId="{5AEB2719-95A5-4ED2-9E0E-ED462BB10526}" dt="2026-03-10T20:17:53.899" v="1737" actId="20577"/>
          <ac:spMkLst>
            <pc:docMk/>
            <pc:sldMk cId="2005456116" sldId="257"/>
            <ac:spMk id="1033" creationId="{32C2827D-C730-B34A-4122-5BD22CBCDCCA}"/>
          </ac:spMkLst>
        </pc:spChg>
        <pc:spChg chg="add mod">
          <ac:chgData name="Read, Zoe" userId="b08cd0fd-26d2-470b-8ec0-c6e6cb2a79bd" providerId="ADAL" clId="{5AEB2719-95A5-4ED2-9E0E-ED462BB10526}" dt="2026-03-10T20:26:53.902" v="2251" actId="20577"/>
          <ac:spMkLst>
            <pc:docMk/>
            <pc:sldMk cId="2005456116" sldId="257"/>
            <ac:spMk id="1034" creationId="{3B019716-EAFE-3F05-01D8-F3689D302ED2}"/>
          </ac:spMkLst>
        </pc:spChg>
        <pc:spChg chg="add del mod">
          <ac:chgData name="Read, Zoe" userId="b08cd0fd-26d2-470b-8ec0-c6e6cb2a79bd" providerId="ADAL" clId="{5AEB2719-95A5-4ED2-9E0E-ED462BB10526}" dt="2026-03-10T20:22:30.580" v="1841" actId="478"/>
          <ac:spMkLst>
            <pc:docMk/>
            <pc:sldMk cId="2005456116" sldId="257"/>
            <ac:spMk id="1040" creationId="{8C956C30-65B3-1578-E320-9D8C8931FD35}"/>
          </ac:spMkLst>
        </pc:spChg>
        <pc:spChg chg="mod">
          <ac:chgData name="Read, Zoe" userId="b08cd0fd-26d2-470b-8ec0-c6e6cb2a79bd" providerId="ADAL" clId="{5AEB2719-95A5-4ED2-9E0E-ED462BB10526}" dt="2026-03-10T20:28:09.815" v="2317" actId="14100"/>
          <ac:spMkLst>
            <pc:docMk/>
            <pc:sldMk cId="2005456116" sldId="257"/>
            <ac:spMk id="1046" creationId="{3D22E29A-542C-2707-EE87-D32E923FD26A}"/>
          </ac:spMkLst>
        </pc:spChg>
        <pc:graphicFrameChg chg="mod modGraphic">
          <ac:chgData name="Read, Zoe" userId="b08cd0fd-26d2-470b-8ec0-c6e6cb2a79bd" providerId="ADAL" clId="{5AEB2719-95A5-4ED2-9E0E-ED462BB10526}" dt="2026-03-10T20:19:41.830" v="1779" actId="1076"/>
          <ac:graphicFrameMkLst>
            <pc:docMk/>
            <pc:sldMk cId="2005456116" sldId="257"/>
            <ac:graphicFrameMk id="20" creationId="{6EE1AE5B-A26D-71DD-8EF3-D283BC117F1C}"/>
          </ac:graphicFrameMkLst>
        </pc:graphicFrameChg>
        <pc:picChg chg="add mod">
          <ac:chgData name="Read, Zoe" userId="b08cd0fd-26d2-470b-8ec0-c6e6cb2a79bd" providerId="ADAL" clId="{5AEB2719-95A5-4ED2-9E0E-ED462BB10526}" dt="2026-03-10T20:16:18.043" v="1349" actId="1076"/>
          <ac:picMkLst>
            <pc:docMk/>
            <pc:sldMk cId="2005456116" sldId="257"/>
            <ac:picMk id="9" creationId="{09EDF015-AC84-7DA3-BD5A-225267C491D7}"/>
          </ac:picMkLst>
        </pc:picChg>
        <pc:picChg chg="add del mod">
          <ac:chgData name="Read, Zoe" userId="b08cd0fd-26d2-470b-8ec0-c6e6cb2a79bd" providerId="ADAL" clId="{5AEB2719-95A5-4ED2-9E0E-ED462BB10526}" dt="2026-03-09T12:17:31.600" v="905" actId="478"/>
          <ac:picMkLst>
            <pc:docMk/>
            <pc:sldMk cId="2005456116" sldId="257"/>
            <ac:picMk id="9" creationId="{FF3A475C-502A-AE3E-6697-DF5A24EADBA6}"/>
          </ac:picMkLst>
        </pc:picChg>
        <pc:picChg chg="add del mod">
          <ac:chgData name="Read, Zoe" userId="b08cd0fd-26d2-470b-8ec0-c6e6cb2a79bd" providerId="ADAL" clId="{5AEB2719-95A5-4ED2-9E0E-ED462BB10526}" dt="2026-03-10T12:41:59.878" v="906" actId="478"/>
          <ac:picMkLst>
            <pc:docMk/>
            <pc:sldMk cId="2005456116" sldId="257"/>
            <ac:picMk id="10" creationId="{0A86C89A-5889-65B9-1137-F480341B9783}"/>
          </ac:picMkLst>
        </pc:picChg>
        <pc:picChg chg="add mod modCrop">
          <ac:chgData name="Read, Zoe" userId="b08cd0fd-26d2-470b-8ec0-c6e6cb2a79bd" providerId="ADAL" clId="{5AEB2719-95A5-4ED2-9E0E-ED462BB10526}" dt="2026-03-10T20:31:55.296" v="2358" actId="1076"/>
          <ac:picMkLst>
            <pc:docMk/>
            <pc:sldMk cId="2005456116" sldId="257"/>
            <ac:picMk id="11" creationId="{0144416F-2A82-F7CC-0427-8A36932666F6}"/>
          </ac:picMkLst>
        </pc:picChg>
        <pc:picChg chg="add del mod">
          <ac:chgData name="Read, Zoe" userId="b08cd0fd-26d2-470b-8ec0-c6e6cb2a79bd" providerId="ADAL" clId="{5AEB2719-95A5-4ED2-9E0E-ED462BB10526}" dt="2026-03-10T20:04:32.275" v="1005" actId="478"/>
          <ac:picMkLst>
            <pc:docMk/>
            <pc:sldMk cId="2005456116" sldId="257"/>
            <ac:picMk id="13" creationId="{6D65798C-DAB9-914B-7ECA-E6D17BBC9E45}"/>
          </ac:picMkLst>
        </pc:picChg>
        <pc:picChg chg="add del mod modCrop">
          <ac:chgData name="Read, Zoe" userId="b08cd0fd-26d2-470b-8ec0-c6e6cb2a79bd" providerId="ADAL" clId="{5AEB2719-95A5-4ED2-9E0E-ED462BB10526}" dt="2026-03-10T20:25:16.564" v="2080" actId="478"/>
          <ac:picMkLst>
            <pc:docMk/>
            <pc:sldMk cId="2005456116" sldId="257"/>
            <ac:picMk id="14" creationId="{D874F7CA-9ADB-8489-D018-7E0521CCE737}"/>
          </ac:picMkLst>
        </pc:picChg>
        <pc:picChg chg="add mod ord modCrop">
          <ac:chgData name="Read, Zoe" userId="b08cd0fd-26d2-470b-8ec0-c6e6cb2a79bd" providerId="ADAL" clId="{5AEB2719-95A5-4ED2-9E0E-ED462BB10526}" dt="2026-03-10T20:32:06.465" v="2361" actId="1076"/>
          <ac:picMkLst>
            <pc:docMk/>
            <pc:sldMk cId="2005456116" sldId="257"/>
            <ac:picMk id="15" creationId="{6F1E99EB-549B-E9F4-C4C6-CCFBCE759AD8}"/>
          </ac:picMkLst>
        </pc:picChg>
        <pc:picChg chg="mod">
          <ac:chgData name="Read, Zoe" userId="b08cd0fd-26d2-470b-8ec0-c6e6cb2a79bd" providerId="ADAL" clId="{5AEB2719-95A5-4ED2-9E0E-ED462BB10526}" dt="2026-03-10T20:19:38.843" v="1778" actId="1076"/>
          <ac:picMkLst>
            <pc:docMk/>
            <pc:sldMk cId="2005456116" sldId="257"/>
            <ac:picMk id="19" creationId="{6F6CCBC1-FB78-D641-2558-44EE723465AE}"/>
          </ac:picMkLst>
        </pc:picChg>
        <pc:picChg chg="add del mod">
          <ac:chgData name="Read, Zoe" userId="b08cd0fd-26d2-470b-8ec0-c6e6cb2a79bd" providerId="ADAL" clId="{5AEB2719-95A5-4ED2-9E0E-ED462BB10526}" dt="2026-03-10T20:26:57.158" v="2252" actId="478"/>
          <ac:picMkLst>
            <pc:docMk/>
            <pc:sldMk cId="2005456116" sldId="257"/>
            <ac:picMk id="1037" creationId="{A7DEC9FE-198D-A3EA-927A-A1CE4F4AD7CD}"/>
          </ac:picMkLst>
        </pc:picChg>
        <pc:picChg chg="add mod modCrop">
          <ac:chgData name="Read, Zoe" userId="b08cd0fd-26d2-470b-8ec0-c6e6cb2a79bd" providerId="ADAL" clId="{5AEB2719-95A5-4ED2-9E0E-ED462BB10526}" dt="2026-03-10T20:32:03.328" v="2360" actId="1076"/>
          <ac:picMkLst>
            <pc:docMk/>
            <pc:sldMk cId="2005456116" sldId="257"/>
            <ac:picMk id="1042" creationId="{04363E67-54FD-37B3-65BB-A8173A952E9D}"/>
          </ac:picMkLst>
        </pc:picChg>
        <pc:cxnChg chg="mod">
          <ac:chgData name="Read, Zoe" userId="b08cd0fd-26d2-470b-8ec0-c6e6cb2a79bd" providerId="ADAL" clId="{5AEB2719-95A5-4ED2-9E0E-ED462BB10526}" dt="2026-03-09T12:04:41.371" v="863" actId="1076"/>
          <ac:cxnSpMkLst>
            <pc:docMk/>
            <pc:sldMk cId="2005456116" sldId="257"/>
            <ac:cxnSpMk id="1031" creationId="{00BF45BC-03E3-27BE-C768-387C6B2C806C}"/>
          </ac:cxnSpMkLst>
        </pc:cxnChg>
        <pc:cxnChg chg="add mod">
          <ac:chgData name="Read, Zoe" userId="b08cd0fd-26d2-470b-8ec0-c6e6cb2a79bd" providerId="ADAL" clId="{5AEB2719-95A5-4ED2-9E0E-ED462BB10526}" dt="2026-03-10T20:16:23.659" v="1351" actId="1076"/>
          <ac:cxnSpMkLst>
            <pc:docMk/>
            <pc:sldMk cId="2005456116" sldId="257"/>
            <ac:cxnSpMk id="1032" creationId="{15AF56DC-5EE6-BFA8-237F-07B49EFF2D22}"/>
          </ac:cxnSpMkLst>
        </pc:cxnChg>
        <pc:cxnChg chg="mod">
          <ac:chgData name="Read, Zoe" userId="b08cd0fd-26d2-470b-8ec0-c6e6cb2a79bd" providerId="ADAL" clId="{5AEB2719-95A5-4ED2-9E0E-ED462BB10526}" dt="2026-03-10T20:16:16.282" v="1348" actId="1076"/>
          <ac:cxnSpMkLst>
            <pc:docMk/>
            <pc:sldMk cId="2005456116" sldId="257"/>
            <ac:cxnSpMk id="1036" creationId="{A0864A2A-8580-B800-4329-34DD10B52D76}"/>
          </ac:cxnSpMkLst>
        </pc:cxnChg>
        <pc:cxnChg chg="mod">
          <ac:chgData name="Read, Zoe" userId="b08cd0fd-26d2-470b-8ec0-c6e6cb2a79bd" providerId="ADAL" clId="{5AEB2719-95A5-4ED2-9E0E-ED462BB10526}" dt="2026-03-10T20:28:20.311" v="2319" actId="1076"/>
          <ac:cxnSpMkLst>
            <pc:docMk/>
            <pc:sldMk cId="2005456116" sldId="257"/>
            <ac:cxnSpMk id="1039" creationId="{209C8AEE-D29E-C2A9-B7F5-38C8AE3FDCAC}"/>
          </ac:cxnSpMkLst>
        </pc:cxnChg>
        <pc:cxnChg chg="mod">
          <ac:chgData name="Read, Zoe" userId="b08cd0fd-26d2-470b-8ec0-c6e6cb2a79bd" providerId="ADAL" clId="{5AEB2719-95A5-4ED2-9E0E-ED462BB10526}" dt="2026-03-10T20:22:58.932" v="1857" actId="1076"/>
          <ac:cxnSpMkLst>
            <pc:docMk/>
            <pc:sldMk cId="2005456116" sldId="257"/>
            <ac:cxnSpMk id="1044" creationId="{8463A8F4-CE87-F09A-8258-6D6979B36D80}"/>
          </ac:cxnSpMkLst>
        </pc:cxnChg>
        <pc:cxnChg chg="add mod">
          <ac:chgData name="Read, Zoe" userId="b08cd0fd-26d2-470b-8ec0-c6e6cb2a79bd" providerId="ADAL" clId="{5AEB2719-95A5-4ED2-9E0E-ED462BB10526}" dt="2026-03-10T20:31:25.080" v="2356" actId="693"/>
          <ac:cxnSpMkLst>
            <pc:docMk/>
            <pc:sldMk cId="2005456116" sldId="257"/>
            <ac:cxnSpMk id="1045" creationId="{BB33F361-7DB9-04C2-C03A-778C0DF80E8F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47" creationId="{375CA06C-A251-4ED8-A38F-281C7D414E0B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0" creationId="{D3DAFDEE-D9E5-1D68-8EB9-E51F04AB1645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1" creationId="{F2AFA6AA-F2FA-7B6D-89B6-C18FBAE3FB74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2" creationId="{9F2A7656-0EEE-7013-0DB8-ADC5FDA2A8B2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3" creationId="{45B61E4A-833A-BA3F-9B21-F25237F7E669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4" creationId="{B4545213-9D78-5A7D-F0ED-7247C7E86F0A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5" creationId="{EAF13472-2A54-A942-9989-189633D8FC45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6" creationId="{97023478-EBF1-C0B2-4640-43B6062C44A4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7" creationId="{EABAA8CD-3573-D737-5C52-07AF46DD77DB}"/>
          </ac:cxnSpMkLst>
        </pc:cxnChg>
        <pc:cxnChg chg="add mod">
          <ac:chgData name="Read, Zoe" userId="b08cd0fd-26d2-470b-8ec0-c6e6cb2a79bd" providerId="ADAL" clId="{5AEB2719-95A5-4ED2-9E0E-ED462BB10526}" dt="2026-03-10T20:31:43.640" v="2357" actId="693"/>
          <ac:cxnSpMkLst>
            <pc:docMk/>
            <pc:sldMk cId="2005456116" sldId="257"/>
            <ac:cxnSpMk id="1058" creationId="{60C150C5-AE9C-3C24-36BA-5DE7D6481E18}"/>
          </ac:cxnSpMkLst>
        </pc:cxnChg>
      </pc:sldChg>
    </pc:docChg>
  </pc:docChgLst>
</pc:chgInfo>
</file>

<file path=ppt/comments/modernComment_101_7788D4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554005E-3DFA-4299-9DD0-B44794E496C1}" authorId="{50137B73-C207-1407-898B-797CE70D2312}" created="2026-03-06T17:25:40.9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05456116" sldId="257"/>
      <ac:picMk id="10" creationId="{0A86C89A-5889-65B9-1137-F480341B9783}"/>
    </ac:deMkLst>
    <p188:txBody>
      <a:bodyPr/>
      <a:lstStyle/>
      <a:p>
        <a:r>
          <a:rPr lang="en-US"/>
          <a:t>Add a title that includes: “Fig 1. SO4 values across sites and zones. N samples = ?” and maybe have the Sites and Zones written out here. </a:t>
        </a:r>
      </a:p>
    </p188:txBody>
  </p188:cm>
  <p188:cm id="{D8865092-41B9-4A7A-8291-CC012781D643}" authorId="{50137B73-C207-1407-898B-797CE70D2312}" created="2026-03-06T17:31:19.74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05456116" sldId="257"/>
      <ac:picMk id="13" creationId="{6D65798C-DAB9-914B-7ECA-E6D17BBC9E45}"/>
    </ac:deMkLst>
    <p188:txBody>
      <a:bodyPr/>
      <a:lstStyle/>
      <a:p>
        <a:r>
          <a:rPr lang="en-US"/>
          <a:t>Switch the depth to the y-axis and sulfate to the y-axis and color by zone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7BD97-90D8-3541-9414-B17D17D02539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46250" y="685800"/>
            <a:ext cx="3365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2DB95-ECDB-0847-8712-29974AF33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6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584411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1168823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753234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2337645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2922057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3506468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4090879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4675291" algn="l" defTabSz="584411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46250" y="685800"/>
            <a:ext cx="3365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• Contact Digital Duplicating (375-2969, http://</a:t>
            </a:r>
            <a:r>
              <a:rPr lang="en-US" baseline="0" dirty="0" err="1"/>
              <a:t>digitalduplicating.pnl.gov</a:t>
            </a:r>
            <a:r>
              <a:rPr lang="en-US" baseline="0" dirty="0"/>
              <a:t>) to order poster printing and finishing services for your completed poster design.</a:t>
            </a:r>
          </a:p>
          <a:p>
            <a:r>
              <a:rPr lang="en-US" baseline="0" dirty="0"/>
              <a:t>• Remember to have your poster cleared for public display/distribution through the ERICA Information Release system (http://</a:t>
            </a:r>
            <a:r>
              <a:rPr lang="en-US" baseline="0" dirty="0" err="1"/>
              <a:t>erica.pnl.gov</a:t>
            </a:r>
            <a:r>
              <a:rPr lang="en-US" baseline="0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2DB95-ECDB-0847-8712-29974AF33C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9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4D0AFE-D266-7149-9388-0CB3CC5C87ED}"/>
              </a:ext>
            </a:extLst>
          </p:cNvPr>
          <p:cNvSpPr/>
          <p:nvPr userDrawn="1"/>
        </p:nvSpPr>
        <p:spPr>
          <a:xfrm>
            <a:off x="0" y="0"/>
            <a:ext cx="34747200" cy="737228"/>
          </a:xfrm>
          <a:prstGeom prst="rect">
            <a:avLst/>
          </a:prstGeom>
          <a:solidFill>
            <a:srgbClr val="4197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236"/>
          </a:p>
        </p:txBody>
      </p:sp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03672AAF-4B6B-9046-B08E-E3EDCC2C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6140833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en-US" dirty="0">
                <a:solidFill>
                  <a:srgbClr val="419758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658E99-2B7E-A94A-AE07-8B6946534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4" y="4300499"/>
            <a:ext cx="26089544" cy="1105843"/>
          </a:xfrm>
          <a:prstGeom prst="rect">
            <a:avLst/>
          </a:prstGeom>
        </p:spPr>
        <p:txBody>
          <a:bodyPr/>
          <a:lstStyle>
            <a:lvl1pPr>
              <a:defRPr lang="en-US" sz="3800" dirty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BC0CC5A-BCC7-7A40-B8AC-3C8CB9773C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633" y="6143570"/>
            <a:ext cx="16026342" cy="6512184"/>
          </a:xfrm>
          <a:prstGeom prst="rect">
            <a:avLst/>
          </a:prstGeom>
        </p:spPr>
        <p:txBody>
          <a:bodyPr/>
          <a:lstStyle>
            <a:lvl1pPr>
              <a:defRPr lang="en-US" sz="28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631EFDE9-D317-6E45-88B1-57517D7BFE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5633" y="13024368"/>
            <a:ext cx="10134600" cy="835525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4DD70-5E36-AE41-A65A-4190E3663EBC}"/>
              </a:ext>
            </a:extLst>
          </p:cNvPr>
          <p:cNvSpPr txBox="1"/>
          <p:nvPr userDrawn="1"/>
        </p:nvSpPr>
        <p:spPr>
          <a:xfrm>
            <a:off x="5368925" y="33789635"/>
            <a:ext cx="10677525" cy="118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75" dirty="0">
                <a:latin typeface="Arial Narrow" panose="020B0604020202020204" pitchFamily="34" charset="0"/>
                <a:cs typeface="Arial Narrow" panose="020B0604020202020204" pitchFamily="34" charset="0"/>
              </a:rPr>
              <a:t>COMPASS is a multi-institutional program led by PNNL and funded by the Earth and Environmental Systems Sciences Division of the U.S. Department of Energy’s Office of Science.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E247A-04BD-BE4B-92FB-FB837DE1CD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199" y="1351585"/>
            <a:ext cx="7374731" cy="2349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1DE48B-5647-A9EA-1675-F9CED45CC6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67368" y="33513174"/>
            <a:ext cx="3619500" cy="1013689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323AE28-6C10-A6FB-A7A3-33DB777A4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75226" y="6143570"/>
            <a:ext cx="16038909" cy="6512184"/>
          </a:xfrm>
          <a:prstGeom prst="rect">
            <a:avLst/>
          </a:prstGeom>
        </p:spPr>
        <p:txBody>
          <a:bodyPr/>
          <a:lstStyle>
            <a:lvl1pPr>
              <a:defRPr lang="en-US" sz="285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05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A1BC5-04C5-424E-B098-F40040519109}"/>
              </a:ext>
            </a:extLst>
          </p:cNvPr>
          <p:cNvSpPr/>
          <p:nvPr userDrawn="1"/>
        </p:nvSpPr>
        <p:spPr>
          <a:xfrm>
            <a:off x="0" y="0"/>
            <a:ext cx="34747200" cy="737228"/>
          </a:xfrm>
          <a:prstGeom prst="rect">
            <a:avLst/>
          </a:prstGeom>
          <a:solidFill>
            <a:srgbClr val="75B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236"/>
          </a:p>
        </p:txBody>
      </p:sp>
      <p:sp>
        <p:nvSpPr>
          <p:cNvPr id="4" name="Title Placeholder 4">
            <a:extLst>
              <a:ext uri="{FF2B5EF4-FFF2-40B4-BE49-F238E27FC236}">
                <a16:creationId xmlns:a16="http://schemas.microsoft.com/office/drawing/2014/main" id="{54D62BC3-C003-A84C-B368-EA134F3F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6140833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sz="7917">
                <a:solidFill>
                  <a:srgbClr val="75BFE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7D32DA8-2330-A247-A794-A1FB0E6D7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4" y="4300499"/>
            <a:ext cx="26089544" cy="1105843"/>
          </a:xfrm>
          <a:prstGeom prst="rect">
            <a:avLst/>
          </a:prstGeo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A885556-C088-B64F-ACA3-FF4240EFD0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45633" y="6143570"/>
            <a:ext cx="16026342" cy="6512184"/>
          </a:xfrm>
          <a:prstGeom prst="rect">
            <a:avLst/>
          </a:prstGeom>
        </p:spPr>
        <p:txBody>
          <a:bodyPr/>
          <a:lstStyle>
            <a:lvl1pPr>
              <a:defRPr sz="28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6465F565-98C7-4641-9D07-BBDFC2A192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5633" y="13024368"/>
            <a:ext cx="10134600" cy="835525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28F6D04-A06E-684E-8C67-976CAB7FFE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199" y="1351585"/>
            <a:ext cx="7374731" cy="23499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FD9DC2-4A89-3FD6-54FA-1164F3422A10}"/>
              </a:ext>
            </a:extLst>
          </p:cNvPr>
          <p:cNvSpPr txBox="1"/>
          <p:nvPr userDrawn="1"/>
        </p:nvSpPr>
        <p:spPr>
          <a:xfrm>
            <a:off x="5368925" y="33789635"/>
            <a:ext cx="10677525" cy="1188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75" dirty="0">
                <a:latin typeface="Arial Narrow" panose="020B0604020202020204" pitchFamily="34" charset="0"/>
                <a:cs typeface="Arial Narrow" panose="020B0604020202020204" pitchFamily="34" charset="0"/>
              </a:rPr>
              <a:t>COMPASS is a multi-institutional program led by PNNL and funded by the Earth and Environmental Systems Sciences Division of the U.S. Department of Energy’s Office of Science.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1331CA-E7E1-FDCC-6B95-1A35867FC6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67368" y="33513174"/>
            <a:ext cx="3619500" cy="1013689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3659340-3524-A165-87E8-5B58571302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674681" y="6143570"/>
            <a:ext cx="16039454" cy="6512184"/>
          </a:xfrm>
          <a:prstGeom prst="rect">
            <a:avLst/>
          </a:prstGeom>
        </p:spPr>
        <p:txBody>
          <a:bodyPr/>
          <a:lstStyle>
            <a:lvl1pPr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00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79FD72-BCA5-F24C-9A3D-76ABA0D3F90D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50"/>
          <a:stretch/>
        </p:blipFill>
        <p:spPr>
          <a:xfrm>
            <a:off x="0" y="31442791"/>
            <a:ext cx="34747200" cy="3944172"/>
          </a:xfrm>
          <a:prstGeom prst="rect">
            <a:avLst/>
          </a:prstGeom>
        </p:spPr>
      </p:pic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5336751-8B97-CB48-BAFB-A2B59127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634" y="1597328"/>
            <a:ext cx="29968120" cy="258029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846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1654622" rtl="0" eaLnBrk="1" latinLnBrk="0" hangingPunct="1">
        <a:spcBef>
          <a:spcPct val="0"/>
        </a:spcBef>
        <a:buNone/>
        <a:defRPr lang="en-US" sz="7917" kern="1200" dirty="0">
          <a:solidFill>
            <a:srgbClr val="75BF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654622" rtl="0" eaLnBrk="1" latinLnBrk="0" hangingPunct="1">
        <a:spcBef>
          <a:spcPct val="20000"/>
        </a:spcBef>
        <a:buFont typeface="Arial" pitchFamily="34" charset="0"/>
        <a:buNone/>
        <a:defRPr sz="3905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344381" indent="-517070" algn="l" defTabSz="1654622" rtl="0" eaLnBrk="1" latinLnBrk="0" hangingPunct="1">
        <a:spcBef>
          <a:spcPct val="20000"/>
        </a:spcBef>
        <a:buFont typeface="Arial" pitchFamily="34" charset="0"/>
        <a:buChar char="–"/>
        <a:defRPr sz="5067" kern="1200">
          <a:solidFill>
            <a:schemeClr val="tx1"/>
          </a:solidFill>
          <a:latin typeface="+mn-lt"/>
          <a:ea typeface="+mn-ea"/>
          <a:cs typeface="+mn-cs"/>
        </a:defRPr>
      </a:lvl2pPr>
      <a:lvl3pPr marL="2068278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4328" kern="1200">
          <a:solidFill>
            <a:schemeClr val="tx1"/>
          </a:solidFill>
          <a:latin typeface="+mn-lt"/>
          <a:ea typeface="+mn-ea"/>
          <a:cs typeface="+mn-cs"/>
        </a:defRPr>
      </a:lvl3pPr>
      <a:lvl4pPr marL="2895590" indent="-413656" algn="l" defTabSz="1654622" rtl="0" eaLnBrk="1" latinLnBrk="0" hangingPunct="1">
        <a:spcBef>
          <a:spcPct val="20000"/>
        </a:spcBef>
        <a:buFont typeface="Arial" pitchFamily="34" charset="0"/>
        <a:buChar char="–"/>
        <a:defRPr sz="3695" kern="1200">
          <a:solidFill>
            <a:schemeClr val="tx1"/>
          </a:solidFill>
          <a:latin typeface="+mn-lt"/>
          <a:ea typeface="+mn-ea"/>
          <a:cs typeface="+mn-cs"/>
        </a:defRPr>
      </a:lvl4pPr>
      <a:lvl5pPr marL="3722900" indent="-413656" algn="l" defTabSz="1654622" rtl="0" eaLnBrk="1" latinLnBrk="0" hangingPunct="1">
        <a:spcBef>
          <a:spcPct val="20000"/>
        </a:spcBef>
        <a:buFont typeface="Arial" pitchFamily="34" charset="0"/>
        <a:buChar char="»"/>
        <a:defRPr sz="3695" kern="1200">
          <a:solidFill>
            <a:schemeClr val="tx1"/>
          </a:solidFill>
          <a:latin typeface="+mn-lt"/>
          <a:ea typeface="+mn-ea"/>
          <a:cs typeface="+mn-cs"/>
        </a:defRPr>
      </a:lvl5pPr>
      <a:lvl6pPr marL="4550212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6pPr>
      <a:lvl7pPr marL="5377522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7pPr>
      <a:lvl8pPr marL="6204835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8pPr>
      <a:lvl9pPr marL="7032146" indent="-413656" algn="l" defTabSz="1654622" rtl="0" eaLnBrk="1" latinLnBrk="0" hangingPunct="1">
        <a:spcBef>
          <a:spcPct val="20000"/>
        </a:spcBef>
        <a:buFont typeface="Arial" pitchFamily="34" charset="0"/>
        <a:buChar char="•"/>
        <a:defRPr sz="36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1pPr>
      <a:lvl2pPr marL="827311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2pPr>
      <a:lvl3pPr marL="1654622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3pPr>
      <a:lvl4pPr marL="2481934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4pPr>
      <a:lvl5pPr marL="3309245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5pPr>
      <a:lvl6pPr marL="4136556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6pPr>
      <a:lvl7pPr marL="4963868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7pPr>
      <a:lvl8pPr marL="5791179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8pPr>
      <a:lvl9pPr marL="6618490" algn="l" defTabSz="1654622" rtl="0" eaLnBrk="1" latinLnBrk="0" hangingPunct="1">
        <a:defRPr sz="3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microsoft.com/office/2018/10/relationships/comments" Target="../comments/modernComment_101_7788D4F4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F1E99EB-549B-E9F4-C4C6-CCFBCE759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06" t="32174" b="33648"/>
          <a:stretch>
            <a:fillRect/>
          </a:stretch>
        </p:blipFill>
        <p:spPr>
          <a:xfrm>
            <a:off x="14754274" y="24592487"/>
            <a:ext cx="2452944" cy="2389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0AF3C6-E87C-784C-EFEA-27D2ADCE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Porewater across time and depth trends…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75BAE-6112-7B97-7490-496A68DBDB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5635" y="4098632"/>
            <a:ext cx="31415565" cy="1969364"/>
          </a:xfrm>
        </p:spPr>
        <p:txBody>
          <a:bodyPr/>
          <a:lstStyle/>
          <a:p>
            <a:r>
              <a:rPr lang="en-US" sz="3600" b="1" dirty="0"/>
              <a:t>Zoe Read, </a:t>
            </a:r>
            <a:r>
              <a:rPr lang="en-US" sz="3600" dirty="0"/>
              <a:t>Stephanie J. Wilson, Pat Megonigal, Alice Stearns, Evan Phillips, Ben Bond-Lamberty</a:t>
            </a:r>
          </a:p>
          <a:p>
            <a:r>
              <a:rPr lang="en-US" sz="3200" baseline="30000" dirty="0"/>
              <a:t>1</a:t>
            </a:r>
            <a:r>
              <a:rPr lang="en-US" sz="3200" dirty="0"/>
              <a:t>Smithsonian Environmental Research Center, Maryland, USA, </a:t>
            </a:r>
            <a:r>
              <a:rPr lang="en-US" sz="3200" baseline="30000" dirty="0"/>
              <a:t>2</a:t>
            </a:r>
            <a:r>
              <a:rPr lang="en-US" sz="3200" dirty="0"/>
              <a:t>Pacific Northwest National Laboratory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27ACF02-AE38-EED1-52AD-AE57386B0269}"/>
              </a:ext>
            </a:extLst>
          </p:cNvPr>
          <p:cNvSpPr txBox="1">
            <a:spLocks/>
          </p:cNvSpPr>
          <p:nvPr/>
        </p:nvSpPr>
        <p:spPr>
          <a:xfrm>
            <a:off x="32122855" y="1292045"/>
            <a:ext cx="2624345" cy="1025955"/>
          </a:xfrm>
          <a:prstGeom prst="rect">
            <a:avLst/>
          </a:prstGeom>
        </p:spPr>
        <p:txBody>
          <a:bodyPr/>
          <a:lstStyle>
            <a:lvl1pPr marL="0" indent="0" algn="l" defTabSz="3309339" rtl="0" eaLnBrk="1" latinLnBrk="0" hangingPunct="1">
              <a:spcBef>
                <a:spcPct val="20000"/>
              </a:spcBef>
              <a:buFont typeface="Arial" pitchFamily="34" charset="0"/>
              <a:buNone/>
              <a:defRPr sz="405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688837" indent="-1034168" algn="l" defTabSz="33093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36674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6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791341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46012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00680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755348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410021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064688" indent="-827335" algn="l" defTabSz="33093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73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/>
              <a:t>0668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C87B8A1-9733-67EB-E4E3-F2570D73F838}"/>
              </a:ext>
            </a:extLst>
          </p:cNvPr>
          <p:cNvSpPr txBox="1">
            <a:spLocks/>
          </p:cNvSpPr>
          <p:nvPr/>
        </p:nvSpPr>
        <p:spPr>
          <a:xfrm>
            <a:off x="1197281" y="6132520"/>
            <a:ext cx="4521917" cy="815503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Background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Study sites: Four coastal wetlands in the Chesapeake Bay Region that are oligohaline, mesohaline,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polyhaline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Porewater sampling from 2022-2025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Analyzed for DIC, DOC, Total Alkalinity, CDOM, H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S, Cl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Nutrients, and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US" sz="32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2-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00BF45BC-03E3-27BE-C768-387C6B2C806C}"/>
              </a:ext>
            </a:extLst>
          </p:cNvPr>
          <p:cNvCxnSpPr/>
          <p:nvPr/>
        </p:nvCxnSpPr>
        <p:spPr>
          <a:xfrm>
            <a:off x="685800" y="5577681"/>
            <a:ext cx="3337560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0864A2A-8580-B800-4329-34DD10B52D76}"/>
              </a:ext>
            </a:extLst>
          </p:cNvPr>
          <p:cNvCxnSpPr>
            <a:cxnSpLocks/>
          </p:cNvCxnSpPr>
          <p:nvPr/>
        </p:nvCxnSpPr>
        <p:spPr>
          <a:xfrm>
            <a:off x="18287087" y="15964384"/>
            <a:ext cx="1586215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209C8AEE-D29E-C2A9-B7F5-38C8AE3FDCAC}"/>
              </a:ext>
            </a:extLst>
          </p:cNvPr>
          <p:cNvCxnSpPr/>
          <p:nvPr/>
        </p:nvCxnSpPr>
        <p:spPr>
          <a:xfrm>
            <a:off x="17185756" y="6067996"/>
            <a:ext cx="0" cy="2446020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8463A8F4-CE87-F09A-8258-6D6979B36D80}"/>
              </a:ext>
            </a:extLst>
          </p:cNvPr>
          <p:cNvCxnSpPr>
            <a:cxnSpLocks/>
          </p:cNvCxnSpPr>
          <p:nvPr/>
        </p:nvCxnSpPr>
        <p:spPr>
          <a:xfrm>
            <a:off x="1323606" y="18578844"/>
            <a:ext cx="1586215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Text Placeholder 3">
            <a:extLst>
              <a:ext uri="{FF2B5EF4-FFF2-40B4-BE49-F238E27FC236}">
                <a16:creationId xmlns:a16="http://schemas.microsoft.com/office/drawing/2014/main" id="{3D22E29A-542C-2707-EE87-D32E923FD26A}"/>
              </a:ext>
            </a:extLst>
          </p:cNvPr>
          <p:cNvSpPr txBox="1">
            <a:spLocks/>
          </p:cNvSpPr>
          <p:nvPr/>
        </p:nvSpPr>
        <p:spPr>
          <a:xfrm>
            <a:off x="18435346" y="16320059"/>
            <a:ext cx="15095898" cy="209765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Seasonal variation</a:t>
            </a:r>
            <a:r>
              <a:rPr lang="en-US" b="1" dirty="0"/>
              <a:t>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Sulfate tends to increase throughout a year and decrease at the start of a new year. </a:t>
            </a:r>
          </a:p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580F8D7-E067-282C-0BEF-1FA899DCFD3B}"/>
              </a:ext>
            </a:extLst>
          </p:cNvPr>
          <p:cNvSpPr txBox="1">
            <a:spLocks/>
          </p:cNvSpPr>
          <p:nvPr/>
        </p:nvSpPr>
        <p:spPr>
          <a:xfrm>
            <a:off x="18435346" y="5715022"/>
            <a:ext cx="15095898" cy="2328963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Depth</a:t>
            </a:r>
            <a:endParaRPr lang="en-US" dirty="0"/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Porewater was sampled at three depths: 10, 20, and 45 cm</a:t>
            </a:r>
          </a:p>
          <a:p>
            <a:pPr marL="1801581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Sulfate concentration changes by depth, but this effect varies across site and zone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D73CC-38EE-87A4-659B-7AFB71426A3B}"/>
              </a:ext>
            </a:extLst>
          </p:cNvPr>
          <p:cNvSpPr txBox="1"/>
          <p:nvPr/>
        </p:nvSpPr>
        <p:spPr>
          <a:xfrm>
            <a:off x="1297603" y="14950580"/>
            <a:ext cx="1573854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1000"/>
              </a:spcBef>
              <a:spcAft>
                <a:spcPts val="0"/>
              </a:spcAft>
            </a:pPr>
            <a:r>
              <a:rPr lang="en-US" sz="3600" b="1" dirty="0">
                <a:solidFill>
                  <a:srgbClr val="75BF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Hypothesis: 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a hierarchical structure to </a:t>
            </a:r>
            <a:r>
              <a:rPr lang="en-US" sz="3200" b="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spatial 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variation in ecosystem structure and function at the coastal TAI that is set by:</a:t>
            </a:r>
            <a:endParaRPr lang="en-US" sz="3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1000"/>
              </a:spcBef>
              <a:spcAft>
                <a:spcPts val="0"/>
              </a:spcAft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the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depth and duration of soil saturation </a:t>
            </a:r>
            <a:endParaRPr lang="en-US" sz="3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spcBef>
                <a:spcPts val="1000"/>
              </a:spcBef>
              <a:spcAft>
                <a:spcPts val="0"/>
              </a:spcAft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 the abundance of 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redox-sensitive elements</a:t>
            </a:r>
          </a:p>
          <a:p>
            <a:pPr algn="ctr" rtl="0">
              <a:spcBef>
                <a:spcPts val="1000"/>
              </a:spcBef>
              <a:spcAft>
                <a:spcPts val="0"/>
              </a:spcAft>
            </a:pPr>
            <a:r>
              <a:rPr lang="en-US" sz="3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3) their</a:t>
            </a:r>
            <a:r>
              <a:rPr lang="en-US" sz="3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interactions with plant traits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graph of different types of lines&#10;&#10;AI-generated content may be incorrect.">
            <a:extLst>
              <a:ext uri="{FF2B5EF4-FFF2-40B4-BE49-F238E27FC236}">
                <a16:creationId xmlns:a16="http://schemas.microsoft.com/office/drawing/2014/main" id="{09EDF015-AC84-7DA3-BD5A-225267C49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7021" y="7627507"/>
            <a:ext cx="16176652" cy="8088326"/>
          </a:xfrm>
          <a:prstGeom prst="rect">
            <a:avLst/>
          </a:prstGeom>
        </p:spPr>
      </p:pic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0144416F-2A82-F7CC-0427-8A3693266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4"/>
          <a:stretch>
            <a:fillRect/>
          </a:stretch>
        </p:blipFill>
        <p:spPr>
          <a:xfrm>
            <a:off x="17435945" y="18047725"/>
            <a:ext cx="16949041" cy="1060468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5218F-41E6-8FF9-6DE2-6F194B8E4A42}"/>
              </a:ext>
            </a:extLst>
          </p:cNvPr>
          <p:cNvGrpSpPr/>
          <p:nvPr/>
        </p:nvGrpSpPr>
        <p:grpSpPr>
          <a:xfrm>
            <a:off x="6329732" y="5885604"/>
            <a:ext cx="10706412" cy="8510897"/>
            <a:chOff x="293462" y="10162931"/>
            <a:chExt cx="11002382" cy="7460357"/>
          </a:xfrm>
        </p:grpSpPr>
        <p:sp>
          <p:nvSpPr>
            <p:cNvPr id="17" name="Text Placeholder 11">
              <a:extLst>
                <a:ext uri="{FF2B5EF4-FFF2-40B4-BE49-F238E27FC236}">
                  <a16:creationId xmlns:a16="http://schemas.microsoft.com/office/drawing/2014/main" id="{2BD42464-D16B-3701-0C0F-271BDE66BAA5}"/>
                </a:ext>
              </a:extLst>
            </p:cNvPr>
            <p:cNvSpPr txBox="1">
              <a:spLocks/>
            </p:cNvSpPr>
            <p:nvPr/>
          </p:nvSpPr>
          <p:spPr>
            <a:xfrm>
              <a:off x="353828" y="10585278"/>
              <a:ext cx="6170205" cy="2441318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56751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1273602" indent="-489847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95938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4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143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52689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310653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094408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878164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661919" indent="-391878" algn="l" defTabSz="156751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dirty="0">
                <a:solidFill>
                  <a:srgbClr val="419556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2C4E4F-82D2-D6F9-9AC8-C28F32695521}"/>
                </a:ext>
              </a:extLst>
            </p:cNvPr>
            <p:cNvGrpSpPr/>
            <p:nvPr/>
          </p:nvGrpSpPr>
          <p:grpSpPr>
            <a:xfrm>
              <a:off x="293462" y="10658992"/>
              <a:ext cx="11002382" cy="6964296"/>
              <a:chOff x="272558" y="6524607"/>
              <a:chExt cx="11002382" cy="6964296"/>
            </a:xfrm>
          </p:grpSpPr>
          <p:graphicFrame>
            <p:nvGraphicFramePr>
              <p:cNvPr id="20" name="Google Shape;116;p4">
                <a:extLst>
                  <a:ext uri="{FF2B5EF4-FFF2-40B4-BE49-F238E27FC236}">
                    <a16:creationId xmlns:a16="http://schemas.microsoft.com/office/drawing/2014/main" id="{6EE1AE5B-A26D-71DD-8EF3-D283BC117F1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47804625"/>
                  </p:ext>
                </p:extLst>
              </p:nvPr>
            </p:nvGraphicFramePr>
            <p:xfrm>
              <a:off x="323219" y="6524607"/>
              <a:ext cx="3601065" cy="2264103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21341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00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101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chemeClr val="lt1"/>
                              </a:solidFill>
                              <a:latin typeface="+mj-lt"/>
                            </a:rPr>
                            <a:t>Site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24242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chemeClr val="lt1"/>
                              </a:solidFill>
                              <a:latin typeface="+mj-lt"/>
                            </a:rPr>
                            <a:t>Salinity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24242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73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dirty="0">
                              <a:latin typeface="+mj-lt"/>
                            </a:rPr>
                            <a:t>Sweethall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0-2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101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GCReW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8-10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6285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M</a:t>
                          </a:r>
                          <a:r>
                            <a:rPr lang="en-US" sz="2000" dirty="0">
                              <a:latin typeface="+mj-lt"/>
                            </a:rPr>
                            <a:t>oneyStump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+mj-lt"/>
                            </a:rPr>
                            <a:t>8-10</a:t>
                          </a:r>
                          <a:endParaRPr sz="200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62548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G</a:t>
                          </a:r>
                          <a:r>
                            <a:rPr lang="en-US" sz="2000" dirty="0">
                              <a:latin typeface="+mj-lt"/>
                            </a:rPr>
                            <a:t>oodwin Islands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+mj-lt"/>
                            </a:rPr>
                            <a:t>18-20</a:t>
                          </a:r>
                          <a:endParaRPr sz="2000" dirty="0">
                            <a:latin typeface="+mj-lt"/>
                          </a:endParaRPr>
                        </a:p>
                      </a:txBody>
                      <a:tcPr marL="91450" marR="91450" marT="45725" marB="45725">
                        <a:lnL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242424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BFE48BE-D2C5-8243-5332-F748C7FB4EAC}"/>
                  </a:ext>
                </a:extLst>
              </p:cNvPr>
              <p:cNvGrpSpPr/>
              <p:nvPr/>
            </p:nvGrpSpPr>
            <p:grpSpPr>
              <a:xfrm>
                <a:off x="272558" y="9198158"/>
                <a:ext cx="11002382" cy="4290745"/>
                <a:chOff x="272558" y="9198158"/>
                <a:chExt cx="11002382" cy="4290745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744546CE-2EC9-735C-F6B3-4A137D102F0F}"/>
                    </a:ext>
                  </a:extLst>
                </p:cNvPr>
                <p:cNvGrpSpPr/>
                <p:nvPr/>
              </p:nvGrpSpPr>
              <p:grpSpPr>
                <a:xfrm>
                  <a:off x="272558" y="9198158"/>
                  <a:ext cx="11002382" cy="4290745"/>
                  <a:chOff x="928742" y="15582937"/>
                  <a:chExt cx="9627773" cy="3356493"/>
                </a:xfrm>
              </p:grpSpPr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8454ACA-A266-32A3-C891-C89EAA9E01CB}"/>
                      </a:ext>
                    </a:extLst>
                  </p:cNvPr>
                  <p:cNvSpPr txBox="1"/>
                  <p:nvPr/>
                </p:nvSpPr>
                <p:spPr>
                  <a:xfrm>
                    <a:off x="5924325" y="18335237"/>
                    <a:ext cx="2668307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rtl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3200" b="1" i="0" u="none" strike="noStrike" dirty="0">
                        <a:solidFill>
                          <a:srgbClr val="AD9335"/>
                        </a:solidFill>
                        <a:effectLst/>
                        <a:latin typeface="Arial" panose="020B0604020202020204" pitchFamily="34" charset="0"/>
                      </a:rPr>
                      <a:t>Transition </a:t>
                    </a:r>
                    <a:endParaRPr lang="en-US" b="0" dirty="0">
                      <a:effectLst/>
                    </a:endParaRP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84190F2-EFC3-A118-D2D7-FB24CCBD39B4}"/>
                      </a:ext>
                    </a:extLst>
                  </p:cNvPr>
                  <p:cNvSpPr txBox="1"/>
                  <p:nvPr/>
                </p:nvSpPr>
                <p:spPr>
                  <a:xfrm>
                    <a:off x="3615900" y="18327135"/>
                    <a:ext cx="2015164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rtl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3200" b="1" i="0" u="none" strike="noStrike" dirty="0">
                        <a:solidFill>
                          <a:srgbClr val="7F7F7F"/>
                        </a:solidFill>
                        <a:effectLst/>
                        <a:latin typeface="Arial" panose="020B0604020202020204" pitchFamily="34" charset="0"/>
                      </a:rPr>
                      <a:t>Upland </a:t>
                    </a:r>
                    <a:endParaRPr lang="en-US" dirty="0"/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E3FB73FF-BFA6-26DB-AA0A-F51D66FFA661}"/>
                      </a:ext>
                    </a:extLst>
                  </p:cNvPr>
                  <p:cNvSpPr txBox="1"/>
                  <p:nvPr/>
                </p:nvSpPr>
                <p:spPr>
                  <a:xfrm>
                    <a:off x="8346715" y="18354655"/>
                    <a:ext cx="220980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rtl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3200" b="1" i="0" u="none" strike="noStrike" dirty="0">
                        <a:solidFill>
                          <a:srgbClr val="214A2B"/>
                        </a:solidFill>
                        <a:effectLst/>
                        <a:latin typeface="Arial" panose="020B0604020202020204" pitchFamily="34" charset="0"/>
                      </a:rPr>
                      <a:t>Wetland </a:t>
                    </a:r>
                    <a:endParaRPr lang="en-US" dirty="0"/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971C545D-FDC3-D326-1EAC-5618EEB032BF}"/>
                      </a:ext>
                    </a:extLst>
                  </p:cNvPr>
                  <p:cNvGrpSpPr/>
                  <p:nvPr/>
                </p:nvGrpSpPr>
                <p:grpSpPr>
                  <a:xfrm>
                    <a:off x="928742" y="15582937"/>
                    <a:ext cx="9424200" cy="3179751"/>
                    <a:chOff x="899080" y="7578118"/>
                    <a:chExt cx="9424200" cy="3179751"/>
                  </a:xfrm>
                </p:grpSpPr>
                <p:pic>
                  <p:nvPicPr>
                    <p:cNvPr id="29" name="Picture 14">
                      <a:extLst>
                        <a:ext uri="{FF2B5EF4-FFF2-40B4-BE49-F238E27FC236}">
                          <a16:creationId xmlns:a16="http://schemas.microsoft.com/office/drawing/2014/main" id="{5D396374-1D6A-7D31-B4E5-8759728546F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3500" t="37555" r="55500" b="10000"/>
                    <a:stretch/>
                  </p:blipFill>
                  <p:spPr bwMode="auto">
                    <a:xfrm>
                      <a:off x="899080" y="7578118"/>
                      <a:ext cx="2263551" cy="3179751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30" name="Picture 16">
                      <a:extLst>
                        <a:ext uri="{FF2B5EF4-FFF2-40B4-BE49-F238E27FC236}">
                          <a16:creationId xmlns:a16="http://schemas.microsoft.com/office/drawing/2014/main" id="{2E43BF24-48A1-D61A-62BA-CC3D0932848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8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t="28816" b="28777"/>
                    <a:stretch/>
                  </p:blipFill>
                  <p:spPr bwMode="auto">
                    <a:xfrm>
                      <a:off x="3657600" y="8315169"/>
                      <a:ext cx="6553200" cy="1851522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31" name="Isosceles Triangle 9">
                      <a:extLst>
                        <a:ext uri="{FF2B5EF4-FFF2-40B4-BE49-F238E27FC236}">
                          <a16:creationId xmlns:a16="http://schemas.microsoft.com/office/drawing/2014/main" id="{9187A6BA-BC5B-ADEA-5C80-21A90D319C6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022821" y="8767998"/>
                      <a:ext cx="2072359" cy="965647"/>
                    </a:xfrm>
                    <a:custGeom>
                      <a:avLst/>
                      <a:gdLst>
                        <a:gd name="connsiteX0" fmla="*/ 0 w 1858996"/>
                        <a:gd name="connsiteY0" fmla="*/ 1119526 h 1119526"/>
                        <a:gd name="connsiteX1" fmla="*/ 929498 w 1858996"/>
                        <a:gd name="connsiteY1" fmla="*/ 0 h 1119526"/>
                        <a:gd name="connsiteX2" fmla="*/ 1858996 w 1858996"/>
                        <a:gd name="connsiteY2" fmla="*/ 1119526 h 1119526"/>
                        <a:gd name="connsiteX3" fmla="*/ 0 w 1858996"/>
                        <a:gd name="connsiteY3" fmla="*/ 1119526 h 1119526"/>
                        <a:gd name="connsiteX0" fmla="*/ 0 w 1858996"/>
                        <a:gd name="connsiteY0" fmla="*/ 1081426 h 1081426"/>
                        <a:gd name="connsiteX1" fmla="*/ 1405748 w 1858996"/>
                        <a:gd name="connsiteY1" fmla="*/ 0 h 1081426"/>
                        <a:gd name="connsiteX2" fmla="*/ 1858996 w 1858996"/>
                        <a:gd name="connsiteY2" fmla="*/ 1081426 h 1081426"/>
                        <a:gd name="connsiteX3" fmla="*/ 0 w 1858996"/>
                        <a:gd name="connsiteY3" fmla="*/ 1081426 h 10814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858996" h="1081426">
                          <a:moveTo>
                            <a:pt x="0" y="1081426"/>
                          </a:moveTo>
                          <a:lnTo>
                            <a:pt x="1405748" y="0"/>
                          </a:lnTo>
                          <a:lnTo>
                            <a:pt x="1858996" y="1081426"/>
                          </a:lnTo>
                          <a:lnTo>
                            <a:pt x="0" y="1081426"/>
                          </a:lnTo>
                          <a:close/>
                        </a:path>
                      </a:pathLst>
                    </a:custGeom>
                    <a:solidFill>
                      <a:srgbClr val="A6A6A6">
                        <a:alpha val="60000"/>
                      </a:srgbClr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4" name="Rectangle 1023">
                      <a:extLst>
                        <a:ext uri="{FF2B5EF4-FFF2-40B4-BE49-F238E27FC236}">
                          <a16:creationId xmlns:a16="http://schemas.microsoft.com/office/drawing/2014/main" id="{534B1453-A12C-51C2-7D42-7A9A137076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45120" y="8214640"/>
                      <a:ext cx="2007627" cy="20723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777469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5" name="Rectangle 1024">
                      <a:extLst>
                        <a:ext uri="{FF2B5EF4-FFF2-40B4-BE49-F238E27FC236}">
                          <a16:creationId xmlns:a16="http://schemas.microsoft.com/office/drawing/2014/main" id="{9F20B42B-9512-BB49-4F59-11A4D0326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9668" y="8214641"/>
                      <a:ext cx="2209801" cy="20723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AD93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6" name="Rectangle 1025">
                      <a:extLst>
                        <a:ext uri="{FF2B5EF4-FFF2-40B4-BE49-F238E27FC236}">
                          <a16:creationId xmlns:a16="http://schemas.microsoft.com/office/drawing/2014/main" id="{DE5C81FB-2A8D-A005-8B1C-1694587048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16357" y="8214641"/>
                      <a:ext cx="1806923" cy="2072359"/>
                    </a:xfrm>
                    <a:prstGeom prst="rect">
                      <a:avLst/>
                    </a:prstGeom>
                    <a:noFill/>
                    <a:ln w="57150">
                      <a:solidFill>
                        <a:srgbClr val="214A2B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27" name="TextBox 1026">
                      <a:extLst>
                        <a:ext uri="{FF2B5EF4-FFF2-40B4-BE49-F238E27FC236}">
                          <a16:creationId xmlns:a16="http://schemas.microsoft.com/office/drawing/2014/main" id="{09B9D4B3-825A-6240-B76A-180647AC14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1908" y="7662833"/>
                      <a:ext cx="1750958" cy="2532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800" dirty="0"/>
                        <a:t>GCReW</a:t>
                      </a:r>
                    </a:p>
                  </p:txBody>
                </p:sp>
                <p:sp>
                  <p:nvSpPr>
                    <p:cNvPr id="1028" name="TextBox 1027">
                      <a:extLst>
                        <a:ext uri="{FF2B5EF4-FFF2-40B4-BE49-F238E27FC236}">
                          <a16:creationId xmlns:a16="http://schemas.microsoft.com/office/drawing/2014/main" id="{21EEE5BE-6B05-FC7D-1F1A-67A39BAA5C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61457" y="8174021"/>
                      <a:ext cx="1750958" cy="2532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800" dirty="0"/>
                        <a:t>Money Stump</a:t>
                      </a:r>
                    </a:p>
                  </p:txBody>
                </p:sp>
                <p:sp>
                  <p:nvSpPr>
                    <p:cNvPr id="1029" name="TextBox 1028">
                      <a:extLst>
                        <a:ext uri="{FF2B5EF4-FFF2-40B4-BE49-F238E27FC236}">
                          <a16:creationId xmlns:a16="http://schemas.microsoft.com/office/drawing/2014/main" id="{C7415B56-3138-683E-A33F-94BF1FC8C3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78391" y="9662022"/>
                      <a:ext cx="1750958" cy="2532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800" dirty="0"/>
                        <a:t>Goodwin Islands</a:t>
                      </a:r>
                    </a:p>
                  </p:txBody>
                </p:sp>
                <p:sp>
                  <p:nvSpPr>
                    <p:cNvPr id="1030" name="TextBox 1029">
                      <a:extLst>
                        <a:ext uri="{FF2B5EF4-FFF2-40B4-BE49-F238E27FC236}">
                          <a16:creationId xmlns:a16="http://schemas.microsoft.com/office/drawing/2014/main" id="{65E00C91-BBF6-45C7-C690-D1D7A6D871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4980" y="9118251"/>
                      <a:ext cx="1750958" cy="25325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800" dirty="0"/>
                        <a:t>Sweethall</a:t>
                      </a:r>
                    </a:p>
                  </p:txBody>
                </p:sp>
              </p:grpSp>
            </p:grp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440FAB-EE3F-FD41-C5C0-9224F3ADC6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14931" y="9397100"/>
                  <a:ext cx="3920968" cy="4923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F6CCBC1-FB78-D641-2558-44EE72346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68630" y="10162931"/>
              <a:ext cx="6188276" cy="3169612"/>
            </a:xfrm>
            <a:prstGeom prst="rect">
              <a:avLst/>
            </a:prstGeom>
          </p:spPr>
        </p:pic>
      </p:grp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15AF56DC-5EE6-BFA8-237F-07B49EFF2D22}"/>
              </a:ext>
            </a:extLst>
          </p:cNvPr>
          <p:cNvCxnSpPr>
            <a:cxnSpLocks/>
          </p:cNvCxnSpPr>
          <p:nvPr/>
        </p:nvCxnSpPr>
        <p:spPr>
          <a:xfrm>
            <a:off x="18169647" y="28966102"/>
            <a:ext cx="15862150" cy="0"/>
          </a:xfrm>
          <a:prstGeom prst="line">
            <a:avLst/>
          </a:prstGeom>
          <a:ln>
            <a:solidFill>
              <a:srgbClr val="75BF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 Placeholder 3">
            <a:extLst>
              <a:ext uri="{FF2B5EF4-FFF2-40B4-BE49-F238E27FC236}">
                <a16:creationId xmlns:a16="http://schemas.microsoft.com/office/drawing/2014/main" id="{32C2827D-C730-B34A-4122-5BD22CBCDCCA}"/>
              </a:ext>
            </a:extLst>
          </p:cNvPr>
          <p:cNvSpPr txBox="1">
            <a:spLocks/>
          </p:cNvSpPr>
          <p:nvPr/>
        </p:nvSpPr>
        <p:spPr>
          <a:xfrm>
            <a:off x="18669260" y="29593497"/>
            <a:ext cx="13411199" cy="2746844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Take-home messages</a:t>
            </a:r>
            <a:endParaRPr lang="en-US" b="1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Sulfate varies by depth, site, zone, and throughout the year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1034" name="Text Placeholder 3">
            <a:extLst>
              <a:ext uri="{FF2B5EF4-FFF2-40B4-BE49-F238E27FC236}">
                <a16:creationId xmlns:a16="http://schemas.microsoft.com/office/drawing/2014/main" id="{3B019716-EAFE-3F05-01D8-F3689D302ED2}"/>
              </a:ext>
            </a:extLst>
          </p:cNvPr>
          <p:cNvSpPr txBox="1">
            <a:spLocks/>
          </p:cNvSpPr>
          <p:nvPr/>
        </p:nvSpPr>
        <p:spPr>
          <a:xfrm>
            <a:off x="1574127" y="19173251"/>
            <a:ext cx="15429360" cy="815503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1654622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85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344381" indent="-517070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5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68278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3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9559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722900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5021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7522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04835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032146" indent="-413656" algn="l" defTabSz="165462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75BFE2"/>
                </a:solidFill>
              </a:rPr>
              <a:t>Porewater Sulfate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Porewater was analyzed for </a:t>
            </a:r>
            <a:r>
              <a:rPr lang="en-US" sz="3200" b="1" dirty="0"/>
              <a:t>SO</a:t>
            </a:r>
            <a:r>
              <a:rPr lang="en-US" sz="3200" b="1" baseline="-25000" dirty="0"/>
              <a:t>4</a:t>
            </a:r>
            <a:r>
              <a:rPr lang="en-US" sz="3200" b="1" baseline="30000" dirty="0"/>
              <a:t>2-</a:t>
            </a:r>
            <a:r>
              <a:rPr lang="en-US" sz="3200" dirty="0"/>
              <a:t> in 2,293 samples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Sulfate increased from Upland Forest through transition zones to the wetland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Sulfate also increased from </a:t>
            </a:r>
            <a:r>
              <a:rPr lang="en-US" sz="3200" dirty="0" err="1"/>
              <a:t>Sweethall</a:t>
            </a:r>
            <a:r>
              <a:rPr lang="en-US" sz="3200" dirty="0"/>
              <a:t> site (oligohaline) to Goodwin Islands site (</a:t>
            </a:r>
            <a:r>
              <a:rPr lang="en-US" sz="3200" dirty="0" err="1"/>
              <a:t>polyhaline</a:t>
            </a:r>
            <a:r>
              <a:rPr lang="en-US" sz="3200" dirty="0"/>
              <a:t>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Surface water was a source of sulfate into these ecosystems.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42" name="Picture 1041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04363E67-54FD-37B3-65BB-A8173A952E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9"/>
          <a:stretch>
            <a:fillRect/>
          </a:stretch>
        </p:blipFill>
        <p:spPr>
          <a:xfrm>
            <a:off x="472797" y="22829833"/>
            <a:ext cx="14217136" cy="8155031"/>
          </a:xfrm>
          <a:prstGeom prst="rect">
            <a:avLst/>
          </a:prstGeom>
        </p:spPr>
      </p:pic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BB33F361-7DB9-04C2-C03A-778C0DF80E8F}"/>
              </a:ext>
            </a:extLst>
          </p:cNvPr>
          <p:cNvCxnSpPr>
            <a:cxnSpLocks/>
          </p:cNvCxnSpPr>
          <p:nvPr/>
        </p:nvCxnSpPr>
        <p:spPr>
          <a:xfrm flipV="1">
            <a:off x="20955000" y="18578843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375CA06C-A251-4ED8-A38F-281C7D414E0B}"/>
              </a:ext>
            </a:extLst>
          </p:cNvPr>
          <p:cNvCxnSpPr>
            <a:cxnSpLocks/>
          </p:cNvCxnSpPr>
          <p:nvPr/>
        </p:nvCxnSpPr>
        <p:spPr>
          <a:xfrm flipV="1">
            <a:off x="24307800" y="18578843"/>
            <a:ext cx="0" cy="3915237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D3DAFDEE-D9E5-1D68-8EB9-E51F04AB1645}"/>
              </a:ext>
            </a:extLst>
          </p:cNvPr>
          <p:cNvCxnSpPr>
            <a:cxnSpLocks/>
          </p:cNvCxnSpPr>
          <p:nvPr/>
        </p:nvCxnSpPr>
        <p:spPr>
          <a:xfrm flipV="1">
            <a:off x="28346400" y="18578842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Straight Connector 1050">
            <a:extLst>
              <a:ext uri="{FF2B5EF4-FFF2-40B4-BE49-F238E27FC236}">
                <a16:creationId xmlns:a16="http://schemas.microsoft.com/office/drawing/2014/main" id="{F2AFA6AA-F2FA-7B6D-89B6-C18FBAE3FB74}"/>
              </a:ext>
            </a:extLst>
          </p:cNvPr>
          <p:cNvCxnSpPr>
            <a:cxnSpLocks/>
          </p:cNvCxnSpPr>
          <p:nvPr/>
        </p:nvCxnSpPr>
        <p:spPr>
          <a:xfrm flipV="1">
            <a:off x="31165800" y="18578842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9F2A7656-0EEE-7013-0DB8-ADC5FDA2A8B2}"/>
              </a:ext>
            </a:extLst>
          </p:cNvPr>
          <p:cNvCxnSpPr>
            <a:cxnSpLocks/>
          </p:cNvCxnSpPr>
          <p:nvPr/>
        </p:nvCxnSpPr>
        <p:spPr>
          <a:xfrm flipV="1">
            <a:off x="32842200" y="18578842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45B61E4A-833A-BA3F-9B21-F25237F7E669}"/>
              </a:ext>
            </a:extLst>
          </p:cNvPr>
          <p:cNvCxnSpPr>
            <a:cxnSpLocks/>
          </p:cNvCxnSpPr>
          <p:nvPr/>
        </p:nvCxnSpPr>
        <p:spPr>
          <a:xfrm flipV="1">
            <a:off x="20193000" y="23560881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B4545213-9D78-5A7D-F0ED-7247C7E86F0A}"/>
              </a:ext>
            </a:extLst>
          </p:cNvPr>
          <p:cNvCxnSpPr>
            <a:cxnSpLocks/>
          </p:cNvCxnSpPr>
          <p:nvPr/>
        </p:nvCxnSpPr>
        <p:spPr>
          <a:xfrm flipV="1">
            <a:off x="23088600" y="23560881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EAF13472-2A54-A942-9989-189633D8FC45}"/>
              </a:ext>
            </a:extLst>
          </p:cNvPr>
          <p:cNvCxnSpPr>
            <a:cxnSpLocks/>
          </p:cNvCxnSpPr>
          <p:nvPr/>
        </p:nvCxnSpPr>
        <p:spPr>
          <a:xfrm flipV="1">
            <a:off x="24460200" y="23560881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97023478-EBF1-C0B2-4640-43B6062C44A4}"/>
              </a:ext>
            </a:extLst>
          </p:cNvPr>
          <p:cNvCxnSpPr>
            <a:cxnSpLocks/>
          </p:cNvCxnSpPr>
          <p:nvPr/>
        </p:nvCxnSpPr>
        <p:spPr>
          <a:xfrm flipV="1">
            <a:off x="28498800" y="23481155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EABAA8CD-3573-D737-5C52-07AF46DD77DB}"/>
              </a:ext>
            </a:extLst>
          </p:cNvPr>
          <p:cNvCxnSpPr>
            <a:cxnSpLocks/>
          </p:cNvCxnSpPr>
          <p:nvPr/>
        </p:nvCxnSpPr>
        <p:spPr>
          <a:xfrm flipV="1">
            <a:off x="31318200" y="23481155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60C150C5-AE9C-3C24-36BA-5DE7D6481E18}"/>
              </a:ext>
            </a:extLst>
          </p:cNvPr>
          <p:cNvCxnSpPr>
            <a:cxnSpLocks/>
          </p:cNvCxnSpPr>
          <p:nvPr/>
        </p:nvCxnSpPr>
        <p:spPr>
          <a:xfrm flipV="1">
            <a:off x="32766000" y="23481155"/>
            <a:ext cx="0" cy="3915238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4561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12918</TotalTime>
  <Words>316</Words>
  <Application>Microsoft Office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Office Theme</vt:lpstr>
      <vt:lpstr>Porewater across time and depth trends…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Read, Zoe</cp:lastModifiedBy>
  <cp:revision>52</cp:revision>
  <dcterms:created xsi:type="dcterms:W3CDTF">2012-11-30T02:20:55Z</dcterms:created>
  <dcterms:modified xsi:type="dcterms:W3CDTF">2026-03-10T20:32:07Z</dcterms:modified>
</cp:coreProperties>
</file>