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7788D4F4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34747200" cy="35386963"/>
  <p:notesSz cx="6858000" cy="9144000"/>
  <p:defaultTextStyle>
    <a:defPPr>
      <a:defRPr lang="en-US"/>
    </a:defPPr>
    <a:lvl1pPr marL="0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1pPr>
    <a:lvl2pPr marL="1001827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2pPr>
    <a:lvl3pPr marL="2003654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3pPr>
    <a:lvl4pPr marL="3005483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4pPr>
    <a:lvl5pPr marL="4007310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5pPr>
    <a:lvl6pPr marL="5009137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6pPr>
    <a:lvl7pPr marL="6010964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7pPr>
    <a:lvl8pPr marL="7012791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8pPr>
    <a:lvl9pPr marL="8014618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146" userDrawn="1">
          <p15:clr>
            <a:srgbClr val="A4A3A4"/>
          </p15:clr>
        </p15:guide>
        <p15:guide id="2" pos="109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137B73-C207-1407-898B-797CE70D2312}" name="Read, Zoe" initials="ZR" userId="S::ReadZ@SI.EDU::b08cd0fd-26d2-470b-8ec0-c6e6cb2a79b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FE2"/>
    <a:srgbClr val="4197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61ACA4-D6F5-4BF7-A9F8-CB4C4CECE084}" v="15" dt="2026-03-10T12:42:02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47"/>
    <p:restoredTop sz="96247" autoAdjust="0"/>
  </p:normalViewPr>
  <p:slideViewPr>
    <p:cSldViewPr>
      <p:cViewPr>
        <p:scale>
          <a:sx n="60" d="100"/>
          <a:sy n="60" d="100"/>
        </p:scale>
        <p:origin x="-6" y="-7446"/>
      </p:cViewPr>
      <p:guideLst>
        <p:guide orient="horz" pos="11146"/>
        <p:guide pos="109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10" Type="http://schemas.microsoft.com/office/2018/10/relationships/authors" Target="author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ad, Zoe" userId="b08cd0fd-26d2-470b-8ec0-c6e6cb2a79bd" providerId="ADAL" clId="{5AEB2719-95A5-4ED2-9E0E-ED462BB10526}"/>
    <pc:docChg chg="undo custSel modSld">
      <pc:chgData name="Read, Zoe" userId="b08cd0fd-26d2-470b-8ec0-c6e6cb2a79bd" providerId="ADAL" clId="{5AEB2719-95A5-4ED2-9E0E-ED462BB10526}" dt="2026-03-10T12:43:35.979" v="1004" actId="1076"/>
      <pc:docMkLst>
        <pc:docMk/>
      </pc:docMkLst>
      <pc:sldChg chg="addSp delSp modSp mod">
        <pc:chgData name="Read, Zoe" userId="b08cd0fd-26d2-470b-8ec0-c6e6cb2a79bd" providerId="ADAL" clId="{5AEB2719-95A5-4ED2-9E0E-ED462BB10526}" dt="2026-03-10T12:43:35.979" v="1004" actId="1076"/>
        <pc:sldMkLst>
          <pc:docMk/>
          <pc:sldMk cId="2005456116" sldId="257"/>
        </pc:sldMkLst>
        <pc:spChg chg="mod">
          <ac:chgData name="Read, Zoe" userId="b08cd0fd-26d2-470b-8ec0-c6e6cb2a79bd" providerId="ADAL" clId="{5AEB2719-95A5-4ED2-9E0E-ED462BB10526}" dt="2026-03-06T17:08:42.361" v="157" actId="5793"/>
          <ac:spMkLst>
            <pc:docMk/>
            <pc:sldMk cId="2005456116" sldId="257"/>
            <ac:spMk id="2" creationId="{B60AF3C6-E87C-784C-EFEA-27D2ADCE070F}"/>
          </ac:spMkLst>
        </pc:spChg>
        <pc:spChg chg="mod">
          <ac:chgData name="Read, Zoe" userId="b08cd0fd-26d2-470b-8ec0-c6e6cb2a79bd" providerId="ADAL" clId="{5AEB2719-95A5-4ED2-9E0E-ED462BB10526}" dt="2026-03-06T17:01:57.063" v="153" actId="20577"/>
          <ac:spMkLst>
            <pc:docMk/>
            <pc:sldMk cId="2005456116" sldId="257"/>
            <ac:spMk id="3" creationId="{69275BAE-6112-7B97-7490-496A68DBDB86}"/>
          </ac:spMkLst>
        </pc:spChg>
        <pc:spChg chg="mod">
          <ac:chgData name="Read, Zoe" userId="b08cd0fd-26d2-470b-8ec0-c6e6cb2a79bd" providerId="ADAL" clId="{5AEB2719-95A5-4ED2-9E0E-ED462BB10526}" dt="2026-03-09T12:04:44.834" v="864" actId="1076"/>
          <ac:spMkLst>
            <pc:docMk/>
            <pc:sldMk cId="2005456116" sldId="257"/>
            <ac:spMk id="4" creationId="{F1744425-34AA-4364-9092-1BDEEA96FD0B}"/>
          </ac:spMkLst>
        </pc:spChg>
        <pc:spChg chg="add mod">
          <ac:chgData name="Read, Zoe" userId="b08cd0fd-26d2-470b-8ec0-c6e6cb2a79bd" providerId="ADAL" clId="{5AEB2719-95A5-4ED2-9E0E-ED462BB10526}" dt="2026-03-09T12:05:25.785" v="873" actId="1076"/>
          <ac:spMkLst>
            <pc:docMk/>
            <pc:sldMk cId="2005456116" sldId="257"/>
            <ac:spMk id="5" creationId="{611D73CC-38EE-87A4-659B-7AFB71426A3B}"/>
          </ac:spMkLst>
        </pc:spChg>
        <pc:spChg chg="add mod">
          <ac:chgData name="Read, Zoe" userId="b08cd0fd-26d2-470b-8ec0-c6e6cb2a79bd" providerId="ADAL" clId="{5AEB2719-95A5-4ED2-9E0E-ED462BB10526}" dt="2026-03-10T12:43:35.979" v="1004" actId="1076"/>
          <ac:spMkLst>
            <pc:docMk/>
            <pc:sldMk cId="2005456116" sldId="257"/>
            <ac:spMk id="7" creationId="{B580F8D7-E067-282C-0BEF-1FA899DCFD3B}"/>
          </ac:spMkLst>
        </pc:spChg>
        <pc:spChg chg="mod">
          <ac:chgData name="Read, Zoe" userId="b08cd0fd-26d2-470b-8ec0-c6e6cb2a79bd" providerId="ADAL" clId="{5AEB2719-95A5-4ED2-9E0E-ED462BB10526}" dt="2026-03-09T12:05:45.091" v="901" actId="20577"/>
          <ac:spMkLst>
            <pc:docMk/>
            <pc:sldMk cId="2005456116" sldId="257"/>
            <ac:spMk id="12" creationId="{0C87B8A1-9733-67EB-E4E3-F2570D73F838}"/>
          </ac:spMkLst>
        </pc:spChg>
        <pc:picChg chg="add del mod">
          <ac:chgData name="Read, Zoe" userId="b08cd0fd-26d2-470b-8ec0-c6e6cb2a79bd" providerId="ADAL" clId="{5AEB2719-95A5-4ED2-9E0E-ED462BB10526}" dt="2026-03-09T12:17:31.600" v="905" actId="478"/>
          <ac:picMkLst>
            <pc:docMk/>
            <pc:sldMk cId="2005456116" sldId="257"/>
            <ac:picMk id="9" creationId="{FF3A475C-502A-AE3E-6697-DF5A24EADBA6}"/>
          </ac:picMkLst>
        </pc:picChg>
        <pc:picChg chg="add del mod">
          <ac:chgData name="Read, Zoe" userId="b08cd0fd-26d2-470b-8ec0-c6e6cb2a79bd" providerId="ADAL" clId="{5AEB2719-95A5-4ED2-9E0E-ED462BB10526}" dt="2026-03-10T12:41:59.878" v="906" actId="478"/>
          <ac:picMkLst>
            <pc:docMk/>
            <pc:sldMk cId="2005456116" sldId="257"/>
            <ac:picMk id="10" creationId="{0A86C89A-5889-65B9-1137-F480341B9783}"/>
          </ac:picMkLst>
        </pc:picChg>
        <pc:picChg chg="add mod">
          <ac:chgData name="Read, Zoe" userId="b08cd0fd-26d2-470b-8ec0-c6e6cb2a79bd" providerId="ADAL" clId="{5AEB2719-95A5-4ED2-9E0E-ED462BB10526}" dt="2026-03-06T17:29:39.847" v="851" actId="1076"/>
          <ac:picMkLst>
            <pc:docMk/>
            <pc:sldMk cId="2005456116" sldId="257"/>
            <ac:picMk id="13" creationId="{6D65798C-DAB9-914B-7ECA-E6D17BBC9E45}"/>
          </ac:picMkLst>
        </pc:picChg>
        <pc:picChg chg="add mod">
          <ac:chgData name="Read, Zoe" userId="b08cd0fd-26d2-470b-8ec0-c6e6cb2a79bd" providerId="ADAL" clId="{5AEB2719-95A5-4ED2-9E0E-ED462BB10526}" dt="2026-03-10T12:42:29.698" v="917" actId="1076"/>
          <ac:picMkLst>
            <pc:docMk/>
            <pc:sldMk cId="2005456116" sldId="257"/>
            <ac:picMk id="14" creationId="{D874F7CA-9ADB-8489-D018-7E0521CCE737}"/>
          </ac:picMkLst>
        </pc:picChg>
        <pc:cxnChg chg="mod">
          <ac:chgData name="Read, Zoe" userId="b08cd0fd-26d2-470b-8ec0-c6e6cb2a79bd" providerId="ADAL" clId="{5AEB2719-95A5-4ED2-9E0E-ED462BB10526}" dt="2026-03-09T12:04:41.371" v="863" actId="1076"/>
          <ac:cxnSpMkLst>
            <pc:docMk/>
            <pc:sldMk cId="2005456116" sldId="257"/>
            <ac:cxnSpMk id="1031" creationId="{00BF45BC-03E3-27BE-C768-387C6B2C806C}"/>
          </ac:cxnSpMkLst>
        </pc:cxnChg>
        <pc:cxnChg chg="mod">
          <ac:chgData name="Read, Zoe" userId="b08cd0fd-26d2-470b-8ec0-c6e6cb2a79bd" providerId="ADAL" clId="{5AEB2719-95A5-4ED2-9E0E-ED462BB10526}" dt="2026-03-09T12:05:28.706" v="874" actId="1076"/>
          <ac:cxnSpMkLst>
            <pc:docMk/>
            <pc:sldMk cId="2005456116" sldId="257"/>
            <ac:cxnSpMk id="1036" creationId="{A0864A2A-8580-B800-4329-34DD10B52D76}"/>
          </ac:cxnSpMkLst>
        </pc:cxnChg>
        <pc:cxnChg chg="mod">
          <ac:chgData name="Read, Zoe" userId="b08cd0fd-26d2-470b-8ec0-c6e6cb2a79bd" providerId="ADAL" clId="{5AEB2719-95A5-4ED2-9E0E-ED462BB10526}" dt="2026-03-10T12:42:24.825" v="916" actId="1076"/>
          <ac:cxnSpMkLst>
            <pc:docMk/>
            <pc:sldMk cId="2005456116" sldId="257"/>
            <ac:cxnSpMk id="1044" creationId="{8463A8F4-CE87-F09A-8258-6D6979B36D80}"/>
          </ac:cxnSpMkLst>
        </pc:cxnChg>
      </pc:sldChg>
    </pc:docChg>
  </pc:docChgLst>
</pc:chgInfo>
</file>

<file path=ppt/comments/modernComment_101_7788D4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54005E-3DFA-4299-9DD0-B44794E496C1}" authorId="{50137B73-C207-1407-898B-797CE70D2312}" created="2026-03-06T17:25:40.92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05456116" sldId="257"/>
      <ac:picMk id="10" creationId="{0A86C89A-5889-65B9-1137-F480341B9783}"/>
    </ac:deMkLst>
    <p188:txBody>
      <a:bodyPr/>
      <a:lstStyle/>
      <a:p>
        <a:r>
          <a:rPr lang="en-US"/>
          <a:t>Add a title that includes: “Fig 1. SO4 values across sites and zones. N samples = ?” and maybe have the Sites and Zones written out here. </a:t>
        </a:r>
      </a:p>
    </p188:txBody>
  </p188:cm>
  <p188:cm id="{D8865092-41B9-4A7A-8291-CC012781D643}" authorId="{50137B73-C207-1407-898B-797CE70D2312}" created="2026-03-06T17:31:19.7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05456116" sldId="257"/>
      <ac:picMk id="13" creationId="{6D65798C-DAB9-914B-7ECA-E6D17BBC9E45}"/>
    </ac:deMkLst>
    <p188:txBody>
      <a:bodyPr/>
      <a:lstStyle/>
      <a:p>
        <a:r>
          <a:rPr lang="en-US"/>
          <a:t>Switch the depth to the y-axis and sulfate to the y-axis and color by zone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7BD97-90D8-3541-9414-B17D17D02539}" type="datetimeFigureOut">
              <a:rPr lang="en-US" smtClean="0"/>
              <a:t>3/9/2026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746250" y="685800"/>
            <a:ext cx="33655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32DB95-ECDB-0847-8712-29974AF33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69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1pPr>
    <a:lvl2pPr marL="584411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2pPr>
    <a:lvl3pPr marL="1168823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3pPr>
    <a:lvl4pPr marL="1753234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4pPr>
    <a:lvl5pPr marL="2337645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5pPr>
    <a:lvl6pPr marL="2922057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6pPr>
    <a:lvl7pPr marL="3506468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7pPr>
    <a:lvl8pPr marL="4090879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8pPr>
    <a:lvl9pPr marL="4675291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746250" y="685800"/>
            <a:ext cx="3365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• Contact Digital Duplicating (375-2969, http://</a:t>
            </a:r>
            <a:r>
              <a:rPr lang="en-US" baseline="0" dirty="0" err="1"/>
              <a:t>digitalduplicating.pnl.gov</a:t>
            </a:r>
            <a:r>
              <a:rPr lang="en-US" baseline="0" dirty="0"/>
              <a:t>) to order poster printing and finishing services for your completed poster design.</a:t>
            </a:r>
          </a:p>
          <a:p>
            <a:r>
              <a:rPr lang="en-US" baseline="0" dirty="0"/>
              <a:t>• Remember to have your poster cleared for public display/distribution through the ERICA Information Release system (http://</a:t>
            </a:r>
            <a:r>
              <a:rPr lang="en-US" baseline="0" dirty="0" err="1"/>
              <a:t>erica.pnl.gov</a:t>
            </a:r>
            <a:r>
              <a:rPr lang="en-US" baseline="0" dirty="0"/>
              <a:t>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32DB95-ECDB-0847-8712-29974AF33C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292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4D0AFE-D266-7149-9388-0CB3CC5C87ED}"/>
              </a:ext>
            </a:extLst>
          </p:cNvPr>
          <p:cNvSpPr/>
          <p:nvPr userDrawn="1"/>
        </p:nvSpPr>
        <p:spPr>
          <a:xfrm>
            <a:off x="0" y="0"/>
            <a:ext cx="34747200" cy="737228"/>
          </a:xfrm>
          <a:prstGeom prst="rect">
            <a:avLst/>
          </a:prstGeom>
          <a:solidFill>
            <a:srgbClr val="419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236"/>
          </a:p>
        </p:txBody>
      </p:sp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03672AAF-4B6B-9046-B08E-E3EDCC2CB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6140833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lang="en-US" dirty="0">
                <a:solidFill>
                  <a:srgbClr val="419758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658E99-2B7E-A94A-AE07-8B6946534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4" y="4300499"/>
            <a:ext cx="26089544" cy="1105843"/>
          </a:xfrm>
          <a:prstGeom prst="rect">
            <a:avLst/>
          </a:prstGeom>
        </p:spPr>
        <p:txBody>
          <a:bodyPr/>
          <a:lstStyle>
            <a:lvl1pPr>
              <a:defRPr lang="en-US" sz="3800" dirty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C0CC5A-BCC7-7A40-B8AC-3C8CB9773C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5633" y="6143570"/>
            <a:ext cx="16026342" cy="6512184"/>
          </a:xfrm>
          <a:prstGeom prst="rect">
            <a:avLst/>
          </a:prstGeom>
        </p:spPr>
        <p:txBody>
          <a:bodyPr/>
          <a:lstStyle>
            <a:lvl1pPr>
              <a:defRPr lang="en-US" sz="28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631EFDE9-D317-6E45-88B1-57517D7BFE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45633" y="13024368"/>
            <a:ext cx="10134600" cy="835525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4DD70-5E36-AE41-A65A-4190E3663EBC}"/>
              </a:ext>
            </a:extLst>
          </p:cNvPr>
          <p:cNvSpPr txBox="1"/>
          <p:nvPr userDrawn="1"/>
        </p:nvSpPr>
        <p:spPr>
          <a:xfrm>
            <a:off x="5368925" y="33789635"/>
            <a:ext cx="10677525" cy="1188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75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E247A-04BD-BE4B-92FB-FB837DE1CD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8199" y="1351585"/>
            <a:ext cx="7374731" cy="2349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1DE48B-5647-A9EA-1675-F9CED45CC64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67368" y="33513174"/>
            <a:ext cx="3619500" cy="1013689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323AE28-6C10-A6FB-A7A3-33DB777A47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675226" y="6143570"/>
            <a:ext cx="16038909" cy="6512184"/>
          </a:xfrm>
          <a:prstGeom prst="rect">
            <a:avLst/>
          </a:prstGeom>
        </p:spPr>
        <p:txBody>
          <a:bodyPr/>
          <a:lstStyle>
            <a:lvl1pPr>
              <a:defRPr lang="en-US" sz="2850" smtClean="0">
                <a:solidFill>
                  <a:schemeClr val="tx1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3059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7A1BC5-04C5-424E-B098-F40040519109}"/>
              </a:ext>
            </a:extLst>
          </p:cNvPr>
          <p:cNvSpPr/>
          <p:nvPr userDrawn="1"/>
        </p:nvSpPr>
        <p:spPr>
          <a:xfrm>
            <a:off x="0" y="0"/>
            <a:ext cx="34747200" cy="737228"/>
          </a:xfrm>
          <a:prstGeom prst="rect">
            <a:avLst/>
          </a:prstGeom>
          <a:solidFill>
            <a:srgbClr val="75B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236"/>
          </a:p>
        </p:txBody>
      </p:sp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54D62BC3-C003-A84C-B368-EA134F3F5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6140833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7917">
                <a:solidFill>
                  <a:srgbClr val="75BFE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7D32DA8-2330-A247-A794-A1FB0E6D7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4" y="4300499"/>
            <a:ext cx="26089544" cy="1105843"/>
          </a:xfrm>
          <a:prstGeom prst="rect">
            <a:avLst/>
          </a:prstGeom>
        </p:spPr>
        <p:txBody>
          <a:bodyPr/>
          <a:lstStyle>
            <a:lvl1pPr>
              <a:defRPr sz="3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A885556-C088-B64F-ACA3-FF4240EFD0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5633" y="6143570"/>
            <a:ext cx="16026342" cy="6512184"/>
          </a:xfrm>
          <a:prstGeom prst="rect">
            <a:avLst/>
          </a:prstGeom>
        </p:spPr>
        <p:txBody>
          <a:bodyPr/>
          <a:lstStyle>
            <a:lvl1pPr>
              <a:defRPr sz="28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6465F565-98C7-4641-9D07-BBDFC2A192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45633" y="13024368"/>
            <a:ext cx="10134600" cy="835525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28F6D04-A06E-684E-8C67-976CAB7FFE1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8199" y="1351585"/>
            <a:ext cx="7374731" cy="23499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FD9DC2-4A89-3FD6-54FA-1164F3422A10}"/>
              </a:ext>
            </a:extLst>
          </p:cNvPr>
          <p:cNvSpPr txBox="1"/>
          <p:nvPr userDrawn="1"/>
        </p:nvSpPr>
        <p:spPr>
          <a:xfrm>
            <a:off x="5368925" y="33789635"/>
            <a:ext cx="10677525" cy="1188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75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331CA-E7E1-FDCC-6B95-1A35867FC6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67368" y="33513174"/>
            <a:ext cx="3619500" cy="1013689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13659340-3524-A165-87E8-5B58571302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674681" y="6143570"/>
            <a:ext cx="16039454" cy="6512184"/>
          </a:xfrm>
          <a:prstGeom prst="rect">
            <a:avLst/>
          </a:prstGeom>
        </p:spPr>
        <p:txBody>
          <a:bodyPr/>
          <a:lstStyle>
            <a:lvl1pPr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</a:pPr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6001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79FD72-BCA5-F24C-9A3D-76ABA0D3F90D}"/>
              </a:ext>
            </a:extLst>
          </p:cNvPr>
          <p:cNvPicPr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850"/>
          <a:stretch/>
        </p:blipFill>
        <p:spPr>
          <a:xfrm>
            <a:off x="0" y="31442791"/>
            <a:ext cx="34747200" cy="3944172"/>
          </a:xfrm>
          <a:prstGeom prst="rect">
            <a:avLst/>
          </a:prstGeom>
        </p:spPr>
      </p:pic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D5336751-8B97-CB48-BAFB-A2B59127B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9968120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846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1654622" rtl="0" eaLnBrk="1" latinLnBrk="0" hangingPunct="1">
        <a:spcBef>
          <a:spcPct val="0"/>
        </a:spcBef>
        <a:buNone/>
        <a:defRPr lang="en-US" sz="7917" kern="1200" dirty="0">
          <a:solidFill>
            <a:srgbClr val="75BFE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1654622" rtl="0" eaLnBrk="1" latinLnBrk="0" hangingPunct="1">
        <a:spcBef>
          <a:spcPct val="20000"/>
        </a:spcBef>
        <a:buFont typeface="Arial" pitchFamily="34" charset="0"/>
        <a:buNone/>
        <a:defRPr sz="3905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344381" indent="-517070" algn="l" defTabSz="1654622" rtl="0" eaLnBrk="1" latinLnBrk="0" hangingPunct="1">
        <a:spcBef>
          <a:spcPct val="20000"/>
        </a:spcBef>
        <a:buFont typeface="Arial" pitchFamily="34" charset="0"/>
        <a:buChar char="–"/>
        <a:defRPr sz="5067" kern="1200">
          <a:solidFill>
            <a:schemeClr val="tx1"/>
          </a:solidFill>
          <a:latin typeface="+mn-lt"/>
          <a:ea typeface="+mn-ea"/>
          <a:cs typeface="+mn-cs"/>
        </a:defRPr>
      </a:lvl2pPr>
      <a:lvl3pPr marL="2068278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4328" kern="1200">
          <a:solidFill>
            <a:schemeClr val="tx1"/>
          </a:solidFill>
          <a:latin typeface="+mn-lt"/>
          <a:ea typeface="+mn-ea"/>
          <a:cs typeface="+mn-cs"/>
        </a:defRPr>
      </a:lvl3pPr>
      <a:lvl4pPr marL="2895590" indent="-413656" algn="l" defTabSz="1654622" rtl="0" eaLnBrk="1" latinLnBrk="0" hangingPunct="1">
        <a:spcBef>
          <a:spcPct val="20000"/>
        </a:spcBef>
        <a:buFont typeface="Arial" pitchFamily="34" charset="0"/>
        <a:buChar char="–"/>
        <a:defRPr sz="3695" kern="1200">
          <a:solidFill>
            <a:schemeClr val="tx1"/>
          </a:solidFill>
          <a:latin typeface="+mn-lt"/>
          <a:ea typeface="+mn-ea"/>
          <a:cs typeface="+mn-cs"/>
        </a:defRPr>
      </a:lvl4pPr>
      <a:lvl5pPr marL="3722900" indent="-413656" algn="l" defTabSz="1654622" rtl="0" eaLnBrk="1" latinLnBrk="0" hangingPunct="1">
        <a:spcBef>
          <a:spcPct val="20000"/>
        </a:spcBef>
        <a:buFont typeface="Arial" pitchFamily="34" charset="0"/>
        <a:buChar char="»"/>
        <a:defRPr sz="3695" kern="1200">
          <a:solidFill>
            <a:schemeClr val="tx1"/>
          </a:solidFill>
          <a:latin typeface="+mn-lt"/>
          <a:ea typeface="+mn-ea"/>
          <a:cs typeface="+mn-cs"/>
        </a:defRPr>
      </a:lvl5pPr>
      <a:lvl6pPr marL="4550212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6pPr>
      <a:lvl7pPr marL="5377522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7pPr>
      <a:lvl8pPr marL="6204835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8pPr>
      <a:lvl9pPr marL="7032146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1pPr>
      <a:lvl2pPr marL="827311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2pPr>
      <a:lvl3pPr marL="1654622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3pPr>
      <a:lvl4pPr marL="2481934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4pPr>
      <a:lvl5pPr marL="3309245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5pPr>
      <a:lvl6pPr marL="4136556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6pPr>
      <a:lvl7pPr marL="4963868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7pPr>
      <a:lvl8pPr marL="5791179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8pPr>
      <a:lvl9pPr marL="6618490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7788D4F4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AF3C6-E87C-784C-EFEA-27D2ADCE0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Porewater across time and depth trends…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75BAE-6112-7B97-7490-496A68DBDB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5" y="4098632"/>
            <a:ext cx="31415565" cy="1969364"/>
          </a:xfrm>
        </p:spPr>
        <p:txBody>
          <a:bodyPr/>
          <a:lstStyle/>
          <a:p>
            <a:r>
              <a:rPr lang="en-US" sz="3600" b="1" dirty="0"/>
              <a:t>Zoe Read, </a:t>
            </a:r>
            <a:r>
              <a:rPr lang="en-US" sz="3600" dirty="0"/>
              <a:t>Stephanie J. Wilson, Pat Megonigal, Alice Stearns, Evan Phillips, Ben Bond-Lamberty</a:t>
            </a:r>
          </a:p>
          <a:p>
            <a:r>
              <a:rPr lang="en-US" sz="3200" baseline="30000" dirty="0"/>
              <a:t>1</a:t>
            </a:r>
            <a:r>
              <a:rPr lang="en-US" sz="3200" dirty="0"/>
              <a:t>Smithsonian Environmental Research Center, Maryland, USA, </a:t>
            </a:r>
            <a:r>
              <a:rPr lang="en-US" sz="3200" baseline="30000" dirty="0"/>
              <a:t>2</a:t>
            </a:r>
            <a:r>
              <a:rPr lang="en-US" sz="3200" dirty="0"/>
              <a:t>Pacific Northwest National Laboratory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744425-34AA-4364-9092-1BDEEA96F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357241" y="5723399"/>
            <a:ext cx="13411198" cy="1843768"/>
          </a:xfrm>
          <a:ln>
            <a:noFill/>
          </a:ln>
        </p:spPr>
        <p:txBody>
          <a:bodyPr/>
          <a:lstStyle/>
          <a:p>
            <a:r>
              <a:rPr lang="en-US" sz="3600" b="1" dirty="0">
                <a:solidFill>
                  <a:srgbClr val="75BFE2"/>
                </a:solidFill>
              </a:rPr>
              <a:t>Background</a:t>
            </a:r>
            <a:r>
              <a:rPr lang="en-US" b="1" dirty="0"/>
              <a:t> </a:t>
            </a:r>
          </a:p>
          <a:p>
            <a:pPr lvl="0"/>
            <a:r>
              <a:rPr lang="en-US" dirty="0"/>
              <a:t>Visual hook of taking samples, COMPASS Project, Sites, and Zones – conceptual diagram or overhead photo of sites 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C27ACF02-AE38-EED1-52AD-AE57386B0269}"/>
              </a:ext>
            </a:extLst>
          </p:cNvPr>
          <p:cNvSpPr txBox="1">
            <a:spLocks/>
          </p:cNvSpPr>
          <p:nvPr/>
        </p:nvSpPr>
        <p:spPr>
          <a:xfrm>
            <a:off x="32122855" y="1292045"/>
            <a:ext cx="2624345" cy="1025955"/>
          </a:xfrm>
          <a:prstGeom prst="rect">
            <a:avLst/>
          </a:prstGeom>
        </p:spPr>
        <p:txBody>
          <a:bodyPr/>
          <a:lstStyle>
            <a:lvl1pPr marL="0" indent="0" algn="l" defTabSz="3309339" rtl="0" eaLnBrk="1" latinLnBrk="0" hangingPunct="1">
              <a:spcBef>
                <a:spcPct val="20000"/>
              </a:spcBef>
              <a:buFont typeface="Arial" pitchFamily="34" charset="0"/>
              <a:buNone/>
              <a:defRPr sz="4053" kern="120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2688837" indent="-1034168" algn="l" defTabSz="33093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0134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4136674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65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791341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73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446012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73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9100680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73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0755348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73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2410021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73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4064688" indent="-827335" algn="l" defTabSz="3309339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738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/>
              <a:t>0668 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C87B8A1-9733-67EB-E4E3-F2570D73F838}"/>
              </a:ext>
            </a:extLst>
          </p:cNvPr>
          <p:cNvSpPr txBox="1">
            <a:spLocks/>
          </p:cNvSpPr>
          <p:nvPr/>
        </p:nvSpPr>
        <p:spPr>
          <a:xfrm>
            <a:off x="1357241" y="11002963"/>
            <a:ext cx="15330559" cy="3372734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Methodology</a:t>
            </a:r>
            <a:endParaRPr lang="en-US" dirty="0"/>
          </a:p>
          <a:p>
            <a:r>
              <a:rPr lang="en-US" sz="2800" dirty="0"/>
              <a:t>Study Locations</a:t>
            </a:r>
          </a:p>
          <a:p>
            <a:pPr marL="1801581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Four coastal wetlands in the Chesapeake Bay Region that are oligohaline, mesohaline,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polyhaline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1801581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Porewater sampling from 2022-2025  </a:t>
            </a:r>
          </a:p>
          <a:p>
            <a:pPr marL="1801581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Analyzed for DIC, DOC, Total Alkalinity, CDOM, H</a:t>
            </a:r>
            <a:r>
              <a:rPr lang="en-US" sz="28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S, Cl</a:t>
            </a:r>
            <a:r>
              <a:rPr lang="en-US" sz="2800" baseline="30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SO</a:t>
            </a:r>
            <a:r>
              <a:rPr lang="en-US" sz="2800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800" baseline="30000" dirty="0">
                <a:latin typeface="Arial" panose="020B0604020202020204" pitchFamily="34" charset="0"/>
                <a:cs typeface="Arial" panose="020B0604020202020204" pitchFamily="34" charset="0"/>
              </a:rPr>
              <a:t>2-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Nutrients</a:t>
            </a:r>
          </a:p>
          <a:p>
            <a:endParaRPr lang="en-US" sz="2800" dirty="0"/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00BF45BC-03E3-27BE-C768-387C6B2C806C}"/>
              </a:ext>
            </a:extLst>
          </p:cNvPr>
          <p:cNvCxnSpPr/>
          <p:nvPr/>
        </p:nvCxnSpPr>
        <p:spPr>
          <a:xfrm>
            <a:off x="685800" y="5577681"/>
            <a:ext cx="3337560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Straight Connector 1035">
            <a:extLst>
              <a:ext uri="{FF2B5EF4-FFF2-40B4-BE49-F238E27FC236}">
                <a16:creationId xmlns:a16="http://schemas.microsoft.com/office/drawing/2014/main" id="{A0864A2A-8580-B800-4329-34DD10B52D76}"/>
              </a:ext>
            </a:extLst>
          </p:cNvPr>
          <p:cNvCxnSpPr>
            <a:cxnSpLocks/>
          </p:cNvCxnSpPr>
          <p:nvPr/>
        </p:nvCxnSpPr>
        <p:spPr>
          <a:xfrm>
            <a:off x="1357241" y="10759281"/>
            <a:ext cx="1586215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209C8AEE-D29E-C2A9-B7F5-38C8AE3FDCAC}"/>
              </a:ext>
            </a:extLst>
          </p:cNvPr>
          <p:cNvCxnSpPr/>
          <p:nvPr/>
        </p:nvCxnSpPr>
        <p:spPr>
          <a:xfrm>
            <a:off x="18059400" y="6564897"/>
            <a:ext cx="0" cy="2446020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8463A8F4-CE87-F09A-8258-6D6979B36D80}"/>
              </a:ext>
            </a:extLst>
          </p:cNvPr>
          <p:cNvCxnSpPr>
            <a:cxnSpLocks/>
          </p:cNvCxnSpPr>
          <p:nvPr/>
        </p:nvCxnSpPr>
        <p:spPr>
          <a:xfrm>
            <a:off x="1357241" y="20094696"/>
            <a:ext cx="1586215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6" name="Text Placeholder 3">
            <a:extLst>
              <a:ext uri="{FF2B5EF4-FFF2-40B4-BE49-F238E27FC236}">
                <a16:creationId xmlns:a16="http://schemas.microsoft.com/office/drawing/2014/main" id="{3D22E29A-542C-2707-EE87-D32E923FD26A}"/>
              </a:ext>
            </a:extLst>
          </p:cNvPr>
          <p:cNvSpPr txBox="1">
            <a:spLocks/>
          </p:cNvSpPr>
          <p:nvPr/>
        </p:nvSpPr>
        <p:spPr>
          <a:xfrm>
            <a:off x="18899410" y="6564898"/>
            <a:ext cx="13411199" cy="2746844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Results</a:t>
            </a:r>
            <a:r>
              <a:rPr lang="en-US" b="1" dirty="0"/>
              <a:t>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Something about how the sites compare to one another across the gradient </a:t>
            </a:r>
          </a:p>
          <a:p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580F8D7-E067-282C-0BEF-1FA899DCFD3B}"/>
              </a:ext>
            </a:extLst>
          </p:cNvPr>
          <p:cNvSpPr txBox="1">
            <a:spLocks/>
          </p:cNvSpPr>
          <p:nvPr/>
        </p:nvSpPr>
        <p:spPr>
          <a:xfrm>
            <a:off x="1591901" y="20223361"/>
            <a:ext cx="12524149" cy="2328963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Depth</a:t>
            </a:r>
            <a:endParaRPr lang="en-US" dirty="0"/>
          </a:p>
          <a:p>
            <a:pPr marL="1801581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3 Depths: 10, 20, and 45 cm</a:t>
            </a:r>
          </a:p>
          <a:p>
            <a:pPr marL="1801581" lvl="1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Porewater analytes vary more by Zone than by Depth</a:t>
            </a:r>
            <a:endParaRPr lang="en-US" sz="2800" dirty="0"/>
          </a:p>
        </p:txBody>
      </p:sp>
      <p:pic>
        <p:nvPicPr>
          <p:cNvPr id="13" name="Picture 12" descr="A graph of different sizes and colors&#10;&#10;AI-generated content may be incorrect.">
            <a:extLst>
              <a:ext uri="{FF2B5EF4-FFF2-40B4-BE49-F238E27FC236}">
                <a16:creationId xmlns:a16="http://schemas.microsoft.com/office/drawing/2014/main" id="{6D65798C-DAB9-914B-7ECA-E6D17BBC9E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372" y="22437884"/>
            <a:ext cx="18288036" cy="914401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1D73CC-38EE-87A4-659B-7AFB71426A3B}"/>
              </a:ext>
            </a:extLst>
          </p:cNvPr>
          <p:cNvSpPr txBox="1"/>
          <p:nvPr/>
        </p:nvSpPr>
        <p:spPr>
          <a:xfrm>
            <a:off x="562192" y="7541832"/>
            <a:ext cx="15862149" cy="3000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600" b="1" dirty="0">
                <a:solidFill>
                  <a:srgbClr val="75BFE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Hypothesis: 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is a hierarchical structure to </a:t>
            </a:r>
            <a:r>
              <a:rPr lang="en-US" sz="3200" b="0" i="0" u="sng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spatial </a:t>
            </a: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variation in ecosystem structure and function at the coastal TAI that is set by:</a:t>
            </a:r>
            <a:endParaRPr lang="en-US" sz="32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1) the 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depth and duration of soil saturation </a:t>
            </a:r>
            <a:endParaRPr lang="en-US" sz="32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2) the abundance of </a:t>
            </a:r>
            <a:r>
              <a:rPr lang="en-US" sz="32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redox-sensitive elements</a:t>
            </a: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3) their</a:t>
            </a:r>
            <a:r>
              <a:rPr lang="en-US" sz="32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interactions with plant traits</a:t>
            </a:r>
            <a:endParaRPr lang="en-US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Picture 13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D874F7CA-9ADB-8489-D018-7E0521CCE73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316" y="14245584"/>
            <a:ext cx="17526000" cy="58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4561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12871</TotalTime>
  <Words>238</Words>
  <Application>Microsoft Office PowerPoint</Application>
  <PresentationFormat>Custom</PresentationFormat>
  <Paragraphs>23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Office Theme</vt:lpstr>
      <vt:lpstr>Porewater across time and depth trends…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Read, Zoe</cp:lastModifiedBy>
  <cp:revision>52</cp:revision>
  <dcterms:created xsi:type="dcterms:W3CDTF">2012-11-30T02:20:55Z</dcterms:created>
  <dcterms:modified xsi:type="dcterms:W3CDTF">2026-03-10T12:43:37Z</dcterms:modified>
</cp:coreProperties>
</file>