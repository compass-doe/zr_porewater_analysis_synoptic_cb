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1_7788D4F4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34747200" cy="35386963"/>
  <p:notesSz cx="6858000" cy="9144000"/>
  <p:defaultTextStyle>
    <a:defPPr>
      <a:defRPr lang="en-US"/>
    </a:defPPr>
    <a:lvl1pPr marL="0" algn="l" defTabSz="2003654" rtl="0" eaLnBrk="1" latinLnBrk="0" hangingPunct="1">
      <a:defRPr sz="3963" kern="1200">
        <a:solidFill>
          <a:schemeClr val="tx1"/>
        </a:solidFill>
        <a:latin typeface="+mn-lt"/>
        <a:ea typeface="+mn-ea"/>
        <a:cs typeface="+mn-cs"/>
      </a:defRPr>
    </a:lvl1pPr>
    <a:lvl2pPr marL="1001827" algn="l" defTabSz="2003654" rtl="0" eaLnBrk="1" latinLnBrk="0" hangingPunct="1">
      <a:defRPr sz="3963" kern="1200">
        <a:solidFill>
          <a:schemeClr val="tx1"/>
        </a:solidFill>
        <a:latin typeface="+mn-lt"/>
        <a:ea typeface="+mn-ea"/>
        <a:cs typeface="+mn-cs"/>
      </a:defRPr>
    </a:lvl2pPr>
    <a:lvl3pPr marL="2003654" algn="l" defTabSz="2003654" rtl="0" eaLnBrk="1" latinLnBrk="0" hangingPunct="1">
      <a:defRPr sz="3963" kern="1200">
        <a:solidFill>
          <a:schemeClr val="tx1"/>
        </a:solidFill>
        <a:latin typeface="+mn-lt"/>
        <a:ea typeface="+mn-ea"/>
        <a:cs typeface="+mn-cs"/>
      </a:defRPr>
    </a:lvl3pPr>
    <a:lvl4pPr marL="3005483" algn="l" defTabSz="2003654" rtl="0" eaLnBrk="1" latinLnBrk="0" hangingPunct="1">
      <a:defRPr sz="3963" kern="1200">
        <a:solidFill>
          <a:schemeClr val="tx1"/>
        </a:solidFill>
        <a:latin typeface="+mn-lt"/>
        <a:ea typeface="+mn-ea"/>
        <a:cs typeface="+mn-cs"/>
      </a:defRPr>
    </a:lvl4pPr>
    <a:lvl5pPr marL="4007310" algn="l" defTabSz="2003654" rtl="0" eaLnBrk="1" latinLnBrk="0" hangingPunct="1">
      <a:defRPr sz="3963" kern="1200">
        <a:solidFill>
          <a:schemeClr val="tx1"/>
        </a:solidFill>
        <a:latin typeface="+mn-lt"/>
        <a:ea typeface="+mn-ea"/>
        <a:cs typeface="+mn-cs"/>
      </a:defRPr>
    </a:lvl5pPr>
    <a:lvl6pPr marL="5009137" algn="l" defTabSz="2003654" rtl="0" eaLnBrk="1" latinLnBrk="0" hangingPunct="1">
      <a:defRPr sz="3963" kern="1200">
        <a:solidFill>
          <a:schemeClr val="tx1"/>
        </a:solidFill>
        <a:latin typeface="+mn-lt"/>
        <a:ea typeface="+mn-ea"/>
        <a:cs typeface="+mn-cs"/>
      </a:defRPr>
    </a:lvl6pPr>
    <a:lvl7pPr marL="6010964" algn="l" defTabSz="2003654" rtl="0" eaLnBrk="1" latinLnBrk="0" hangingPunct="1">
      <a:defRPr sz="3963" kern="1200">
        <a:solidFill>
          <a:schemeClr val="tx1"/>
        </a:solidFill>
        <a:latin typeface="+mn-lt"/>
        <a:ea typeface="+mn-ea"/>
        <a:cs typeface="+mn-cs"/>
      </a:defRPr>
    </a:lvl7pPr>
    <a:lvl8pPr marL="7012791" algn="l" defTabSz="2003654" rtl="0" eaLnBrk="1" latinLnBrk="0" hangingPunct="1">
      <a:defRPr sz="3963" kern="1200">
        <a:solidFill>
          <a:schemeClr val="tx1"/>
        </a:solidFill>
        <a:latin typeface="+mn-lt"/>
        <a:ea typeface="+mn-ea"/>
        <a:cs typeface="+mn-cs"/>
      </a:defRPr>
    </a:lvl8pPr>
    <a:lvl9pPr marL="8014618" algn="l" defTabSz="2003654" rtl="0" eaLnBrk="1" latinLnBrk="0" hangingPunct="1">
      <a:defRPr sz="396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146" userDrawn="1">
          <p15:clr>
            <a:srgbClr val="A4A3A4"/>
          </p15:clr>
        </p15:guide>
        <p15:guide id="2" pos="109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137B73-C207-1407-898B-797CE70D2312}" name="Read, Zoe" initials="ZR" userId="S::ReadZ@SI.EDU::b08cd0fd-26d2-470b-8ec0-c6e6cb2a79b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BFE2"/>
    <a:srgbClr val="4197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61ACA4-D6F5-4BF7-A9F8-CB4C4CECE084}" v="10" dt="2026-03-06T17:29:33.5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7"/>
    <p:restoredTop sz="94682"/>
  </p:normalViewPr>
  <p:slideViewPr>
    <p:cSldViewPr>
      <p:cViewPr>
        <p:scale>
          <a:sx n="24" d="100"/>
          <a:sy n="24" d="100"/>
        </p:scale>
        <p:origin x="772" y="12"/>
      </p:cViewPr>
      <p:guideLst>
        <p:guide orient="horz" pos="11146"/>
        <p:guide pos="109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microsoft.com/office/2018/10/relationships/authors" Target="author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ad, Zoe" userId="b08cd0fd-26d2-470b-8ec0-c6e6cb2a79bd" providerId="ADAL" clId="{5AEB2719-95A5-4ED2-9E0E-ED462BB10526}"/>
    <pc:docChg chg="undo custSel modSld">
      <pc:chgData name="Read, Zoe" userId="b08cd0fd-26d2-470b-8ec0-c6e6cb2a79bd" providerId="ADAL" clId="{5AEB2719-95A5-4ED2-9E0E-ED462BB10526}" dt="2026-03-06T17:29:39.847" v="851" actId="1076"/>
      <pc:docMkLst>
        <pc:docMk/>
      </pc:docMkLst>
      <pc:sldChg chg="addSp delSp modSp mod">
        <pc:chgData name="Read, Zoe" userId="b08cd0fd-26d2-470b-8ec0-c6e6cb2a79bd" providerId="ADAL" clId="{5AEB2719-95A5-4ED2-9E0E-ED462BB10526}" dt="2026-03-06T17:29:39.847" v="851" actId="1076"/>
        <pc:sldMkLst>
          <pc:docMk/>
          <pc:sldMk cId="2005456116" sldId="257"/>
        </pc:sldMkLst>
        <pc:spChg chg="mod">
          <ac:chgData name="Read, Zoe" userId="b08cd0fd-26d2-470b-8ec0-c6e6cb2a79bd" providerId="ADAL" clId="{5AEB2719-95A5-4ED2-9E0E-ED462BB10526}" dt="2026-03-06T17:08:42.361" v="157" actId="5793"/>
          <ac:spMkLst>
            <pc:docMk/>
            <pc:sldMk cId="2005456116" sldId="257"/>
            <ac:spMk id="2" creationId="{B60AF3C6-E87C-784C-EFEA-27D2ADCE070F}"/>
          </ac:spMkLst>
        </pc:spChg>
        <pc:spChg chg="mod">
          <ac:chgData name="Read, Zoe" userId="b08cd0fd-26d2-470b-8ec0-c6e6cb2a79bd" providerId="ADAL" clId="{5AEB2719-95A5-4ED2-9E0E-ED462BB10526}" dt="2026-03-06T17:01:57.063" v="153" actId="20577"/>
          <ac:spMkLst>
            <pc:docMk/>
            <pc:sldMk cId="2005456116" sldId="257"/>
            <ac:spMk id="3" creationId="{69275BAE-6112-7B97-7490-496A68DBDB86}"/>
          </ac:spMkLst>
        </pc:spChg>
        <pc:spChg chg="mod">
          <ac:chgData name="Read, Zoe" userId="b08cd0fd-26d2-470b-8ec0-c6e6cb2a79bd" providerId="ADAL" clId="{5AEB2719-95A5-4ED2-9E0E-ED462BB10526}" dt="2026-03-06T17:12:22.592" v="513" actId="14100"/>
          <ac:spMkLst>
            <pc:docMk/>
            <pc:sldMk cId="2005456116" sldId="257"/>
            <ac:spMk id="4" creationId="{F1744425-34AA-4364-9092-1BDEEA96FD0B}"/>
          </ac:spMkLst>
        </pc:spChg>
        <pc:spChg chg="add del mod">
          <ac:chgData name="Read, Zoe" userId="b08cd0fd-26d2-470b-8ec0-c6e6cb2a79bd" providerId="ADAL" clId="{5AEB2719-95A5-4ED2-9E0E-ED462BB10526}" dt="2026-03-06T17:17:53.777" v="546" actId="478"/>
          <ac:spMkLst>
            <pc:docMk/>
            <pc:sldMk cId="2005456116" sldId="257"/>
            <ac:spMk id="6" creationId="{1C8DFDD5-C123-3036-6298-8E839B3A84C8}"/>
          </ac:spMkLst>
        </pc:spChg>
        <pc:spChg chg="add mod">
          <ac:chgData name="Read, Zoe" userId="b08cd0fd-26d2-470b-8ec0-c6e6cb2a79bd" providerId="ADAL" clId="{5AEB2719-95A5-4ED2-9E0E-ED462BB10526}" dt="2026-03-06T17:19:07.010" v="668" actId="1076"/>
          <ac:spMkLst>
            <pc:docMk/>
            <pc:sldMk cId="2005456116" sldId="257"/>
            <ac:spMk id="7" creationId="{B580F8D7-E067-282C-0BEF-1FA899DCFD3B}"/>
          </ac:spMkLst>
        </pc:spChg>
        <pc:spChg chg="mod">
          <ac:chgData name="Read, Zoe" userId="b08cd0fd-26d2-470b-8ec0-c6e6cb2a79bd" providerId="ADAL" clId="{5AEB2719-95A5-4ED2-9E0E-ED462BB10526}" dt="2026-03-06T17:25:56.401" v="844" actId="14100"/>
          <ac:spMkLst>
            <pc:docMk/>
            <pc:sldMk cId="2005456116" sldId="257"/>
            <ac:spMk id="12" creationId="{0C87B8A1-9733-67EB-E4E3-F2570D73F838}"/>
          </ac:spMkLst>
        </pc:spChg>
        <pc:spChg chg="del">
          <ac:chgData name="Read, Zoe" userId="b08cd0fd-26d2-470b-8ec0-c6e6cb2a79bd" providerId="ADAL" clId="{5AEB2719-95A5-4ED2-9E0E-ED462BB10526}" dt="2026-03-06T17:28:46.419" v="847" actId="478"/>
          <ac:spMkLst>
            <pc:docMk/>
            <pc:sldMk cId="2005456116" sldId="257"/>
            <ac:spMk id="14" creationId="{DAF58BFF-DE4C-C05F-58C3-28535AC2EE29}"/>
          </ac:spMkLst>
        </pc:spChg>
        <pc:spChg chg="mod">
          <ac:chgData name="Read, Zoe" userId="b08cd0fd-26d2-470b-8ec0-c6e6cb2a79bd" providerId="ADAL" clId="{5AEB2719-95A5-4ED2-9E0E-ED462BB10526}" dt="2026-03-06T17:16:17.257" v="524" actId="1076"/>
          <ac:spMkLst>
            <pc:docMk/>
            <pc:sldMk cId="2005456116" sldId="257"/>
            <ac:spMk id="18" creationId="{F4161AD5-4983-9A10-9C14-5DAB5EDE247F}"/>
          </ac:spMkLst>
        </pc:spChg>
        <pc:spChg chg="mod">
          <ac:chgData name="Read, Zoe" userId="b08cd0fd-26d2-470b-8ec0-c6e6cb2a79bd" providerId="ADAL" clId="{5AEB2719-95A5-4ED2-9E0E-ED462BB10526}" dt="2026-03-06T17:16:17.257" v="524" actId="1076"/>
          <ac:spMkLst>
            <pc:docMk/>
            <pc:sldMk cId="2005456116" sldId="257"/>
            <ac:spMk id="23" creationId="{A41F4E9E-ABDE-0229-3F7F-818F2C2B9CAF}"/>
          </ac:spMkLst>
        </pc:spChg>
        <pc:spChg chg="mod">
          <ac:chgData name="Read, Zoe" userId="b08cd0fd-26d2-470b-8ec0-c6e6cb2a79bd" providerId="ADAL" clId="{5AEB2719-95A5-4ED2-9E0E-ED462BB10526}" dt="2026-03-06T17:16:17.257" v="524" actId="1076"/>
          <ac:spMkLst>
            <pc:docMk/>
            <pc:sldMk cId="2005456116" sldId="257"/>
            <ac:spMk id="24" creationId="{B6EA31E6-D1C3-E0E2-EE0F-7F1E2DEFF4B3}"/>
          </ac:spMkLst>
        </pc:spChg>
        <pc:grpChg chg="mod">
          <ac:chgData name="Read, Zoe" userId="b08cd0fd-26d2-470b-8ec0-c6e6cb2a79bd" providerId="ADAL" clId="{5AEB2719-95A5-4ED2-9E0E-ED462BB10526}" dt="2026-03-06T17:16:17.257" v="524" actId="1076"/>
          <ac:grpSpMkLst>
            <pc:docMk/>
            <pc:sldMk cId="2005456116" sldId="257"/>
            <ac:grpSpMk id="27" creationId="{4255D2B7-C236-274F-97B6-2BA0A790B363}"/>
          </ac:grpSpMkLst>
        </pc:grpChg>
        <pc:grpChg chg="del mod">
          <ac:chgData name="Read, Zoe" userId="b08cd0fd-26d2-470b-8ec0-c6e6cb2a79bd" providerId="ADAL" clId="{5AEB2719-95A5-4ED2-9E0E-ED462BB10526}" dt="2026-03-06T17:17:11.740" v="529" actId="478"/>
          <ac:grpSpMkLst>
            <pc:docMk/>
            <pc:sldMk cId="2005456116" sldId="257"/>
            <ac:grpSpMk id="28" creationId="{2F4868FB-DEDB-FAEA-CEBC-AA8D677AFF6A}"/>
          </ac:grpSpMkLst>
        </pc:grpChg>
        <pc:graphicFrameChg chg="del modGraphic">
          <ac:chgData name="Read, Zoe" userId="b08cd0fd-26d2-470b-8ec0-c6e6cb2a79bd" providerId="ADAL" clId="{5AEB2719-95A5-4ED2-9E0E-ED462BB10526}" dt="2026-03-06T17:16:56.918" v="527" actId="478"/>
          <ac:graphicFrameMkLst>
            <pc:docMk/>
            <pc:sldMk cId="2005456116" sldId="257"/>
            <ac:graphicFrameMk id="1032" creationId="{01917035-8FC2-8AC4-CA99-A6FD4F47E001}"/>
          </ac:graphicFrameMkLst>
        </pc:graphicFrameChg>
        <pc:picChg chg="add mod">
          <ac:chgData name="Read, Zoe" userId="b08cd0fd-26d2-470b-8ec0-c6e6cb2a79bd" providerId="ADAL" clId="{5AEB2719-95A5-4ED2-9E0E-ED462BB10526}" dt="2026-03-06T17:26:02.582" v="846" actId="1076"/>
          <ac:picMkLst>
            <pc:docMk/>
            <pc:sldMk cId="2005456116" sldId="257"/>
            <ac:picMk id="10" creationId="{0A86C89A-5889-65B9-1137-F480341B9783}"/>
          </ac:picMkLst>
        </pc:picChg>
        <pc:picChg chg="add mod">
          <ac:chgData name="Read, Zoe" userId="b08cd0fd-26d2-470b-8ec0-c6e6cb2a79bd" providerId="ADAL" clId="{5AEB2719-95A5-4ED2-9E0E-ED462BB10526}" dt="2026-03-06T17:29:39.847" v="851" actId="1076"/>
          <ac:picMkLst>
            <pc:docMk/>
            <pc:sldMk cId="2005456116" sldId="257"/>
            <ac:picMk id="13" creationId="{6D65798C-DAB9-914B-7ECA-E6D17BBC9E45}"/>
          </ac:picMkLst>
        </pc:picChg>
        <pc:picChg chg="del">
          <ac:chgData name="Read, Zoe" userId="b08cd0fd-26d2-470b-8ec0-c6e6cb2a79bd" providerId="ADAL" clId="{5AEB2719-95A5-4ED2-9E0E-ED462BB10526}" dt="2026-03-06T17:22:15.453" v="753" actId="478"/>
          <ac:picMkLst>
            <pc:docMk/>
            <pc:sldMk cId="2005456116" sldId="257"/>
            <ac:picMk id="1025" creationId="{F5578714-414A-9E74-A7A8-02CC39B2448F}"/>
          </ac:picMkLst>
        </pc:picChg>
        <pc:picChg chg="mod">
          <ac:chgData name="Read, Zoe" userId="b08cd0fd-26d2-470b-8ec0-c6e6cb2a79bd" providerId="ADAL" clId="{5AEB2719-95A5-4ED2-9E0E-ED462BB10526}" dt="2026-03-06T17:16:17.257" v="524" actId="1076"/>
          <ac:picMkLst>
            <pc:docMk/>
            <pc:sldMk cId="2005456116" sldId="257"/>
            <ac:picMk id="1028" creationId="{C6D98D40-EFBA-EEAF-A463-B121E8492881}"/>
          </ac:picMkLst>
        </pc:picChg>
        <pc:picChg chg="del">
          <ac:chgData name="Read, Zoe" userId="b08cd0fd-26d2-470b-8ec0-c6e6cb2a79bd" providerId="ADAL" clId="{5AEB2719-95A5-4ED2-9E0E-ED462BB10526}" dt="2026-03-06T17:22:23.700" v="754" actId="478"/>
          <ac:picMkLst>
            <pc:docMk/>
            <pc:sldMk cId="2005456116" sldId="257"/>
            <ac:picMk id="1035" creationId="{3C8C20BC-3C93-904D-6E19-1C2BDAD01BD1}"/>
          </ac:picMkLst>
        </pc:picChg>
        <pc:picChg chg="del">
          <ac:chgData name="Read, Zoe" userId="b08cd0fd-26d2-470b-8ec0-c6e6cb2a79bd" providerId="ADAL" clId="{5AEB2719-95A5-4ED2-9E0E-ED462BB10526}" dt="2026-03-06T17:16:44.799" v="525" actId="478"/>
          <ac:picMkLst>
            <pc:docMk/>
            <pc:sldMk cId="2005456116" sldId="257"/>
            <ac:picMk id="1045" creationId="{7DBC5537-F554-2AAC-970B-62CE3E978E97}"/>
          </ac:picMkLst>
        </pc:picChg>
        <pc:cxnChg chg="mod">
          <ac:chgData name="Read, Zoe" userId="b08cd0fd-26d2-470b-8ec0-c6e6cb2a79bd" providerId="ADAL" clId="{5AEB2719-95A5-4ED2-9E0E-ED462BB10526}" dt="2026-03-06T17:16:17.257" v="524" actId="1076"/>
          <ac:cxnSpMkLst>
            <pc:docMk/>
            <pc:sldMk cId="2005456116" sldId="257"/>
            <ac:cxnSpMk id="20" creationId="{37958F97-D0C9-F209-A06D-4E5198F4B42E}"/>
          </ac:cxnSpMkLst>
        </pc:cxnChg>
        <pc:cxnChg chg="mod">
          <ac:chgData name="Read, Zoe" userId="b08cd0fd-26d2-470b-8ec0-c6e6cb2a79bd" providerId="ADAL" clId="{5AEB2719-95A5-4ED2-9E0E-ED462BB10526}" dt="2026-03-06T17:16:17.257" v="524" actId="1076"/>
          <ac:cxnSpMkLst>
            <pc:docMk/>
            <pc:sldMk cId="2005456116" sldId="257"/>
            <ac:cxnSpMk id="21" creationId="{121263AE-A054-FFCF-E282-6730ADF6B6C0}"/>
          </ac:cxnSpMkLst>
        </pc:cxnChg>
        <pc:cxnChg chg="mod">
          <ac:chgData name="Read, Zoe" userId="b08cd0fd-26d2-470b-8ec0-c6e6cb2a79bd" providerId="ADAL" clId="{5AEB2719-95A5-4ED2-9E0E-ED462BB10526}" dt="2026-03-06T17:16:17.257" v="524" actId="1076"/>
          <ac:cxnSpMkLst>
            <pc:docMk/>
            <pc:sldMk cId="2005456116" sldId="257"/>
            <ac:cxnSpMk id="25" creationId="{5C9573CC-C13C-CF99-4ABF-F2CB540DE88F}"/>
          </ac:cxnSpMkLst>
        </pc:cxnChg>
        <pc:cxnChg chg="mod">
          <ac:chgData name="Read, Zoe" userId="b08cd0fd-26d2-470b-8ec0-c6e6cb2a79bd" providerId="ADAL" clId="{5AEB2719-95A5-4ED2-9E0E-ED462BB10526}" dt="2026-03-06T17:12:27.553" v="514" actId="1076"/>
          <ac:cxnSpMkLst>
            <pc:docMk/>
            <pc:sldMk cId="2005456116" sldId="257"/>
            <ac:cxnSpMk id="1036" creationId="{A0864A2A-8580-B800-4329-34DD10B52D76}"/>
          </ac:cxnSpMkLst>
        </pc:cxnChg>
        <pc:cxnChg chg="mod">
          <ac:chgData name="Read, Zoe" userId="b08cd0fd-26d2-470b-8ec0-c6e6cb2a79bd" providerId="ADAL" clId="{5AEB2719-95A5-4ED2-9E0E-ED462BB10526}" dt="2026-03-06T17:23:25.936" v="835" actId="1076"/>
          <ac:cxnSpMkLst>
            <pc:docMk/>
            <pc:sldMk cId="2005456116" sldId="257"/>
            <ac:cxnSpMk id="1044" creationId="{8463A8F4-CE87-F09A-8258-6D6979B36D80}"/>
          </ac:cxnSpMkLst>
        </pc:cxnChg>
      </pc:sldChg>
    </pc:docChg>
  </pc:docChgLst>
</pc:chgInfo>
</file>

<file path=ppt/comments/modernComment_101_7788D4F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554005E-3DFA-4299-9DD0-B44794E496C1}" authorId="{50137B73-C207-1407-898B-797CE70D2312}" created="2026-03-06T17:25:40.92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05456116" sldId="257"/>
      <ac:picMk id="10" creationId="{0A86C89A-5889-65B9-1137-F480341B9783}"/>
    </ac:deMkLst>
    <p188:txBody>
      <a:bodyPr/>
      <a:lstStyle/>
      <a:p>
        <a:r>
          <a:rPr lang="en-US"/>
          <a:t>Add a title that includes: “Fig 1. SO4 values across sites and zones. N samples = ?” and maybe have the Sites and Zones written out here. </a:t>
        </a:r>
      </a:p>
    </p188:txBody>
  </p188:cm>
  <p188:cm id="{D8865092-41B9-4A7A-8291-CC012781D643}" authorId="{50137B73-C207-1407-898B-797CE70D2312}" created="2026-03-06T17:31:19.74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05456116" sldId="257"/>
      <ac:picMk id="13" creationId="{6D65798C-DAB9-914B-7ECA-E6D17BBC9E45}"/>
    </ac:deMkLst>
    <p188:txBody>
      <a:bodyPr/>
      <a:lstStyle/>
      <a:p>
        <a:r>
          <a:rPr lang="en-US"/>
          <a:t>Switch the depth to the y-axis and sulfate to the y-axis and color by zone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7BD97-90D8-3541-9414-B17D17D0253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46250" y="685800"/>
            <a:ext cx="33655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2DB95-ECDB-0847-8712-29974AF33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6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84411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1pPr>
    <a:lvl2pPr marL="584411" algn="l" defTabSz="584411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2pPr>
    <a:lvl3pPr marL="1168823" algn="l" defTabSz="584411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3pPr>
    <a:lvl4pPr marL="1753234" algn="l" defTabSz="584411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4pPr>
    <a:lvl5pPr marL="2337645" algn="l" defTabSz="584411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5pPr>
    <a:lvl6pPr marL="2922057" algn="l" defTabSz="584411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6pPr>
    <a:lvl7pPr marL="3506468" algn="l" defTabSz="584411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7pPr>
    <a:lvl8pPr marL="4090879" algn="l" defTabSz="584411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8pPr>
    <a:lvl9pPr marL="4675291" algn="l" defTabSz="584411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46250" y="685800"/>
            <a:ext cx="33655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• Contact Digital Duplicating (375-2969, http://</a:t>
            </a:r>
            <a:r>
              <a:rPr lang="en-US" baseline="0" dirty="0" err="1"/>
              <a:t>digitalduplicating.pnl.gov</a:t>
            </a:r>
            <a:r>
              <a:rPr lang="en-US" baseline="0" dirty="0"/>
              <a:t>) to order poster printing and finishing services for your completed poster design.</a:t>
            </a:r>
          </a:p>
          <a:p>
            <a:r>
              <a:rPr lang="en-US" baseline="0" dirty="0"/>
              <a:t>• Remember to have your poster cleared for public display/distribution through the ERICA Information Release system (http://</a:t>
            </a:r>
            <a:r>
              <a:rPr lang="en-US" baseline="0" dirty="0" err="1"/>
              <a:t>erica.pnl.gov</a:t>
            </a:r>
            <a:r>
              <a:rPr lang="en-US" baseline="0"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2DB95-ECDB-0847-8712-29974AF33C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92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4D0AFE-D266-7149-9388-0CB3CC5C87ED}"/>
              </a:ext>
            </a:extLst>
          </p:cNvPr>
          <p:cNvSpPr/>
          <p:nvPr userDrawn="1"/>
        </p:nvSpPr>
        <p:spPr>
          <a:xfrm>
            <a:off x="0" y="0"/>
            <a:ext cx="34747200" cy="737228"/>
          </a:xfrm>
          <a:prstGeom prst="rect">
            <a:avLst/>
          </a:prstGeom>
          <a:solidFill>
            <a:srgbClr val="419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236"/>
          </a:p>
        </p:txBody>
      </p:sp>
      <p:sp>
        <p:nvSpPr>
          <p:cNvPr id="4" name="Title Placeholder 4">
            <a:extLst>
              <a:ext uri="{FF2B5EF4-FFF2-40B4-BE49-F238E27FC236}">
                <a16:creationId xmlns:a16="http://schemas.microsoft.com/office/drawing/2014/main" id="{03672AAF-4B6B-9046-B08E-E3EDCC2CB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634" y="1597328"/>
            <a:ext cx="26140833" cy="258029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lang="en-US" dirty="0">
                <a:solidFill>
                  <a:srgbClr val="419758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658E99-2B7E-A94A-AE07-8B6946534E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5634" y="4300499"/>
            <a:ext cx="26089544" cy="1105843"/>
          </a:xfrm>
          <a:prstGeom prst="rect">
            <a:avLst/>
          </a:prstGeom>
        </p:spPr>
        <p:txBody>
          <a:bodyPr/>
          <a:lstStyle>
            <a:lvl1pPr>
              <a:defRPr lang="en-US" sz="3800" dirty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BC0CC5A-BCC7-7A40-B8AC-3C8CB9773C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45633" y="6143570"/>
            <a:ext cx="16026342" cy="6512184"/>
          </a:xfrm>
          <a:prstGeom prst="rect">
            <a:avLst/>
          </a:prstGeom>
        </p:spPr>
        <p:txBody>
          <a:bodyPr/>
          <a:lstStyle>
            <a:lvl1pPr>
              <a:defRPr lang="en-US" sz="285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631EFDE9-D317-6E45-88B1-57517D7BFE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45633" y="13024368"/>
            <a:ext cx="10134600" cy="835525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E4DD70-5E36-AE41-A65A-4190E3663EBC}"/>
              </a:ext>
            </a:extLst>
          </p:cNvPr>
          <p:cNvSpPr txBox="1"/>
          <p:nvPr userDrawn="1"/>
        </p:nvSpPr>
        <p:spPr>
          <a:xfrm>
            <a:off x="5368925" y="33789635"/>
            <a:ext cx="10677525" cy="1188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75" dirty="0">
                <a:latin typeface="Arial Narrow" panose="020B0604020202020204" pitchFamily="34" charset="0"/>
                <a:cs typeface="Arial Narrow" panose="020B0604020202020204" pitchFamily="34" charset="0"/>
              </a:rPr>
              <a:t>COMPASS is a multi-institutional program led by PNNL and funded by the Earth and Environmental Systems Sciences Division of the U.S. Department of Energy’s Office of Science.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E247A-04BD-BE4B-92FB-FB837DE1CD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8199" y="1351585"/>
            <a:ext cx="7374731" cy="23499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1DE48B-5647-A9EA-1675-F9CED45CC6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67368" y="33513174"/>
            <a:ext cx="3619500" cy="1013689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323AE28-6C10-A6FB-A7A3-33DB777A47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675226" y="6143570"/>
            <a:ext cx="16038909" cy="6512184"/>
          </a:xfrm>
          <a:prstGeom prst="rect">
            <a:avLst/>
          </a:prstGeom>
        </p:spPr>
        <p:txBody>
          <a:bodyPr/>
          <a:lstStyle>
            <a:lvl1pPr>
              <a:defRPr lang="en-US" sz="285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3059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7A1BC5-04C5-424E-B098-F40040519109}"/>
              </a:ext>
            </a:extLst>
          </p:cNvPr>
          <p:cNvSpPr/>
          <p:nvPr userDrawn="1"/>
        </p:nvSpPr>
        <p:spPr>
          <a:xfrm>
            <a:off x="0" y="0"/>
            <a:ext cx="34747200" cy="737228"/>
          </a:xfrm>
          <a:prstGeom prst="rect">
            <a:avLst/>
          </a:prstGeom>
          <a:solidFill>
            <a:srgbClr val="75B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236"/>
          </a:p>
        </p:txBody>
      </p:sp>
      <p:sp>
        <p:nvSpPr>
          <p:cNvPr id="4" name="Title Placeholder 4">
            <a:extLst>
              <a:ext uri="{FF2B5EF4-FFF2-40B4-BE49-F238E27FC236}">
                <a16:creationId xmlns:a16="http://schemas.microsoft.com/office/drawing/2014/main" id="{54D62BC3-C003-A84C-B368-EA134F3F5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634" y="1597328"/>
            <a:ext cx="26140833" cy="258029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sz="7917">
                <a:solidFill>
                  <a:srgbClr val="75BFE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7D32DA8-2330-A247-A794-A1FB0E6D78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5634" y="4300499"/>
            <a:ext cx="26089544" cy="1105843"/>
          </a:xfrm>
          <a:prstGeom prst="rect">
            <a:avLst/>
          </a:prstGeom>
        </p:spPr>
        <p:txBody>
          <a:bodyPr/>
          <a:lstStyle>
            <a:lvl1pPr>
              <a:defRPr sz="3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A885556-C088-B64F-ACA3-FF4240EFD0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45633" y="6143570"/>
            <a:ext cx="16026342" cy="6512184"/>
          </a:xfrm>
          <a:prstGeom prst="rect">
            <a:avLst/>
          </a:prstGeom>
        </p:spPr>
        <p:txBody>
          <a:bodyPr/>
          <a:lstStyle>
            <a:lvl1pPr>
              <a:defRPr sz="28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6465F565-98C7-4641-9D07-BBDFC2A192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45633" y="13024368"/>
            <a:ext cx="10134600" cy="835525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28F6D04-A06E-684E-8C67-976CAB7FFE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8199" y="1351585"/>
            <a:ext cx="7374731" cy="23499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FD9DC2-4A89-3FD6-54FA-1164F3422A10}"/>
              </a:ext>
            </a:extLst>
          </p:cNvPr>
          <p:cNvSpPr txBox="1"/>
          <p:nvPr userDrawn="1"/>
        </p:nvSpPr>
        <p:spPr>
          <a:xfrm>
            <a:off x="5368925" y="33789635"/>
            <a:ext cx="10677525" cy="1188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75" dirty="0">
                <a:latin typeface="Arial Narrow" panose="020B0604020202020204" pitchFamily="34" charset="0"/>
                <a:cs typeface="Arial Narrow" panose="020B0604020202020204" pitchFamily="34" charset="0"/>
              </a:rPr>
              <a:t>COMPASS is a multi-institutional program led by PNNL and funded by the Earth and Environmental Systems Sciences Division of the U.S. Department of Energy’s Office of Science.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1331CA-E7E1-FDCC-6B95-1A35867FC6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67368" y="33513174"/>
            <a:ext cx="3619500" cy="1013689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3659340-3524-A165-87E8-5B58571302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674681" y="6143570"/>
            <a:ext cx="16039454" cy="6512184"/>
          </a:xfrm>
          <a:prstGeom prst="rect">
            <a:avLst/>
          </a:prstGeom>
        </p:spPr>
        <p:txBody>
          <a:bodyPr/>
          <a:lstStyle>
            <a:lvl1pPr>
              <a:defRPr lang="en-US" sz="285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1654622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6001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79FD72-BCA5-F24C-9A3D-76ABA0D3F90D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850"/>
          <a:stretch/>
        </p:blipFill>
        <p:spPr>
          <a:xfrm>
            <a:off x="0" y="31442791"/>
            <a:ext cx="34747200" cy="3944172"/>
          </a:xfrm>
          <a:prstGeom prst="rect">
            <a:avLst/>
          </a:prstGeom>
        </p:spPr>
      </p:pic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5336751-8B97-CB48-BAFB-A2B59127B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634" y="1597328"/>
            <a:ext cx="29968120" cy="258029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846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1654622" rtl="0" eaLnBrk="1" latinLnBrk="0" hangingPunct="1">
        <a:spcBef>
          <a:spcPct val="0"/>
        </a:spcBef>
        <a:buNone/>
        <a:defRPr lang="en-US" sz="7917" kern="1200" dirty="0">
          <a:solidFill>
            <a:srgbClr val="75BFE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1654622" rtl="0" eaLnBrk="1" latinLnBrk="0" hangingPunct="1">
        <a:spcBef>
          <a:spcPct val="20000"/>
        </a:spcBef>
        <a:buFont typeface="Arial" pitchFamily="34" charset="0"/>
        <a:buNone/>
        <a:defRPr sz="3905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344381" indent="-517070" algn="l" defTabSz="1654622" rtl="0" eaLnBrk="1" latinLnBrk="0" hangingPunct="1">
        <a:spcBef>
          <a:spcPct val="20000"/>
        </a:spcBef>
        <a:buFont typeface="Arial" pitchFamily="34" charset="0"/>
        <a:buChar char="–"/>
        <a:defRPr sz="5067" kern="1200">
          <a:solidFill>
            <a:schemeClr val="tx1"/>
          </a:solidFill>
          <a:latin typeface="+mn-lt"/>
          <a:ea typeface="+mn-ea"/>
          <a:cs typeface="+mn-cs"/>
        </a:defRPr>
      </a:lvl2pPr>
      <a:lvl3pPr marL="2068278" indent="-413656" algn="l" defTabSz="1654622" rtl="0" eaLnBrk="1" latinLnBrk="0" hangingPunct="1">
        <a:spcBef>
          <a:spcPct val="20000"/>
        </a:spcBef>
        <a:buFont typeface="Arial" pitchFamily="34" charset="0"/>
        <a:buChar char="•"/>
        <a:defRPr sz="4328" kern="1200">
          <a:solidFill>
            <a:schemeClr val="tx1"/>
          </a:solidFill>
          <a:latin typeface="+mn-lt"/>
          <a:ea typeface="+mn-ea"/>
          <a:cs typeface="+mn-cs"/>
        </a:defRPr>
      </a:lvl3pPr>
      <a:lvl4pPr marL="2895590" indent="-413656" algn="l" defTabSz="1654622" rtl="0" eaLnBrk="1" latinLnBrk="0" hangingPunct="1">
        <a:spcBef>
          <a:spcPct val="20000"/>
        </a:spcBef>
        <a:buFont typeface="Arial" pitchFamily="34" charset="0"/>
        <a:buChar char="–"/>
        <a:defRPr sz="3695" kern="1200">
          <a:solidFill>
            <a:schemeClr val="tx1"/>
          </a:solidFill>
          <a:latin typeface="+mn-lt"/>
          <a:ea typeface="+mn-ea"/>
          <a:cs typeface="+mn-cs"/>
        </a:defRPr>
      </a:lvl4pPr>
      <a:lvl5pPr marL="3722900" indent="-413656" algn="l" defTabSz="1654622" rtl="0" eaLnBrk="1" latinLnBrk="0" hangingPunct="1">
        <a:spcBef>
          <a:spcPct val="20000"/>
        </a:spcBef>
        <a:buFont typeface="Arial" pitchFamily="34" charset="0"/>
        <a:buChar char="»"/>
        <a:defRPr sz="3695" kern="1200">
          <a:solidFill>
            <a:schemeClr val="tx1"/>
          </a:solidFill>
          <a:latin typeface="+mn-lt"/>
          <a:ea typeface="+mn-ea"/>
          <a:cs typeface="+mn-cs"/>
        </a:defRPr>
      </a:lvl5pPr>
      <a:lvl6pPr marL="4550212" indent="-413656" algn="l" defTabSz="1654622" rtl="0" eaLnBrk="1" latinLnBrk="0" hangingPunct="1">
        <a:spcBef>
          <a:spcPct val="20000"/>
        </a:spcBef>
        <a:buFont typeface="Arial" pitchFamily="34" charset="0"/>
        <a:buChar char="•"/>
        <a:defRPr sz="3695" kern="1200">
          <a:solidFill>
            <a:schemeClr val="tx1"/>
          </a:solidFill>
          <a:latin typeface="+mn-lt"/>
          <a:ea typeface="+mn-ea"/>
          <a:cs typeface="+mn-cs"/>
        </a:defRPr>
      </a:lvl6pPr>
      <a:lvl7pPr marL="5377522" indent="-413656" algn="l" defTabSz="1654622" rtl="0" eaLnBrk="1" latinLnBrk="0" hangingPunct="1">
        <a:spcBef>
          <a:spcPct val="20000"/>
        </a:spcBef>
        <a:buFont typeface="Arial" pitchFamily="34" charset="0"/>
        <a:buChar char="•"/>
        <a:defRPr sz="3695" kern="1200">
          <a:solidFill>
            <a:schemeClr val="tx1"/>
          </a:solidFill>
          <a:latin typeface="+mn-lt"/>
          <a:ea typeface="+mn-ea"/>
          <a:cs typeface="+mn-cs"/>
        </a:defRPr>
      </a:lvl7pPr>
      <a:lvl8pPr marL="6204835" indent="-413656" algn="l" defTabSz="1654622" rtl="0" eaLnBrk="1" latinLnBrk="0" hangingPunct="1">
        <a:spcBef>
          <a:spcPct val="20000"/>
        </a:spcBef>
        <a:buFont typeface="Arial" pitchFamily="34" charset="0"/>
        <a:buChar char="•"/>
        <a:defRPr sz="3695" kern="1200">
          <a:solidFill>
            <a:schemeClr val="tx1"/>
          </a:solidFill>
          <a:latin typeface="+mn-lt"/>
          <a:ea typeface="+mn-ea"/>
          <a:cs typeface="+mn-cs"/>
        </a:defRPr>
      </a:lvl8pPr>
      <a:lvl9pPr marL="7032146" indent="-413656" algn="l" defTabSz="1654622" rtl="0" eaLnBrk="1" latinLnBrk="0" hangingPunct="1">
        <a:spcBef>
          <a:spcPct val="20000"/>
        </a:spcBef>
        <a:buFont typeface="Arial" pitchFamily="34" charset="0"/>
        <a:buChar char="•"/>
        <a:defRPr sz="36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54622" rtl="0" eaLnBrk="1" latinLnBrk="0" hangingPunct="1">
        <a:defRPr sz="3272" kern="1200">
          <a:solidFill>
            <a:schemeClr val="tx1"/>
          </a:solidFill>
          <a:latin typeface="+mn-lt"/>
          <a:ea typeface="+mn-ea"/>
          <a:cs typeface="+mn-cs"/>
        </a:defRPr>
      </a:lvl1pPr>
      <a:lvl2pPr marL="827311" algn="l" defTabSz="1654622" rtl="0" eaLnBrk="1" latinLnBrk="0" hangingPunct="1">
        <a:defRPr sz="3272" kern="1200">
          <a:solidFill>
            <a:schemeClr val="tx1"/>
          </a:solidFill>
          <a:latin typeface="+mn-lt"/>
          <a:ea typeface="+mn-ea"/>
          <a:cs typeface="+mn-cs"/>
        </a:defRPr>
      </a:lvl2pPr>
      <a:lvl3pPr marL="1654622" algn="l" defTabSz="1654622" rtl="0" eaLnBrk="1" latinLnBrk="0" hangingPunct="1">
        <a:defRPr sz="3272" kern="1200">
          <a:solidFill>
            <a:schemeClr val="tx1"/>
          </a:solidFill>
          <a:latin typeface="+mn-lt"/>
          <a:ea typeface="+mn-ea"/>
          <a:cs typeface="+mn-cs"/>
        </a:defRPr>
      </a:lvl3pPr>
      <a:lvl4pPr marL="2481934" algn="l" defTabSz="1654622" rtl="0" eaLnBrk="1" latinLnBrk="0" hangingPunct="1">
        <a:defRPr sz="3272" kern="1200">
          <a:solidFill>
            <a:schemeClr val="tx1"/>
          </a:solidFill>
          <a:latin typeface="+mn-lt"/>
          <a:ea typeface="+mn-ea"/>
          <a:cs typeface="+mn-cs"/>
        </a:defRPr>
      </a:lvl4pPr>
      <a:lvl5pPr marL="3309245" algn="l" defTabSz="1654622" rtl="0" eaLnBrk="1" latinLnBrk="0" hangingPunct="1">
        <a:defRPr sz="3272" kern="1200">
          <a:solidFill>
            <a:schemeClr val="tx1"/>
          </a:solidFill>
          <a:latin typeface="+mn-lt"/>
          <a:ea typeface="+mn-ea"/>
          <a:cs typeface="+mn-cs"/>
        </a:defRPr>
      </a:lvl5pPr>
      <a:lvl6pPr marL="4136556" algn="l" defTabSz="1654622" rtl="0" eaLnBrk="1" latinLnBrk="0" hangingPunct="1">
        <a:defRPr sz="3272" kern="1200">
          <a:solidFill>
            <a:schemeClr val="tx1"/>
          </a:solidFill>
          <a:latin typeface="+mn-lt"/>
          <a:ea typeface="+mn-ea"/>
          <a:cs typeface="+mn-cs"/>
        </a:defRPr>
      </a:lvl6pPr>
      <a:lvl7pPr marL="4963868" algn="l" defTabSz="1654622" rtl="0" eaLnBrk="1" latinLnBrk="0" hangingPunct="1">
        <a:defRPr sz="3272" kern="1200">
          <a:solidFill>
            <a:schemeClr val="tx1"/>
          </a:solidFill>
          <a:latin typeface="+mn-lt"/>
          <a:ea typeface="+mn-ea"/>
          <a:cs typeface="+mn-cs"/>
        </a:defRPr>
      </a:lvl7pPr>
      <a:lvl8pPr marL="5791179" algn="l" defTabSz="1654622" rtl="0" eaLnBrk="1" latinLnBrk="0" hangingPunct="1">
        <a:defRPr sz="3272" kern="1200">
          <a:solidFill>
            <a:schemeClr val="tx1"/>
          </a:solidFill>
          <a:latin typeface="+mn-lt"/>
          <a:ea typeface="+mn-ea"/>
          <a:cs typeface="+mn-cs"/>
        </a:defRPr>
      </a:lvl8pPr>
      <a:lvl9pPr marL="6618490" algn="l" defTabSz="1654622" rtl="0" eaLnBrk="1" latinLnBrk="0" hangingPunct="1">
        <a:defRPr sz="32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7788D4F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AF3C6-E87C-784C-EFEA-27D2ADCE0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Porewater across time and depth trends…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75BAE-6112-7B97-7490-496A68DBDB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5635" y="4098632"/>
            <a:ext cx="31415565" cy="1969364"/>
          </a:xfrm>
        </p:spPr>
        <p:txBody>
          <a:bodyPr/>
          <a:lstStyle/>
          <a:p>
            <a:r>
              <a:rPr lang="en-US" sz="3600" b="1" dirty="0"/>
              <a:t>Zoe Read, </a:t>
            </a:r>
            <a:r>
              <a:rPr lang="en-US" sz="3600" dirty="0"/>
              <a:t>Stephanie J. Wilson, Pat Megonigal, Alice Stearns, Evan Phillips, Ben Bond-Lamberty</a:t>
            </a:r>
          </a:p>
          <a:p>
            <a:r>
              <a:rPr lang="en-US" sz="3200" baseline="30000" dirty="0"/>
              <a:t>1</a:t>
            </a:r>
            <a:r>
              <a:rPr lang="en-US" sz="3200" dirty="0"/>
              <a:t>Smithsonian Environmental Research Center, Maryland, USA, </a:t>
            </a:r>
            <a:r>
              <a:rPr lang="en-US" sz="3200" baseline="30000" dirty="0"/>
              <a:t>2</a:t>
            </a:r>
            <a:r>
              <a:rPr lang="en-US" sz="3200" dirty="0"/>
              <a:t>Pacific Northwest National Laboratory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44425-34AA-4364-9092-1BDEEA96FD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24002" y="6548392"/>
            <a:ext cx="13411198" cy="3525087"/>
          </a:xfrm>
          <a:ln>
            <a:noFill/>
          </a:ln>
        </p:spPr>
        <p:txBody>
          <a:bodyPr/>
          <a:lstStyle/>
          <a:p>
            <a:r>
              <a:rPr lang="en-US" sz="3600" b="1" dirty="0">
                <a:solidFill>
                  <a:srgbClr val="75BFE2"/>
                </a:solidFill>
              </a:rPr>
              <a:t>Background</a:t>
            </a:r>
            <a:r>
              <a:rPr lang="en-US" b="1" dirty="0"/>
              <a:t> </a:t>
            </a:r>
          </a:p>
          <a:p>
            <a:pPr lvl="0"/>
            <a:r>
              <a:rPr lang="en-US" dirty="0"/>
              <a:t>Visual hook of taking samples, COMPASS Project, Sites, and Zones – conceptual diagram or overhead photo of sites </a:t>
            </a:r>
          </a:p>
          <a:p>
            <a:endParaRPr lang="en-US" b="1" dirty="0">
              <a:solidFill>
                <a:srgbClr val="75BFE2"/>
              </a:solidFill>
            </a:endParaRPr>
          </a:p>
          <a:p>
            <a:r>
              <a:rPr lang="en-US" sz="3200" b="1" i="1" dirty="0">
                <a:solidFill>
                  <a:srgbClr val="75BFE2"/>
                </a:solidFill>
              </a:rPr>
              <a:t>Research Questions: </a:t>
            </a:r>
          </a:p>
          <a:p>
            <a:pPr marL="514350" indent="-514350" fontAlgn="base">
              <a:buAutoNum type="arabicPeriod"/>
            </a:pPr>
            <a:r>
              <a:rPr lang="en-US" dirty="0"/>
              <a:t>Does porewater sulfate vary by depth, across time and zones?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27ACF02-AE38-EED1-52AD-AE57386B0269}"/>
              </a:ext>
            </a:extLst>
          </p:cNvPr>
          <p:cNvSpPr txBox="1">
            <a:spLocks/>
          </p:cNvSpPr>
          <p:nvPr/>
        </p:nvSpPr>
        <p:spPr>
          <a:xfrm>
            <a:off x="32122855" y="1292045"/>
            <a:ext cx="2624345" cy="1025955"/>
          </a:xfrm>
          <a:prstGeom prst="rect">
            <a:avLst/>
          </a:prstGeom>
        </p:spPr>
        <p:txBody>
          <a:bodyPr/>
          <a:lstStyle>
            <a:lvl1pPr marL="0" indent="0" algn="l" defTabSz="3309339" rtl="0" eaLnBrk="1" latinLnBrk="0" hangingPunct="1">
              <a:spcBef>
                <a:spcPct val="20000"/>
              </a:spcBef>
              <a:buFont typeface="Arial" pitchFamily="34" charset="0"/>
              <a:buNone/>
              <a:defRPr sz="405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688837" indent="-1034168" algn="l" defTabSz="33093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1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36674" indent="-827335" algn="l" defTabSz="33093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6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791341" indent="-827335" algn="l" defTabSz="33093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73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46012" indent="-827335" algn="l" defTabSz="330933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73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00680" indent="-827335" algn="l" defTabSz="33093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73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755348" indent="-827335" algn="l" defTabSz="33093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73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410021" indent="-827335" algn="l" defTabSz="33093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73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64688" indent="-827335" algn="l" defTabSz="33093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73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/>
              <a:t>0668 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C87B8A1-9733-67EB-E4E3-F2570D73F838}"/>
              </a:ext>
            </a:extLst>
          </p:cNvPr>
          <p:cNvSpPr txBox="1">
            <a:spLocks/>
          </p:cNvSpPr>
          <p:nvPr/>
        </p:nvSpPr>
        <p:spPr>
          <a:xfrm>
            <a:off x="1357241" y="11002963"/>
            <a:ext cx="15330559" cy="3372734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1654622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85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344381" indent="-517070" algn="l" defTabSz="165462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5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68278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95590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722900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50212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7522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04835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032146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rgbClr val="75BFE2"/>
                </a:solidFill>
              </a:rPr>
              <a:t>Methodology</a:t>
            </a:r>
            <a:endParaRPr lang="en-US" dirty="0"/>
          </a:p>
          <a:p>
            <a:r>
              <a:rPr lang="en-US" sz="2800" dirty="0"/>
              <a:t>Study Locations</a:t>
            </a:r>
          </a:p>
          <a:p>
            <a:pPr marL="1801581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Four coastal wetlands in the Chesapeake Bay Region that are oligohaline, mesohaline,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polyhaline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801581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Sampling from 2022-2025  </a:t>
            </a:r>
          </a:p>
          <a:p>
            <a:pPr marL="1801581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DIC, DOC, Total Alkalinity, CDOM, H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S, Cl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SO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2-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Nutrients</a:t>
            </a:r>
          </a:p>
          <a:p>
            <a:endParaRPr lang="en-US" sz="2800" dirty="0"/>
          </a:p>
        </p:txBody>
      </p:sp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00BF45BC-03E3-27BE-C768-387C6B2C806C}"/>
              </a:ext>
            </a:extLst>
          </p:cNvPr>
          <p:cNvCxnSpPr/>
          <p:nvPr/>
        </p:nvCxnSpPr>
        <p:spPr>
          <a:xfrm>
            <a:off x="667369" y="6067996"/>
            <a:ext cx="33375600" cy="0"/>
          </a:xfrm>
          <a:prstGeom prst="line">
            <a:avLst/>
          </a:prstGeom>
          <a:ln>
            <a:solidFill>
              <a:srgbClr val="75BF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A0864A2A-8580-B800-4329-34DD10B52D76}"/>
              </a:ext>
            </a:extLst>
          </p:cNvPr>
          <p:cNvCxnSpPr>
            <a:cxnSpLocks/>
          </p:cNvCxnSpPr>
          <p:nvPr/>
        </p:nvCxnSpPr>
        <p:spPr>
          <a:xfrm>
            <a:off x="1357241" y="10530681"/>
            <a:ext cx="15862150" cy="0"/>
          </a:xfrm>
          <a:prstGeom prst="line">
            <a:avLst/>
          </a:prstGeom>
          <a:ln>
            <a:solidFill>
              <a:srgbClr val="75BF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209C8AEE-D29E-C2A9-B7F5-38C8AE3FDCAC}"/>
              </a:ext>
            </a:extLst>
          </p:cNvPr>
          <p:cNvCxnSpPr/>
          <p:nvPr/>
        </p:nvCxnSpPr>
        <p:spPr>
          <a:xfrm>
            <a:off x="18059400" y="6564897"/>
            <a:ext cx="0" cy="24460200"/>
          </a:xfrm>
          <a:prstGeom prst="line">
            <a:avLst/>
          </a:prstGeom>
          <a:ln>
            <a:solidFill>
              <a:srgbClr val="75BF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8463A8F4-CE87-F09A-8258-6D6979B36D80}"/>
              </a:ext>
            </a:extLst>
          </p:cNvPr>
          <p:cNvCxnSpPr>
            <a:cxnSpLocks/>
          </p:cNvCxnSpPr>
          <p:nvPr/>
        </p:nvCxnSpPr>
        <p:spPr>
          <a:xfrm>
            <a:off x="1357241" y="19827081"/>
            <a:ext cx="15862150" cy="0"/>
          </a:xfrm>
          <a:prstGeom prst="line">
            <a:avLst/>
          </a:prstGeom>
          <a:ln>
            <a:solidFill>
              <a:srgbClr val="75BF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6" name="Text Placeholder 3">
            <a:extLst>
              <a:ext uri="{FF2B5EF4-FFF2-40B4-BE49-F238E27FC236}">
                <a16:creationId xmlns:a16="http://schemas.microsoft.com/office/drawing/2014/main" id="{3D22E29A-542C-2707-EE87-D32E923FD26A}"/>
              </a:ext>
            </a:extLst>
          </p:cNvPr>
          <p:cNvSpPr txBox="1">
            <a:spLocks/>
          </p:cNvSpPr>
          <p:nvPr/>
        </p:nvSpPr>
        <p:spPr>
          <a:xfrm>
            <a:off x="18899410" y="6564898"/>
            <a:ext cx="13411199" cy="2746844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1654622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85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344381" indent="-517070" algn="l" defTabSz="165462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5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68278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95590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722900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50212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7522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04835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032146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rgbClr val="75BFE2"/>
                </a:solidFill>
              </a:rPr>
              <a:t>Results</a:t>
            </a:r>
            <a:r>
              <a:rPr lang="en-US" b="1" dirty="0"/>
              <a:t>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Something about how the sites compare to one another across the gradient </a:t>
            </a:r>
          </a:p>
          <a:p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580F8D7-E067-282C-0BEF-1FA899DCFD3B}"/>
              </a:ext>
            </a:extLst>
          </p:cNvPr>
          <p:cNvSpPr txBox="1">
            <a:spLocks/>
          </p:cNvSpPr>
          <p:nvPr/>
        </p:nvSpPr>
        <p:spPr>
          <a:xfrm>
            <a:off x="1649051" y="20094696"/>
            <a:ext cx="8077199" cy="232896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1654622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85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344381" indent="-517070" algn="l" defTabSz="165462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5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68278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95590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722900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50212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7522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04835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032146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rgbClr val="75BFE2"/>
                </a:solidFill>
              </a:rPr>
              <a:t>Depth</a:t>
            </a:r>
            <a:endParaRPr lang="en-US" dirty="0"/>
          </a:p>
          <a:p>
            <a:pPr marL="1801581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 Depths: 10, 20, and 45 cm</a:t>
            </a:r>
          </a:p>
          <a:p>
            <a:pPr marL="1801581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No significant variation of porewater analytes by depth</a:t>
            </a:r>
            <a:endParaRPr 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86C89A-5889-65B9-1137-F480341B9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72" y="14292339"/>
            <a:ext cx="17087967" cy="5403712"/>
          </a:xfrm>
          <a:prstGeom prst="rect">
            <a:avLst/>
          </a:prstGeom>
        </p:spPr>
      </p:pic>
      <p:pic>
        <p:nvPicPr>
          <p:cNvPr id="13" name="Picture 12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6D65798C-DAB9-914B-7ECA-E6D17BBC9E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72" y="22437884"/>
            <a:ext cx="18288036" cy="914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561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11387</TotalTime>
  <Words>202</Words>
  <Application>Microsoft Office PowerPoint</Application>
  <PresentationFormat>Custom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Office Theme</vt:lpstr>
      <vt:lpstr>Porewater across time and depth trends…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Read, Zoe</cp:lastModifiedBy>
  <cp:revision>52</cp:revision>
  <dcterms:created xsi:type="dcterms:W3CDTF">2012-11-30T02:20:55Z</dcterms:created>
  <dcterms:modified xsi:type="dcterms:W3CDTF">2026-03-06T17:31:30Z</dcterms:modified>
</cp:coreProperties>
</file>